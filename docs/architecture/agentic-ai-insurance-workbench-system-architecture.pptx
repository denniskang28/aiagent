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f924c05293415a" /><Relationship Type="http://schemas.openxmlformats.org/officeDocument/2006/relationships/extended-properties" Target="/docProps/app.xml" Id="R22a134fe912d4b19" /><Relationship Type="http://schemas.openxmlformats.org/officeDocument/2006/relationships/officeDocument" Target="/ppt/presentation.xml" Id="R8fd3c369d16b4f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aac66c7bde4b4b"/>
  </p:sldMasterIdLst>
  <p:notesMasterIdLst>
    <p:notesMasterId xmlns:r="http://schemas.openxmlformats.org/officeDocument/2006/relationships" r:id="R83952c1423894664"/>
  </p:notesMasterIdLst>
  <p:sldIdLst>
    <p:sldId xmlns:r="http://schemas.openxmlformats.org/officeDocument/2006/relationships" id="256" r:id="R21e0e21e660240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d4ff31d744d4c" /><Relationship Type="http://schemas.openxmlformats.org/officeDocument/2006/relationships/slideMaster" Target="/ppt/slideMasters/slideMaster1.xml" Id="Rbbaac66c7bde4b4b" /><Relationship Type="http://schemas.openxmlformats.org/officeDocument/2006/relationships/notesMaster" Target="/ppt/notesMasters/notesMaster1.xml" Id="R83952c1423894664" /><Relationship Type="http://schemas.openxmlformats.org/officeDocument/2006/relationships/presProps" Target="/ppt/presProps.xml" Id="Rf65f49d2a5a9417a" /><Relationship Type="http://schemas.openxmlformats.org/officeDocument/2006/relationships/tableStyles" Target="/ppt/tableStyles.xml" Id="Rd7f9e913ec6945b6" /><Relationship Type="http://schemas.openxmlformats.org/officeDocument/2006/relationships/slide" Target="/ppt/slides/slide1.xml" Id="R21e0e21e660240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0e4febe5ef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f364bfc1f649cc" /><Relationship Type="http://schemas.openxmlformats.org/officeDocument/2006/relationships/notesMaster" Target="/ppt/notesMasters/notesMaster1.xml" Id="Rcbcf7b5b334c41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docs/handoffs/agentic_ai_workbench_handoff.md and docs/agentic_orchestrator_detailed_design.md. Architecture principles: Journey owns authoritative process state. Decisioning owns controlled business decisions. The Main Agent proposes actions; the deterministic runtime authorizes and executes them. Skills are the default capability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cc09902ff43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b4637b987447da" /><Relationship Type="http://schemas.openxmlformats.org/officeDocument/2006/relationships/slideLayout" Target="/ppt/slideLayouts/slideLayout1.xml" Id="Rb68a6ef49e6549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a6ef49e6549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8d008cded40f6" /><Relationship Type="http://schemas.openxmlformats.org/officeDocument/2006/relationships/notesSlide" Target="/ppt/notesSlides/notesSlide1.xml" Id="Rca59313110dd46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7BEEBBBC-8A56-4049-BEA2-1BE63BDF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Agentic AI Insurance Agent Workbench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35AD03-DBB7-4936-95D8-DB9D78C5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53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F6F82"/>
                </a:solidFill>
                <a:latin typeface="PingFang SC"/>
                <a:ea typeface="PingFang SC"/>
                <a:cs typeface="PingFang SC"/>
              </a:defRPr>
            </a:pPr>
            <a:r>
              <a:rPr b="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目标系统架构：Structured business UI with bounded agentic execution</a:t>
            </a:r>
          </a:p>
        </p:txBody>
      </p:sp>
      <p:sp>
        <p:nvSpPr>
          <p:cNvPr id="3" name="architecture-badge">
            <a:extLst xmlns:a="http://schemas.openxmlformats.org/drawingml/2006/main">
              <a:ext uri="{FF2B5EF4-FFF2-40B4-BE49-F238E27FC236}">
                <a16:creationId xmlns:a16="http://schemas.microsoft.com/office/drawing/2014/main" id="{288608C2-ABE2-414D-87BB-D2272E26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2057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48756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TARGET ARCHITECTURE  V4</a:t>
            </a:r>
          </a:p>
        </p:txBody>
      </p:sp>
      <p:sp>
        <p:nvSpPr>
          <p:cNvPr id="4" name="layer-01-label">
            <a:extLst xmlns:a="http://schemas.openxmlformats.org/drawingml/2006/main">
              <a:ext uri="{FF2B5EF4-FFF2-40B4-BE49-F238E27FC236}">
                <a16:creationId xmlns:a16="http://schemas.microsoft.com/office/drawing/2014/main" id="{9B332ECF-5821-4FD1-9491-AFF78A37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0100"/>
            <a:ext cx="13716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66675" rIns="76200" bIns="66675" anchor="ctr">
            <a:normAutofit fontScale="98997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  EXPERIENCE</a:t>
            </a:r>
            <a:r>
              <a:rPr sz="8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
用户体验与渠道</a:t>
            </a:r>
          </a:p>
        </p:txBody>
      </p:sp>
      <p:sp>
        <p:nvSpPr>
          <p:cNvPr id="5" name="experience-band">
            <a:extLst xmlns:a="http://schemas.openxmlformats.org/drawingml/2006/main">
              <a:ext uri="{FF2B5EF4-FFF2-40B4-BE49-F238E27FC236}">
                <a16:creationId xmlns:a16="http://schemas.microsoft.com/office/drawing/2014/main" id="{C6CF1EAF-D242-4A03-93CB-728AB64D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800100"/>
            <a:ext cx="100774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gent-workbench">
            <a:extLst xmlns:a="http://schemas.openxmlformats.org/drawingml/2006/main">
              <a:ext uri="{FF2B5EF4-FFF2-40B4-BE49-F238E27FC236}">
                <a16:creationId xmlns:a16="http://schemas.microsoft.com/office/drawing/2014/main" id="{0BD38223-DBCB-428F-B248-014B9236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866775"/>
            <a:ext cx="28575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84597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Agent Workbench</a:t>
            </a:r>
            <a:r>
              <a:rPr sz="8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Mobile first + Web</a:t>
            </a:r>
          </a:p>
        </p:txBody>
      </p:sp>
      <p:sp>
        <p:nvSpPr>
          <p:cNvPr id="7" name="agent-workbench-accent">
            <a:extLst xmlns:a="http://schemas.openxmlformats.org/drawingml/2006/main">
              <a:ext uri="{FF2B5EF4-FFF2-40B4-BE49-F238E27FC236}">
                <a16:creationId xmlns:a16="http://schemas.microsoft.com/office/drawing/2014/main" id="{4759AFF9-04FA-41CB-AD8C-EE7E9491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866775"/>
            <a:ext cx="47625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ader-workbench">
            <a:extLst xmlns:a="http://schemas.openxmlformats.org/drawingml/2006/main">
              <a:ext uri="{FF2B5EF4-FFF2-40B4-BE49-F238E27FC236}">
                <a16:creationId xmlns:a16="http://schemas.microsoft.com/office/drawing/2014/main" id="{F2DE9531-FB87-4C3A-B286-6F33AE41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866775"/>
            <a:ext cx="28575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84597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Leader Workbench</a:t>
            </a:r>
            <a:r>
              <a:rPr sz="8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Web first + Mobile lite</a:t>
            </a:r>
          </a:p>
        </p:txBody>
      </p:sp>
      <p:sp>
        <p:nvSpPr>
          <p:cNvPr id="9" name="leader-workbench-accent">
            <a:extLst xmlns:a="http://schemas.openxmlformats.org/drawingml/2006/main">
              <a:ext uri="{FF2B5EF4-FFF2-40B4-BE49-F238E27FC236}">
                <a16:creationId xmlns:a16="http://schemas.microsoft.com/office/drawing/2014/main" id="{173D18D2-3100-4A79-95C9-66193CC0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866775"/>
            <a:ext cx="47625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ustomer-channels">
            <a:extLst xmlns:a="http://schemas.openxmlformats.org/drawingml/2006/main">
              <a:ext uri="{FF2B5EF4-FFF2-40B4-BE49-F238E27FC236}">
                <a16:creationId xmlns:a16="http://schemas.microsoft.com/office/drawing/2014/main" id="{7B30A063-3D3F-4B19-B756-6FB5997C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66775"/>
            <a:ext cx="38671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84597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Customer &amp; Partner Channels</a:t>
            </a:r>
            <a:r>
              <a:rPr sz="8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LINE / WhatsApp / AIA One / Email</a:t>
            </a:r>
          </a:p>
        </p:txBody>
      </p:sp>
      <p:sp>
        <p:nvSpPr>
          <p:cNvPr id="11" name="customer-channels-accent">
            <a:extLst xmlns:a="http://schemas.openxmlformats.org/drawingml/2006/main">
              <a:ext uri="{FF2B5EF4-FFF2-40B4-BE49-F238E27FC236}">
                <a16:creationId xmlns:a16="http://schemas.microsoft.com/office/drawing/2014/main" id="{854D61F1-5369-402A-8F04-2B6D5352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66775"/>
            <a:ext cx="47625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arrow-141">
            <a:extLst xmlns:a="http://schemas.openxmlformats.org/drawingml/2006/main">
              <a:ext uri="{FF2B5EF4-FFF2-40B4-BE49-F238E27FC236}">
                <a16:creationId xmlns:a16="http://schemas.microsoft.com/office/drawing/2014/main" id="{22A86AC1-2154-4FE1-968E-F5F13454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43025"/>
            <a:ext cx="123825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yer-02-label">
            <a:extLst xmlns:a="http://schemas.openxmlformats.org/drawingml/2006/main">
              <a:ext uri="{FF2B5EF4-FFF2-40B4-BE49-F238E27FC236}">
                <a16:creationId xmlns:a16="http://schemas.microsoft.com/office/drawing/2014/main" id="{A77885BA-7549-463C-BF1F-D2F73832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85900"/>
            <a:ext cx="13716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66675" rIns="76200" bIns="66675" anchor="ctr">
            <a:normAutofit fontScale="9149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  INTERACTION</a:t>
            </a:r>
            <a:r>
              <a:rPr sz="8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
交互与体验服务</a:t>
            </a:r>
          </a:p>
        </p:txBody>
      </p:sp>
      <p:sp>
        <p:nvSpPr>
          <p:cNvPr id="14" name="interaction-band">
            <a:extLst xmlns:a="http://schemas.openxmlformats.org/drawingml/2006/main">
              <a:ext uri="{FF2B5EF4-FFF2-40B4-BE49-F238E27FC236}">
                <a16:creationId xmlns:a16="http://schemas.microsoft.com/office/drawing/2014/main" id="{214E6AD7-E103-4C26-8450-29EE06BA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85900"/>
            <a:ext cx="100774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action-1">
            <a:extLst xmlns:a="http://schemas.openxmlformats.org/drawingml/2006/main">
              <a:ext uri="{FF2B5EF4-FFF2-40B4-BE49-F238E27FC236}">
                <a16:creationId xmlns:a16="http://schemas.microsoft.com/office/drawing/2014/main" id="{F43D48CE-0DF3-43FA-BB6B-6299FA34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43050"/>
            <a:ext cx="18764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DD4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217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Conversation Gateway</a:t>
            </a:r>
            <a:r>
              <a:rPr sz="7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Text / Voice / Multimodal</a:t>
            </a:r>
          </a:p>
        </p:txBody>
      </p:sp>
      <p:sp>
        <p:nvSpPr>
          <p:cNvPr id="16" name="interaction-2">
            <a:extLst xmlns:a="http://schemas.openxmlformats.org/drawingml/2006/main">
              <a:ext uri="{FF2B5EF4-FFF2-40B4-BE49-F238E27FC236}">
                <a16:creationId xmlns:a16="http://schemas.microsoft.com/office/drawing/2014/main" id="{FC83668A-4660-4B00-AF0F-5E5E1122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43050"/>
            <a:ext cx="18764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DD4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217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Goal &amp; Task UX</a:t>
            </a:r>
            <a:r>
              <a:rPr sz="7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Goal / Plan / Progress</a:t>
            </a:r>
          </a:p>
        </p:txBody>
      </p:sp>
      <p:sp>
        <p:nvSpPr>
          <p:cNvPr id="17" name="interaction-3">
            <a:extLst xmlns:a="http://schemas.openxmlformats.org/drawingml/2006/main">
              <a:ext uri="{FF2B5EF4-FFF2-40B4-BE49-F238E27FC236}">
                <a16:creationId xmlns:a16="http://schemas.microsoft.com/office/drawing/2014/main" id="{910DBA67-81C2-4201-9096-36412A9E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43050"/>
            <a:ext cx="18764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DD4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217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Dynamic Workspace</a:t>
            </a:r>
            <a:r>
              <a:rPr sz="7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Structured results</a:t>
            </a:r>
          </a:p>
        </p:txBody>
      </p:sp>
      <p:sp>
        <p:nvSpPr>
          <p:cNvPr id="18" name="interaction-4">
            <a:extLst xmlns:a="http://schemas.openxmlformats.org/drawingml/2006/main">
              <a:ext uri="{FF2B5EF4-FFF2-40B4-BE49-F238E27FC236}">
                <a16:creationId xmlns:a16="http://schemas.microsoft.com/office/drawing/2014/main" id="{6F61D3E3-1054-4233-89E3-1681FDC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543050"/>
            <a:ext cx="18764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DD4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217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Human + AI Work Queue</a:t>
            </a:r>
            <a:r>
              <a:rPr sz="7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Task / Signal / Ownership</a:t>
            </a:r>
          </a:p>
        </p:txBody>
      </p:sp>
      <p:sp>
        <p:nvSpPr>
          <p:cNvPr id="19" name="interaction-5">
            <a:extLst xmlns:a="http://schemas.openxmlformats.org/drawingml/2006/main">
              <a:ext uri="{FF2B5EF4-FFF2-40B4-BE49-F238E27FC236}">
                <a16:creationId xmlns:a16="http://schemas.microsoft.com/office/drawing/2014/main" id="{25F0B466-BA2B-4DAD-AC77-2A36F078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43050"/>
            <a:ext cx="18764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DD4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217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Approval &amp; Explainability</a:t>
            </a:r>
            <a:r>
              <a:rPr sz="7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Review / Evidence / Control</a:t>
            </a:r>
          </a:p>
        </p:txBody>
      </p:sp>
      <p:sp>
        <p:nvSpPr>
          <p:cNvPr id="20" name="flow-arrow-209">
            <a:extLst xmlns:a="http://schemas.openxmlformats.org/drawingml/2006/main">
              <a:ext uri="{FF2B5EF4-FFF2-40B4-BE49-F238E27FC236}">
                <a16:creationId xmlns:a16="http://schemas.microsoft.com/office/drawing/2014/main" id="{82A70D7D-EE6E-449F-BA4A-6AF887CF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90725"/>
            <a:ext cx="123825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yer-03-label">
            <a:extLst xmlns:a="http://schemas.openxmlformats.org/drawingml/2006/main">
              <a:ext uri="{FF2B5EF4-FFF2-40B4-BE49-F238E27FC236}">
                <a16:creationId xmlns:a16="http://schemas.microsoft.com/office/drawing/2014/main" id="{682A4C63-F4CC-4DBC-B743-987EFCDD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33600"/>
            <a:ext cx="1371600" cy="10668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  AGENTIC CORE</a:t>
            </a:r>
            <a:r>
              <a:rPr sz="8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
智能编排层</a:t>
            </a:r>
          </a:p>
        </p:txBody>
      </p:sp>
      <p:sp>
        <p:nvSpPr>
          <p:cNvPr id="22" name="orchestrator-band">
            <a:extLst xmlns:a="http://schemas.openxmlformats.org/drawingml/2006/main">
              <a:ext uri="{FF2B5EF4-FFF2-40B4-BE49-F238E27FC236}">
                <a16:creationId xmlns:a16="http://schemas.microsoft.com/office/drawing/2014/main" id="{8FA2E65F-4D48-4671-A8A9-5E092B67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33600"/>
            <a:ext cx="10077450" cy="10668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ntrol-plane">
            <a:extLst xmlns:a="http://schemas.openxmlformats.org/drawingml/2006/main">
              <a:ext uri="{FF2B5EF4-FFF2-40B4-BE49-F238E27FC236}">
                <a16:creationId xmlns:a16="http://schemas.microsoft.com/office/drawing/2014/main" id="{33B4B6DE-E788-4B27-BBFD-DE52DCD5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19325"/>
            <a:ext cx="4762500" cy="542925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E8E0FF"/>
          </a:solidFill>
          <a:ln xmlns:a="http://schemas.openxmlformats.org/drawingml/2006/main" w="9525">
            <a:solidFill>
              <a:srgbClr val="B8A3EE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91815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13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Deterministic Control Plane</a:t>
            </a:r>
            <a:r>
              <a:rPr sz="8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Session · execution · agent lifecycle
Permission · approval · limits · retry · audit</a:t>
            </a:r>
          </a:p>
        </p:txBody>
      </p:sp>
      <p:sp>
        <p:nvSpPr>
          <p:cNvPr id="24" name="control-plane-accent">
            <a:extLst xmlns:a="http://schemas.openxmlformats.org/drawingml/2006/main">
              <a:ext uri="{FF2B5EF4-FFF2-40B4-BE49-F238E27FC236}">
                <a16:creationId xmlns:a16="http://schemas.microsoft.com/office/drawing/2014/main" id="{BA0E560C-A40F-4BFC-A2B2-AAB5E2F1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19325"/>
            <a:ext cx="47625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asoning-core">
            <a:extLst xmlns:a="http://schemas.openxmlformats.org/drawingml/2006/main">
              <a:ext uri="{FF2B5EF4-FFF2-40B4-BE49-F238E27FC236}">
                <a16:creationId xmlns:a16="http://schemas.microsoft.com/office/drawing/2014/main" id="{9BBD5AB3-D97D-49D5-8971-C7A24F40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19325"/>
            <a:ext cx="4914900" cy="542925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E8E0FF"/>
          </a:solidFill>
          <a:ln xmlns:a="http://schemas.openxmlformats.org/drawingml/2006/main" w="9525">
            <a:solidFill>
              <a:srgbClr val="B8A3EE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91815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13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Main Agent Reasoning Core</a:t>
            </a:r>
            <a:r>
              <a:rPr sz="85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Goal &amp; continuation understanding
Routing · planning · replanning · response</a:t>
            </a:r>
          </a:p>
        </p:txBody>
      </p:sp>
      <p:sp>
        <p:nvSpPr>
          <p:cNvPr id="26" name="reasoning-core-accent">
            <a:extLst xmlns:a="http://schemas.openxmlformats.org/drawingml/2006/main">
              <a:ext uri="{FF2B5EF4-FFF2-40B4-BE49-F238E27FC236}">
                <a16:creationId xmlns:a16="http://schemas.microsoft.com/office/drawing/2014/main" id="{6A4CF26E-BFE3-45E9-9E2F-B3031F55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19325"/>
            <a:ext cx="47625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gistries">
            <a:extLst xmlns:a="http://schemas.openxmlformats.org/drawingml/2006/main">
              <a:ext uri="{FF2B5EF4-FFF2-40B4-BE49-F238E27FC236}">
                <a16:creationId xmlns:a16="http://schemas.microsoft.com/office/drawing/2014/main" id="{BE4A5085-BA59-4C3A-ABAE-1B4C953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28925"/>
            <a:ext cx="3143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2F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66684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Capability Registries</a:t>
            </a:r>
            <a:r>
              <a:rPr sz="70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Skill / Agent / Tool</a:t>
            </a:r>
          </a:p>
        </p:txBody>
      </p:sp>
      <p:sp>
        <p:nvSpPr>
          <p:cNvPr id="28" name="context-policy">
            <a:extLst xmlns:a="http://schemas.openxmlformats.org/drawingml/2006/main">
              <a:ext uri="{FF2B5EF4-FFF2-40B4-BE49-F238E27FC236}">
                <a16:creationId xmlns:a16="http://schemas.microsoft.com/office/drawing/2014/main" id="{44AF007C-4E16-4BFB-8CC4-475DBD7C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28925"/>
            <a:ext cx="32766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2F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66684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Context &amp; Permission Policy</a:t>
            </a:r>
            <a:r>
              <a:rPr sz="70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Minimum context / resource scope</a:t>
            </a:r>
          </a:p>
        </p:txBody>
      </p:sp>
      <p:sp>
        <p:nvSpPr>
          <p:cNvPr id="29" name="runtime-state">
            <a:extLst xmlns:a="http://schemas.openxmlformats.org/drawingml/2006/main">
              <a:ext uri="{FF2B5EF4-FFF2-40B4-BE49-F238E27FC236}">
                <a16:creationId xmlns:a16="http://schemas.microsoft.com/office/drawing/2014/main" id="{F4F38FCC-31B5-4DB8-9C62-7AF31DDD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28925"/>
            <a:ext cx="31623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2F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66684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Runtime State</a:t>
            </a:r>
            <a:r>
              <a:rPr sz="70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Session / Execution / Artifact / Outbox</a:t>
            </a:r>
          </a:p>
        </p:txBody>
      </p:sp>
      <p:sp>
        <p:nvSpPr>
          <p:cNvPr id="30" name="flow-arrow-339">
            <a:extLst xmlns:a="http://schemas.openxmlformats.org/drawingml/2006/main">
              <a:ext uri="{FF2B5EF4-FFF2-40B4-BE49-F238E27FC236}">
                <a16:creationId xmlns:a16="http://schemas.microsoft.com/office/drawing/2014/main" id="{FE3CA0D2-4084-4DBD-986D-3FCB7168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28975"/>
            <a:ext cx="123825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layer-04-label">
            <a:extLst xmlns:a="http://schemas.openxmlformats.org/drawingml/2006/main">
              <a:ext uri="{FF2B5EF4-FFF2-40B4-BE49-F238E27FC236}">
                <a16:creationId xmlns:a16="http://schemas.microsoft.com/office/drawing/2014/main" id="{DA265579-FE57-4D6B-B654-07E74D4D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71850"/>
            <a:ext cx="1371600" cy="74295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  EXECUTION</a:t>
            </a:r>
            <a:r>
              <a:rPr sz="8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
受控执行层</a:t>
            </a:r>
          </a:p>
        </p:txBody>
      </p:sp>
      <p:sp>
        <p:nvSpPr>
          <p:cNvPr id="32" name="execution-band">
            <a:extLst xmlns:a="http://schemas.openxmlformats.org/drawingml/2006/main">
              <a:ext uri="{FF2B5EF4-FFF2-40B4-BE49-F238E27FC236}">
                <a16:creationId xmlns:a16="http://schemas.microsoft.com/office/drawing/2014/main" id="{6E232111-FBC6-4E30-9B0D-D774F5B4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71850"/>
            <a:ext cx="10077450" cy="74295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usiness-skills">
            <a:extLst xmlns:a="http://schemas.openxmlformats.org/drawingml/2006/main">
              <a:ext uri="{FF2B5EF4-FFF2-40B4-BE49-F238E27FC236}">
                <a16:creationId xmlns:a16="http://schemas.microsoft.com/office/drawing/2014/main" id="{42CC07BD-0BE8-4010-BBB2-5EFC7448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57575"/>
            <a:ext cx="438150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F1E4"/>
          </a:solidFill>
          <a:ln xmlns:a="http://schemas.openxmlformats.org/drawingml/2006/main" w="9525">
            <a:solidFill>
              <a:srgbClr val="91CDA5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12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Business Skills  ·  DEFAULT</a:t>
            </a:r>
            <a:r>
              <a:rPr sz="83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Customer brief · meeting preparation · needs analysis
proposal · engagement · claims · performance diagnosis</a:t>
            </a:r>
          </a:p>
        </p:txBody>
      </p:sp>
      <p:sp>
        <p:nvSpPr>
          <p:cNvPr id="34" name="business-skills-accent">
            <a:extLst xmlns:a="http://schemas.openxmlformats.org/drawingml/2006/main">
              <a:ext uri="{FF2B5EF4-FFF2-40B4-BE49-F238E27FC236}">
                <a16:creationId xmlns:a16="http://schemas.microsoft.com/office/drawing/2014/main" id="{F30CBBE6-3D56-4A3D-8EE1-13695B48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57575"/>
            <a:ext cx="47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pecialized-agents">
            <a:extLst xmlns:a="http://schemas.openxmlformats.org/drawingml/2006/main">
              <a:ext uri="{FF2B5EF4-FFF2-40B4-BE49-F238E27FC236}">
                <a16:creationId xmlns:a16="http://schemas.microsoft.com/office/drawing/2014/main" id="{839B4DAF-E5F1-4539-B8BD-52908035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57575"/>
            <a:ext cx="262890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E6BC82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Specialized Agents  ·  AS NEEDED</a:t>
            </a:r>
            <a:r>
              <a:rPr sz="7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Role Play · Deep Coaching
Sales Advisory promotion · External Agent</a:t>
            </a:r>
          </a:p>
        </p:txBody>
      </p:sp>
      <p:sp>
        <p:nvSpPr>
          <p:cNvPr id="36" name="specialized-agents-accent">
            <a:extLst xmlns:a="http://schemas.openxmlformats.org/drawingml/2006/main">
              <a:ext uri="{FF2B5EF4-FFF2-40B4-BE49-F238E27FC236}">
                <a16:creationId xmlns:a16="http://schemas.microsoft.com/office/drawing/2014/main" id="{40FC25AB-7382-43F2-8257-CCCFF832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57575"/>
            <a:ext cx="47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ool-gateway">
            <a:extLst xmlns:a="http://schemas.openxmlformats.org/drawingml/2006/main">
              <a:ext uri="{FF2B5EF4-FFF2-40B4-BE49-F238E27FC236}">
                <a16:creationId xmlns:a16="http://schemas.microsoft.com/office/drawing/2014/main" id="{0FFFA9F5-DC4C-4BD8-8DDB-075F0F37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57575"/>
            <a:ext cx="2571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Governed Tool Gateway</a:t>
            </a:r>
            <a:r>
              <a:rPr sz="7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Read · Decision · Write · Lifecycle
Schema · AuthZ · approval · idempotency</a:t>
            </a:r>
          </a:p>
        </p:txBody>
      </p:sp>
      <p:sp>
        <p:nvSpPr>
          <p:cNvPr id="38" name="tool-gateway-accent">
            <a:extLst xmlns:a="http://schemas.openxmlformats.org/drawingml/2006/main">
              <a:ext uri="{FF2B5EF4-FFF2-40B4-BE49-F238E27FC236}">
                <a16:creationId xmlns:a16="http://schemas.microsoft.com/office/drawing/2014/main" id="{5DD0BC28-C7A5-4E31-8A19-1F892E4E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57575"/>
            <a:ext cx="47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low-arrow-435">
            <a:extLst xmlns:a="http://schemas.openxmlformats.org/drawingml/2006/main">
              <a:ext uri="{FF2B5EF4-FFF2-40B4-BE49-F238E27FC236}">
                <a16:creationId xmlns:a16="http://schemas.microsoft.com/office/drawing/2014/main" id="{131F94C9-0518-4C41-92C7-B0C426A1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43375"/>
            <a:ext cx="123825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layer-05-label">
            <a:extLst xmlns:a="http://schemas.openxmlformats.org/drawingml/2006/main">
              <a:ext uri="{FF2B5EF4-FFF2-40B4-BE49-F238E27FC236}">
                <a16:creationId xmlns:a16="http://schemas.microsoft.com/office/drawing/2014/main" id="{6D6FD2B7-AFD7-4B01-8358-90FAFCD7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0"/>
            <a:ext cx="1371600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  CAPABILITIES</a:t>
            </a:r>
            <a:r>
              <a:rPr sz="8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
九大逻辑业务子系统</a:t>
            </a:r>
          </a:p>
        </p:txBody>
      </p:sp>
      <p:sp>
        <p:nvSpPr>
          <p:cNvPr id="41" name="capability-band">
            <a:extLst xmlns:a="http://schemas.openxmlformats.org/drawingml/2006/main">
              <a:ext uri="{FF2B5EF4-FFF2-40B4-BE49-F238E27FC236}">
                <a16:creationId xmlns:a16="http://schemas.microsoft.com/office/drawing/2014/main" id="{8385BEE4-C1DB-4EBA-81E9-0025F2B3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86250"/>
            <a:ext cx="10077450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E8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latform-1">
            <a:extLst xmlns:a="http://schemas.openxmlformats.org/drawingml/2006/main">
              <a:ext uri="{FF2B5EF4-FFF2-40B4-BE49-F238E27FC236}">
                <a16:creationId xmlns:a16="http://schemas.microsoft.com/office/drawing/2014/main" id="{47691AAC-DEDD-4469-8EE6-265FF54C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62450"/>
            <a:ext cx="18669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7E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1  AI Workbench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Experience / Tasks / Approval</a:t>
            </a:r>
          </a:p>
        </p:txBody>
      </p:sp>
      <p:sp>
        <p:nvSpPr>
          <p:cNvPr id="43" name="platform-1-accent">
            <a:extLst xmlns:a="http://schemas.openxmlformats.org/drawingml/2006/main">
              <a:ext uri="{FF2B5EF4-FFF2-40B4-BE49-F238E27FC236}">
                <a16:creationId xmlns:a16="http://schemas.microsoft.com/office/drawing/2014/main" id="{70F390FD-2F41-4A20-B394-6D3017DE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62450"/>
            <a:ext cx="4762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latform-2">
            <a:extLst xmlns:a="http://schemas.openxmlformats.org/drawingml/2006/main">
              <a:ext uri="{FF2B5EF4-FFF2-40B4-BE49-F238E27FC236}">
                <a16:creationId xmlns:a16="http://schemas.microsoft.com/office/drawing/2014/main" id="{42A4621E-73D5-480F-87F7-65BE0A2F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62450"/>
            <a:ext cx="18669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7E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2  Customer &amp; Sales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Customer 360 / Engagement / Sales</a:t>
            </a:r>
          </a:p>
        </p:txBody>
      </p:sp>
      <p:sp>
        <p:nvSpPr>
          <p:cNvPr id="45" name="platform-2-accent">
            <a:extLst xmlns:a="http://schemas.openxmlformats.org/drawingml/2006/main">
              <a:ext uri="{FF2B5EF4-FFF2-40B4-BE49-F238E27FC236}">
                <a16:creationId xmlns:a16="http://schemas.microsoft.com/office/drawing/2014/main" id="{1F1D137F-8F4A-4404-8783-41C17AC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62450"/>
            <a:ext cx="4762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latform-3">
            <a:extLst xmlns:a="http://schemas.openxmlformats.org/drawingml/2006/main">
              <a:ext uri="{FF2B5EF4-FFF2-40B4-BE49-F238E27FC236}">
                <a16:creationId xmlns:a16="http://schemas.microsoft.com/office/drawing/2014/main" id="{36B567E7-9023-48FC-9805-605EB721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62450"/>
            <a:ext cx="18669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7E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3  Agent Growth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Goals / Performance / Coaching</a:t>
            </a:r>
          </a:p>
        </p:txBody>
      </p:sp>
      <p:sp>
        <p:nvSpPr>
          <p:cNvPr id="47" name="platform-3-accent">
            <a:extLst xmlns:a="http://schemas.openxmlformats.org/drawingml/2006/main">
              <a:ext uri="{FF2B5EF4-FFF2-40B4-BE49-F238E27FC236}">
                <a16:creationId xmlns:a16="http://schemas.microsoft.com/office/drawing/2014/main" id="{6F6B726C-2070-4D79-8AE8-3D39C3D1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62450"/>
            <a:ext cx="4762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latform-4">
            <a:extLst xmlns:a="http://schemas.openxmlformats.org/drawingml/2006/main">
              <a:ext uri="{FF2B5EF4-FFF2-40B4-BE49-F238E27FC236}">
                <a16:creationId xmlns:a16="http://schemas.microsoft.com/office/drawing/2014/main" id="{FA79BAD1-015A-4A99-BD17-636463F8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18669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7E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4  Leader &amp; Recruitment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Team / Candidate / Leader NBA</a:t>
            </a:r>
          </a:p>
        </p:txBody>
      </p:sp>
      <p:sp>
        <p:nvSpPr>
          <p:cNvPr id="49" name="platform-4-accent">
            <a:extLst xmlns:a="http://schemas.openxmlformats.org/drawingml/2006/main">
              <a:ext uri="{FF2B5EF4-FFF2-40B4-BE49-F238E27FC236}">
                <a16:creationId xmlns:a16="http://schemas.microsoft.com/office/drawing/2014/main" id="{8A8B602A-033D-4A42-AD01-786302F9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4762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latform-5">
            <a:extLst xmlns:a="http://schemas.openxmlformats.org/drawingml/2006/main">
              <a:ext uri="{FF2B5EF4-FFF2-40B4-BE49-F238E27FC236}">
                <a16:creationId xmlns:a16="http://schemas.microsoft.com/office/drawing/2014/main" id="{5E6B0B6E-6359-4C1B-97A0-A8FC3433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62450"/>
            <a:ext cx="18669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7E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5  Journey &amp; Work</a:t>
            </a:r>
            <a:r>
              <a:rPr sz="66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AUTHORITATIVE PROCESS STATE</a:t>
            </a:r>
          </a:p>
        </p:txBody>
      </p:sp>
      <p:sp>
        <p:nvSpPr>
          <p:cNvPr id="51" name="platform-5-accent">
            <a:extLst xmlns:a="http://schemas.openxmlformats.org/drawingml/2006/main">
              <a:ext uri="{FF2B5EF4-FFF2-40B4-BE49-F238E27FC236}">
                <a16:creationId xmlns:a16="http://schemas.microsoft.com/office/drawing/2014/main" id="{D63CE4A9-93D8-4552-BB5A-88405FB8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62450"/>
            <a:ext cx="4762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latform-6">
            <a:extLst xmlns:a="http://schemas.openxmlformats.org/drawingml/2006/main">
              <a:ext uri="{FF2B5EF4-FFF2-40B4-BE49-F238E27FC236}">
                <a16:creationId xmlns:a16="http://schemas.microsoft.com/office/drawing/2014/main" id="{97349715-3D20-416D-9583-746E2AA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76800"/>
            <a:ext cx="235267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7E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6  Decisioning &amp; NBA</a:t>
            </a:r>
            <a:r>
              <a:rPr sz="66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CONTROLLED BUSINESS DECISIONS</a:t>
            </a:r>
          </a:p>
        </p:txBody>
      </p:sp>
      <p:sp>
        <p:nvSpPr>
          <p:cNvPr id="53" name="platform-6-accent">
            <a:extLst xmlns:a="http://schemas.openxmlformats.org/drawingml/2006/main">
              <a:ext uri="{FF2B5EF4-FFF2-40B4-BE49-F238E27FC236}">
                <a16:creationId xmlns:a16="http://schemas.microsoft.com/office/drawing/2014/main" id="{B24FBEAE-1254-4153-92B2-6AC4381F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76800"/>
            <a:ext cx="4762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latform-7">
            <a:extLst xmlns:a="http://schemas.openxmlformats.org/drawingml/2006/main">
              <a:ext uri="{FF2B5EF4-FFF2-40B4-BE49-F238E27FC236}">
                <a16:creationId xmlns:a16="http://schemas.microsoft.com/office/drawing/2014/main" id="{4E2C13CF-A513-471D-BA3C-AF498B4D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876800"/>
            <a:ext cx="235267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7E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7  Knowledge &amp; GenAI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RAG / Content / Document / Citation</a:t>
            </a:r>
          </a:p>
        </p:txBody>
      </p:sp>
      <p:sp>
        <p:nvSpPr>
          <p:cNvPr id="55" name="platform-7-accent">
            <a:extLst xmlns:a="http://schemas.openxmlformats.org/drawingml/2006/main">
              <a:ext uri="{FF2B5EF4-FFF2-40B4-BE49-F238E27FC236}">
                <a16:creationId xmlns:a16="http://schemas.microsoft.com/office/drawing/2014/main" id="{619DDE16-0717-42E0-BD8C-02F73B92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876800"/>
            <a:ext cx="4762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latform-8">
            <a:extLst xmlns:a="http://schemas.openxmlformats.org/drawingml/2006/main">
              <a:ext uri="{FF2B5EF4-FFF2-40B4-BE49-F238E27FC236}">
                <a16:creationId xmlns:a16="http://schemas.microsoft.com/office/drawing/2014/main" id="{D1EBD2B6-D651-488B-AB31-49FE78B8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76800"/>
            <a:ext cx="235267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7E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8  360 Data &amp; Semantic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Identity / Consent / Feature / Lineage</a:t>
            </a:r>
          </a:p>
        </p:txBody>
      </p:sp>
      <p:sp>
        <p:nvSpPr>
          <p:cNvPr id="57" name="platform-8-accent">
            <a:extLst xmlns:a="http://schemas.openxmlformats.org/drawingml/2006/main">
              <a:ext uri="{FF2B5EF4-FFF2-40B4-BE49-F238E27FC236}">
                <a16:creationId xmlns:a16="http://schemas.microsoft.com/office/drawing/2014/main" id="{E51620C0-8949-421B-80DD-ACB437A0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76800"/>
            <a:ext cx="4762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latform-9">
            <a:extLst xmlns:a="http://schemas.openxmlformats.org/drawingml/2006/main">
              <a:ext uri="{FF2B5EF4-FFF2-40B4-BE49-F238E27FC236}">
                <a16:creationId xmlns:a16="http://schemas.microsoft.com/office/drawing/2014/main" id="{36215490-412C-4ECE-8017-4EFA2BDC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76800"/>
            <a:ext cx="235267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7E8"/>
            </a:solidFill>
            <a:prstDash val="solid"/>
          </a:ln>
        </p:spPr>
        <p:txBody>
          <a:bodyPr xmlns:a="http://schemas.openxmlformats.org/drawingml/2006/main" wrap="square" lIns="95250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9  Integration &amp; AI Control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Integration / IAM / Guardrail / Audit</a:t>
            </a:r>
          </a:p>
        </p:txBody>
      </p:sp>
      <p:sp>
        <p:nvSpPr>
          <p:cNvPr id="59" name="platform-9-accent">
            <a:extLst xmlns:a="http://schemas.openxmlformats.org/drawingml/2006/main">
              <a:ext uri="{FF2B5EF4-FFF2-40B4-BE49-F238E27FC236}">
                <a16:creationId xmlns:a16="http://schemas.microsoft.com/office/drawing/2014/main" id="{A7B6600F-D978-4EA7-9107-52F08DB8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76800"/>
            <a:ext cx="4762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flow-arrow-569">
            <a:extLst xmlns:a="http://schemas.openxmlformats.org/drawingml/2006/main">
              <a:ext uri="{FF2B5EF4-FFF2-40B4-BE49-F238E27FC236}">
                <a16:creationId xmlns:a16="http://schemas.microsoft.com/office/drawing/2014/main" id="{85C9054A-5FF7-4244-B65B-5F938D6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19725"/>
            <a:ext cx="123825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layer-06-label">
            <a:extLst xmlns:a="http://schemas.openxmlformats.org/drawingml/2006/main">
              <a:ext uri="{FF2B5EF4-FFF2-40B4-BE49-F238E27FC236}">
                <a16:creationId xmlns:a16="http://schemas.microsoft.com/office/drawing/2014/main" id="{D0FCE225-6A9A-4900-9955-4EB15E7C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62600"/>
            <a:ext cx="13716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66675" rIns="76200" bIns="66675" anchor="ctr">
            <a:normAutofit fontScale="97097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  RUNTIME</a:t>
            </a:r>
            <a:r>
              <a:rPr sz="8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
共享运行时与数据</a:t>
            </a:r>
          </a:p>
        </p:txBody>
      </p:sp>
      <p:sp>
        <p:nvSpPr>
          <p:cNvPr id="62" name="runtime-band">
            <a:extLst xmlns:a="http://schemas.openxmlformats.org/drawingml/2006/main">
              <a:ext uri="{FF2B5EF4-FFF2-40B4-BE49-F238E27FC236}">
                <a16:creationId xmlns:a16="http://schemas.microsoft.com/office/drawing/2014/main" id="{F3EA50CA-E366-4F08-861A-8D3D9AE1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62600"/>
            <a:ext cx="100774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runtime-1">
            <a:extLst xmlns:a="http://schemas.openxmlformats.org/drawingml/2006/main">
              <a:ext uri="{FF2B5EF4-FFF2-40B4-BE49-F238E27FC236}">
                <a16:creationId xmlns:a16="http://schemas.microsoft.com/office/drawing/2014/main" id="{01119752-87E9-4535-B8F6-06F13A5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0"/>
            <a:ext cx="23622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1262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LLM &amp; Model Runtime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Gateway / routing / fallback</a:t>
            </a:r>
          </a:p>
        </p:txBody>
      </p:sp>
      <p:sp>
        <p:nvSpPr>
          <p:cNvPr id="64" name="runtime-2">
            <a:extLst xmlns:a="http://schemas.openxmlformats.org/drawingml/2006/main">
              <a:ext uri="{FF2B5EF4-FFF2-40B4-BE49-F238E27FC236}">
                <a16:creationId xmlns:a16="http://schemas.microsoft.com/office/drawing/2014/main" id="{094C11F4-CD08-461D-940E-8A9510B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23622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1262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Data &amp; Retrieval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Search / rerank / semantic</a:t>
            </a:r>
          </a:p>
        </p:txBody>
      </p:sp>
      <p:sp>
        <p:nvSpPr>
          <p:cNvPr id="65" name="runtime-3">
            <a:extLst xmlns:a="http://schemas.openxmlformats.org/drawingml/2006/main">
              <a:ext uri="{FF2B5EF4-FFF2-40B4-BE49-F238E27FC236}">
                <a16:creationId xmlns:a16="http://schemas.microsoft.com/office/drawing/2014/main" id="{67CECE2D-9C58-44A9-90E3-19A14AAA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19750"/>
            <a:ext cx="23622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1262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Event &amp; Workflow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Event bus / durable execution</a:t>
            </a:r>
          </a:p>
        </p:txBody>
      </p:sp>
      <p:sp>
        <p:nvSpPr>
          <p:cNvPr id="66" name="runtime-4">
            <a:extLst xmlns:a="http://schemas.openxmlformats.org/drawingml/2006/main">
              <a:ext uri="{FF2B5EF4-FFF2-40B4-BE49-F238E27FC236}">
                <a16:creationId xmlns:a16="http://schemas.microsoft.com/office/drawing/2014/main" id="{8EF3AF62-B692-4B73-A842-1EE00785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19750"/>
            <a:ext cx="23622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3D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1262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Governance &amp; Observability</a:t>
            </a:r>
            <a:r>
              <a:rPr sz="68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Security / trace / evaluation</a:t>
            </a:r>
          </a:p>
        </p:txBody>
      </p:sp>
      <p:sp>
        <p:nvSpPr>
          <p:cNvPr id="67" name="flow-arrow-635">
            <a:extLst xmlns:a="http://schemas.openxmlformats.org/drawingml/2006/main">
              <a:ext uri="{FF2B5EF4-FFF2-40B4-BE49-F238E27FC236}">
                <a16:creationId xmlns:a16="http://schemas.microsoft.com/office/drawing/2014/main" id="{054A9D85-80F0-4FB2-9615-CFF4F8A0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48375"/>
            <a:ext cx="123825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layer-07-label">
            <a:extLst xmlns:a="http://schemas.openxmlformats.org/drawingml/2006/main">
              <a:ext uri="{FF2B5EF4-FFF2-40B4-BE49-F238E27FC236}">
                <a16:creationId xmlns:a16="http://schemas.microsoft.com/office/drawing/2014/main" id="{5C68A85E-7B42-4D02-823D-4CD56B2A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13716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66675" rIns="76200" bIns="66675" anchor="ctr">
            <a:normAutofit fontScale="84597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  ENTERPRISE</a:t>
            </a:r>
            <a:r>
              <a:rPr sz="8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
核心系统与外部生态</a:t>
            </a:r>
          </a:p>
        </p:txBody>
      </p:sp>
      <p:sp>
        <p:nvSpPr>
          <p:cNvPr id="69" name="enterprise-band">
            <a:extLst xmlns:a="http://schemas.openxmlformats.org/drawingml/2006/main">
              <a:ext uri="{FF2B5EF4-FFF2-40B4-BE49-F238E27FC236}">
                <a16:creationId xmlns:a16="http://schemas.microsoft.com/office/drawing/2014/main" id="{9C6242DE-3FEC-4630-9529-DAD2A60D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191250"/>
            <a:ext cx="100774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7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enterprise-1">
            <a:extLst xmlns:a="http://schemas.openxmlformats.org/drawingml/2006/main">
              <a:ext uri="{FF2B5EF4-FFF2-40B4-BE49-F238E27FC236}">
                <a16:creationId xmlns:a16="http://schemas.microsoft.com/office/drawing/2014/main" id="{BE66F1B0-8556-444F-9673-92392387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238875"/>
            <a:ext cx="18764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898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CRM</a:t>
            </a:r>
            <a:r>
              <a:rPr sz="63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Customer / Lead / Activity</a:t>
            </a:r>
          </a:p>
        </p:txBody>
      </p:sp>
      <p:sp>
        <p:nvSpPr>
          <p:cNvPr id="71" name="enterprise-2">
            <a:extLst xmlns:a="http://schemas.openxmlformats.org/drawingml/2006/main">
              <a:ext uri="{FF2B5EF4-FFF2-40B4-BE49-F238E27FC236}">
                <a16:creationId xmlns:a16="http://schemas.microsoft.com/office/drawing/2014/main" id="{86233E8A-DAB5-470C-82BC-D89AF464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6238875"/>
            <a:ext cx="18764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898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Insurance Core</a:t>
            </a:r>
            <a:r>
              <a:rPr sz="63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Policy / UW / Claims / Finance</a:t>
            </a:r>
          </a:p>
        </p:txBody>
      </p:sp>
      <p:sp>
        <p:nvSpPr>
          <p:cNvPr id="72" name="enterprise-3">
            <a:extLst xmlns:a="http://schemas.openxmlformats.org/drawingml/2006/main">
              <a:ext uri="{FF2B5EF4-FFF2-40B4-BE49-F238E27FC236}">
                <a16:creationId xmlns:a16="http://schemas.microsoft.com/office/drawing/2014/main" id="{934AB4BC-0111-4603-A2DA-C33D9A1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238875"/>
            <a:ext cx="18764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898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Product &amp; Content</a:t>
            </a:r>
            <a:r>
              <a:rPr sz="63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Product / Illustration / CMS</a:t>
            </a:r>
          </a:p>
        </p:txBody>
      </p:sp>
      <p:sp>
        <p:nvSpPr>
          <p:cNvPr id="73" name="enterprise-4">
            <a:extLst xmlns:a="http://schemas.openxmlformats.org/drawingml/2006/main">
              <a:ext uri="{FF2B5EF4-FFF2-40B4-BE49-F238E27FC236}">
                <a16:creationId xmlns:a16="http://schemas.microsoft.com/office/drawing/2014/main" id="{C8F053DB-731E-40CA-9989-DCFC904A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6238875"/>
            <a:ext cx="18764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898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Productivity</a:t>
            </a:r>
            <a:r>
              <a:rPr sz="63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Calendar / Email / LMS</a:t>
            </a:r>
          </a:p>
        </p:txBody>
      </p:sp>
      <p:sp>
        <p:nvSpPr>
          <p:cNvPr id="74" name="enterprise-5">
            <a:extLst xmlns:a="http://schemas.openxmlformats.org/drawingml/2006/main">
              <a:ext uri="{FF2B5EF4-FFF2-40B4-BE49-F238E27FC236}">
                <a16:creationId xmlns:a16="http://schemas.microsoft.com/office/drawing/2014/main" id="{A959BF9C-792B-4064-ADC3-CDF7A8BA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238875"/>
            <a:ext cx="18764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8983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11233D"/>
                </a:solidFill>
                <a:latin typeface="PingFang SC"/>
                <a:ea typeface="PingFang SC"/>
                <a:cs typeface="PingFang SC"/>
              </a:rPr>
              <a:t>External Ecosystem</a:t>
            </a:r>
            <a:r>
              <a:rPr sz="630">
                <a:solidFill>
                  <a:srgbClr val="5F6F82"/>
                </a:solidFill>
                <a:latin typeface="PingFang SC"/>
                <a:ea typeface="PingFang SC"/>
                <a:cs typeface="PingFang SC"/>
              </a:rPr>
              <a:t>
KYC / AML / Credit / Market</a:t>
            </a:r>
          </a:p>
        </p:txBody>
      </p:sp>
    </p:spTree>
    <p:extLst>
      <p:ext uri="{BB962C8B-B14F-4D97-AF65-F5344CB8AC3E}">
        <p14:creationId xmlns:p14="http://schemas.microsoft.com/office/powerpoint/2010/main" val="2043771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2026-10-09T17:00:51.6690000Z</dcterms:created>
  <dcterms:modified xsi:type="dcterms:W3CDTF">2026-10-09T17:00:51.6690000Z</dcterms:modified>
</coreProperties>
</file>