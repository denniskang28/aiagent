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3716000" cy="9144000"/>
  <p:notesSz cx="91440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Skill, tool, platform and system names are taken from the architecture handoff baseline. The handoff lists tools and dependencies per agent; the assignment of tools and systems to each skill group on this page is an indicative mapping to be validated in the Skill / MCP Tool catalog and the existing-system API gap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Skill, tool, platform and system names are taken from the architecture handoff baseline. The handoff lists tools and dependencies per agent; the assignment of tools and systems to each skill group on this page is an indicative mapping to be validated in the Skill / MCP Tool catalog and the existing-system API gap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Skill, tool, platform and system names are taken from the architecture handoff baseline. The handoff lists tools and dependencies per agent; the assignment of tools and systems to each skill group on this page is an indicative mapping to be validated in the Skill / MCP Tool catalog and the existing-system API gap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Skill, tool, platform and system names are taken from the architecture handoff baseline. The handoff lists tools and dependencies per agent; the assignment of tools and systems to each skill group on this page is an indicative mapping to be validated in the Skill / MCP Tool catalog and the existing-system API gap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Skill, tool, platform and system names are taken from the architecture handoff baseline. The handoff lists tools and dependencies per agent; the assignment of tools and systems to each skill group on this page is an indicative mapping to be validated in the Skill / MCP Tool catalog and the existing-system API gap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Skill, tool, platform and system names are taken from the architecture handoff baseline. The handoff lists tools and dependencies per agent; the assignment of tools and systems to each skill group on this page is an indicative mapping to be validated in the Skill / MCP Tool catalog and the existing-system API gap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23430" y="26789"/>
            <a:ext cx="11938992" cy="357188"/>
          </a:xfrm>
          <a:prstGeom prst="roundRect">
            <a:avLst>
              <a:gd name="adj" fmla="val 7680"/>
            </a:avLst>
          </a:prstGeom>
          <a:solidFill>
            <a:srgbClr val="0B2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723430" y="26789"/>
            <a:ext cx="11938992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AI Assistant Agentic Ecosystem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End-to-End Mapping from Business Applications to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508" y="464344"/>
            <a:ext cx="1643063" cy="1214438"/>
          </a:xfrm>
          <a:prstGeom prst="roundRect">
            <a:avLst>
              <a:gd name="adj" fmla="val 3765"/>
            </a:avLst>
          </a:prstGeom>
          <a:solidFill>
            <a:srgbClr val="E3EEFB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" y="589359"/>
            <a:ext cx="250031" cy="250031"/>
          </a:xfrm>
          <a:prstGeom prst="ellipse">
            <a:avLst/>
          </a:prstGeom>
          <a:solidFill>
            <a:srgbClr val="0B2A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73273" y="553641"/>
            <a:ext cx="1223367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8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(End User Experience)</a:t>
            </a:r>
            <a:endParaRPr lang="en-US" sz="8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 business applications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agents and leaders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508" y="1830586"/>
            <a:ext cx="1643063" cy="1455539"/>
          </a:xfrm>
          <a:prstGeom prst="roundRect">
            <a:avLst>
              <a:gd name="adj" fmla="val 3141"/>
            </a:avLst>
          </a:prstGeom>
          <a:solidFill>
            <a:srgbClr val="E8E3FA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" y="1955602"/>
            <a:ext cx="250031" cy="250031"/>
          </a:xfrm>
          <a:prstGeom prst="ellipse">
            <a:avLst/>
          </a:prstGeom>
          <a:solidFill>
            <a:srgbClr val="5B3F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73273" y="1919883"/>
            <a:ext cx="1223367" cy="131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Layer</a:t>
            </a:r>
            <a:endParaRPr lang="en-US" sz="8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(Orchestration &amp;</a:t>
            </a:r>
            <a:endParaRPr lang="en-US" sz="8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Experts)</a:t>
            </a:r>
            <a:endParaRPr lang="en-US" sz="8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main agent + 5 specialized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2508" y="3393281"/>
            <a:ext cx="1643063" cy="1714500"/>
          </a:xfrm>
          <a:prstGeom prst="roundRect">
            <a:avLst>
              <a:gd name="adj" fmla="val 2783"/>
            </a:avLst>
          </a:prstGeom>
          <a:solidFill>
            <a:srgbClr val="FDF1D6"/>
          </a:solidFill>
          <a:ln/>
        </p:spPr>
      </p:sp>
      <p:sp>
        <p:nvSpPr>
          <p:cNvPr id="11" name="Text 9"/>
          <p:cNvSpPr/>
          <p:nvPr/>
        </p:nvSpPr>
        <p:spPr>
          <a:xfrm>
            <a:off x="142875" y="3518297"/>
            <a:ext cx="250031" cy="250031"/>
          </a:xfrm>
          <a:prstGeom prst="ellipse">
            <a:avLst/>
          </a:prstGeom>
          <a:solidFill>
            <a:srgbClr val="8A6A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73273" y="3482578"/>
            <a:ext cx="1223367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Layer</a:t>
            </a:r>
            <a:endParaRPr lang="en-US" sz="8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(Bounded Capabilities)</a:t>
            </a:r>
            <a:endParaRPr lang="en-US" sz="8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~50–70 reusable skills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business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508" y="5241727"/>
            <a:ext cx="1643063" cy="1205508"/>
          </a:xfrm>
          <a:prstGeom prst="roundRect">
            <a:avLst>
              <a:gd name="adj" fmla="val 3793"/>
            </a:avLst>
          </a:prstGeom>
          <a:solidFill>
            <a:srgbClr val="E3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" y="5366742"/>
            <a:ext cx="250031" cy="250031"/>
          </a:xfrm>
          <a:prstGeom prst="ellipse">
            <a:avLst/>
          </a:prstGeom>
          <a:solidFill>
            <a:srgbClr val="1F5F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73273" y="5331023"/>
            <a:ext cx="1223367" cy="1062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MCP Layer</a:t>
            </a:r>
            <a:endParaRPr lang="en-US" sz="8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(AI-safe API Layer)</a:t>
            </a:r>
            <a:endParaRPr lang="en-US" sz="8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~60–90 MCP tools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 across agents)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508" y="6563320"/>
            <a:ext cx="1643063" cy="937617"/>
          </a:xfrm>
          <a:prstGeom prst="roundRect">
            <a:avLst>
              <a:gd name="adj" fmla="val 4876"/>
            </a:avLst>
          </a:prstGeom>
          <a:solidFill>
            <a:srgbClr val="DDF3EE"/>
          </a:solidFill>
          <a:ln/>
        </p:spPr>
      </p:sp>
      <p:sp>
        <p:nvSpPr>
          <p:cNvPr id="17" name="Text 15"/>
          <p:cNvSpPr/>
          <p:nvPr/>
        </p:nvSpPr>
        <p:spPr>
          <a:xfrm>
            <a:off x="142875" y="6688336"/>
            <a:ext cx="250031" cy="250031"/>
          </a:xfrm>
          <a:prstGeom prst="ellipse">
            <a:avLst/>
          </a:prstGeom>
          <a:solidFill>
            <a:srgbClr val="1B8F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73273" y="6652617"/>
            <a:ext cx="1223367" cy="794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AI Platforms</a:t>
            </a:r>
            <a:endParaRPr lang="en-US" sz="8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/ Enhanced)</a:t>
            </a:r>
            <a:endParaRPr lang="en-US" sz="8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platforms used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multiple agents and skills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508" y="7608094"/>
            <a:ext cx="1643063" cy="946547"/>
          </a:xfrm>
          <a:prstGeom prst="roundRect">
            <a:avLst>
              <a:gd name="adj" fmla="val 4830"/>
            </a:avLst>
          </a:prstGeom>
          <a:solidFill>
            <a:srgbClr val="FBE3EE"/>
          </a:solidFill>
          <a:ln/>
        </p:spPr>
      </p:sp>
      <p:sp>
        <p:nvSpPr>
          <p:cNvPr id="20" name="Text 18"/>
          <p:cNvSpPr/>
          <p:nvPr/>
        </p:nvSpPr>
        <p:spPr>
          <a:xfrm>
            <a:off x="142875" y="7733109"/>
            <a:ext cx="250031" cy="250031"/>
          </a:xfrm>
          <a:prstGeom prst="ellipse">
            <a:avLst/>
          </a:prstGeom>
          <a:solidFill>
            <a:srgbClr val="B023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73273" y="7697391"/>
            <a:ext cx="1223367" cy="80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Insurance</a:t>
            </a:r>
            <a:endParaRPr lang="en-US" sz="8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Systems</a:t>
            </a:r>
            <a:endParaRPr lang="en-US" sz="8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(Integrate via APIs)</a:t>
            </a:r>
            <a:endParaRPr lang="en-US" sz="8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existing systems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data sources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750219" y="5241727"/>
            <a:ext cx="11912203" cy="1205508"/>
          </a:xfrm>
          <a:prstGeom prst="roundRect">
            <a:avLst>
              <a:gd name="adj" fmla="val 2276"/>
            </a:avLst>
          </a:prstGeom>
          <a:solidFill>
            <a:srgbClr val="F1F6FD"/>
          </a:solidFill>
          <a:ln/>
        </p:spPr>
      </p:sp>
      <p:sp>
        <p:nvSpPr>
          <p:cNvPr id="23" name="Shape 21"/>
          <p:cNvSpPr/>
          <p:nvPr/>
        </p:nvSpPr>
        <p:spPr>
          <a:xfrm>
            <a:off x="1750219" y="6563320"/>
            <a:ext cx="11912203" cy="937617"/>
          </a:xfrm>
          <a:prstGeom prst="roundRect">
            <a:avLst>
              <a:gd name="adj" fmla="val 2926"/>
            </a:avLst>
          </a:prstGeom>
          <a:solidFill>
            <a:srgbClr val="EEF8F6"/>
          </a:solidFill>
          <a:ln/>
        </p:spPr>
      </p:sp>
      <p:sp>
        <p:nvSpPr>
          <p:cNvPr id="24" name="Shape 22"/>
          <p:cNvSpPr/>
          <p:nvPr/>
        </p:nvSpPr>
        <p:spPr>
          <a:xfrm>
            <a:off x="1750219" y="7608094"/>
            <a:ext cx="11912203" cy="946547"/>
          </a:xfrm>
          <a:prstGeom prst="roundRect">
            <a:avLst>
              <a:gd name="adj" fmla="val 2898"/>
            </a:avLst>
          </a:prstGeom>
          <a:solidFill>
            <a:srgbClr val="FCEFF5"/>
          </a:solidFill>
          <a:ln/>
        </p:spPr>
      </p:sp>
      <p:sp>
        <p:nvSpPr>
          <p:cNvPr id="25" name="Shape 23"/>
          <p:cNvSpPr/>
          <p:nvPr/>
        </p:nvSpPr>
        <p:spPr>
          <a:xfrm>
            <a:off x="1785938" y="491133"/>
            <a:ext cx="3946922" cy="1160859"/>
          </a:xfrm>
          <a:prstGeom prst="roundRect">
            <a:avLst>
              <a:gd name="adj" fmla="val 3938"/>
            </a:avLst>
          </a:prstGeom>
          <a:solidFill>
            <a:srgbClr val="DCEBFB"/>
          </a:solidFill>
          <a:ln w="9525">
            <a:solidFill>
              <a:srgbClr val="A9CBEF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8582" y="544711"/>
            <a:ext cx="232172" cy="23217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3260050" y="535781"/>
            <a:ext cx="1588056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Sales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785938" y="776883"/>
            <a:ext cx="3946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customers, drive sales, and deliver excellent service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1857375" y="973336"/>
            <a:ext cx="1214438" cy="258961"/>
          </a:xfrm>
          <a:prstGeom prst="roundRect">
            <a:avLst>
              <a:gd name="adj" fmla="val 1059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857375" y="973336"/>
            <a:ext cx="121443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152180" y="973336"/>
            <a:ext cx="1214438" cy="258961"/>
          </a:xfrm>
          <a:prstGeom prst="roundRect">
            <a:avLst>
              <a:gd name="adj" fmla="val 1059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152180" y="973336"/>
            <a:ext cx="121443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Analysis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446984" y="973336"/>
            <a:ext cx="1214438" cy="258961"/>
          </a:xfrm>
          <a:prstGeom prst="roundRect">
            <a:avLst>
              <a:gd name="adj" fmla="val 1059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446984" y="973336"/>
            <a:ext cx="121443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Proposal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1857375" y="1285875"/>
            <a:ext cx="1214438" cy="294680"/>
          </a:xfrm>
          <a:prstGeom prst="roundRect">
            <a:avLst>
              <a:gd name="adj" fmla="val 9309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857375" y="1285875"/>
            <a:ext cx="1214438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152180" y="1285875"/>
            <a:ext cx="1214438" cy="294680"/>
          </a:xfrm>
          <a:prstGeom prst="roundRect">
            <a:avLst>
              <a:gd name="adj" fmla="val 9309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152180" y="1285875"/>
            <a:ext cx="1214438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Support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446984" y="1285875"/>
            <a:ext cx="1214438" cy="294680"/>
          </a:xfrm>
          <a:prstGeom prst="roundRect">
            <a:avLst>
              <a:gd name="adj" fmla="val 9309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446984" y="1285875"/>
            <a:ext cx="1214438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&amp; Service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813227" y="491133"/>
            <a:ext cx="3723680" cy="1160859"/>
          </a:xfrm>
          <a:prstGeom prst="roundRect">
            <a:avLst>
              <a:gd name="adj" fmla="val 3938"/>
            </a:avLst>
          </a:prstGeom>
          <a:solidFill>
            <a:srgbClr val="DDF5E6"/>
          </a:solidFill>
          <a:ln w="9525">
            <a:solidFill>
              <a:srgbClr val="A8DDB9"/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463" y="544711"/>
            <a:ext cx="232172" cy="232172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6886932" y="535781"/>
            <a:ext cx="2165628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Growth &amp; Coaching</a:t>
            </a:r>
            <a:endParaRPr lang="en-US" sz="1150" dirty="0"/>
          </a:p>
        </p:txBody>
      </p:sp>
      <p:sp>
        <p:nvSpPr>
          <p:cNvPr id="44" name="Text 40"/>
          <p:cNvSpPr txBox="1"/>
          <p:nvPr/>
        </p:nvSpPr>
        <p:spPr>
          <a:xfrm>
            <a:off x="5813227" y="776883"/>
            <a:ext cx="3723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agent capability and improve performance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5884664" y="973336"/>
            <a:ext cx="1140023" cy="258961"/>
          </a:xfrm>
          <a:prstGeom prst="roundRect">
            <a:avLst>
              <a:gd name="adj" fmla="val 1059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884664" y="973336"/>
            <a:ext cx="1140023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Insight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7105055" y="973336"/>
            <a:ext cx="1140023" cy="258961"/>
          </a:xfrm>
          <a:prstGeom prst="roundRect">
            <a:avLst>
              <a:gd name="adj" fmla="val 1059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7105055" y="973336"/>
            <a:ext cx="1140023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Training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8325445" y="973336"/>
            <a:ext cx="1140023" cy="258961"/>
          </a:xfrm>
          <a:prstGeom prst="roundRect">
            <a:avLst>
              <a:gd name="adj" fmla="val 1059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8325445" y="973336"/>
            <a:ext cx="1140023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&amp; Practice</a:t>
            </a:r>
            <a:endParaRPr lang="en-US" sz="800" dirty="0"/>
          </a:p>
        </p:txBody>
      </p:sp>
      <p:sp>
        <p:nvSpPr>
          <p:cNvPr id="51" name="Shape 47"/>
          <p:cNvSpPr/>
          <p:nvPr/>
        </p:nvSpPr>
        <p:spPr>
          <a:xfrm>
            <a:off x="5884664" y="1285875"/>
            <a:ext cx="1140023" cy="294680"/>
          </a:xfrm>
          <a:prstGeom prst="roundRect">
            <a:avLst>
              <a:gd name="adj" fmla="val 9309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5884664" y="1285875"/>
            <a:ext cx="1140023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 Simulation</a:t>
            </a:r>
            <a:endParaRPr lang="en-US" sz="800" dirty="0"/>
          </a:p>
        </p:txBody>
      </p:sp>
      <p:sp>
        <p:nvSpPr>
          <p:cNvPr id="53" name="Shape 49"/>
          <p:cNvSpPr/>
          <p:nvPr/>
        </p:nvSpPr>
        <p:spPr>
          <a:xfrm>
            <a:off x="7105055" y="1285875"/>
            <a:ext cx="1140023" cy="294680"/>
          </a:xfrm>
          <a:prstGeom prst="roundRect">
            <a:avLst>
              <a:gd name="adj" fmla="val 9309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7105055" y="1285875"/>
            <a:ext cx="1140023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Tracking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8325445" y="1285875"/>
            <a:ext cx="1140023" cy="294680"/>
          </a:xfrm>
          <a:prstGeom prst="roundRect">
            <a:avLst>
              <a:gd name="adj" fmla="val 9309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8325445" y="1285875"/>
            <a:ext cx="1140023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Development</a:t>
            </a:r>
            <a:endParaRPr lang="en-US" sz="800" dirty="0"/>
          </a:p>
        </p:txBody>
      </p:sp>
      <p:sp>
        <p:nvSpPr>
          <p:cNvPr id="57" name="Shape 53"/>
          <p:cNvSpPr/>
          <p:nvPr/>
        </p:nvSpPr>
        <p:spPr>
          <a:xfrm>
            <a:off x="9617273" y="491133"/>
            <a:ext cx="4018359" cy="1160859"/>
          </a:xfrm>
          <a:prstGeom prst="roundRect">
            <a:avLst>
              <a:gd name="adj" fmla="val 3938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</p:sp>
      <p:pic>
        <p:nvPicPr>
          <p:cNvPr id="5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0616" y="544711"/>
            <a:ext cx="232172" cy="232172"/>
          </a:xfrm>
          <a:prstGeom prst="rect">
            <a:avLst/>
          </a:prstGeom>
        </p:spPr>
      </p:pic>
      <p:sp>
        <p:nvSpPr>
          <p:cNvPr id="59" name="Text 54"/>
          <p:cNvSpPr txBox="1"/>
          <p:nvPr/>
        </p:nvSpPr>
        <p:spPr>
          <a:xfrm>
            <a:off x="10962084" y="535781"/>
            <a:ext cx="1918097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&amp; Recruitment</a:t>
            </a:r>
            <a:endParaRPr lang="en-US" sz="1150" dirty="0"/>
          </a:p>
        </p:txBody>
      </p:sp>
      <p:sp>
        <p:nvSpPr>
          <p:cNvPr id="60" name="Text 55"/>
          <p:cNvSpPr txBox="1"/>
          <p:nvPr/>
        </p:nvSpPr>
        <p:spPr>
          <a:xfrm>
            <a:off x="9617273" y="776883"/>
            <a:ext cx="40183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leaders to manage teams and recruit new talent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9688711" y="973336"/>
            <a:ext cx="1238250" cy="258961"/>
          </a:xfrm>
          <a:prstGeom prst="roundRect">
            <a:avLst>
              <a:gd name="adj" fmla="val 1059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9688711" y="973336"/>
            <a:ext cx="123825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>
            <a:off x="11007328" y="973336"/>
            <a:ext cx="1238250" cy="258961"/>
          </a:xfrm>
          <a:prstGeom prst="roundRect">
            <a:avLst>
              <a:gd name="adj" fmla="val 1059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11007328" y="973336"/>
            <a:ext cx="123825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Coaching</a:t>
            </a:r>
            <a:endParaRPr lang="en-US" sz="800" dirty="0"/>
          </a:p>
        </p:txBody>
      </p:sp>
      <p:sp>
        <p:nvSpPr>
          <p:cNvPr id="65" name="Shape 60"/>
          <p:cNvSpPr/>
          <p:nvPr/>
        </p:nvSpPr>
        <p:spPr>
          <a:xfrm>
            <a:off x="12325945" y="973336"/>
            <a:ext cx="1238250" cy="258961"/>
          </a:xfrm>
          <a:prstGeom prst="roundRect">
            <a:avLst>
              <a:gd name="adj" fmla="val 1059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12325945" y="973336"/>
            <a:ext cx="123825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Next Best Action</a:t>
            </a:r>
            <a:endParaRPr lang="en-US" sz="800" dirty="0"/>
          </a:p>
        </p:txBody>
      </p:sp>
      <p:sp>
        <p:nvSpPr>
          <p:cNvPr id="67" name="Shape 62"/>
          <p:cNvSpPr/>
          <p:nvPr/>
        </p:nvSpPr>
        <p:spPr>
          <a:xfrm>
            <a:off x="9688711" y="1285875"/>
            <a:ext cx="1238250" cy="294680"/>
          </a:xfrm>
          <a:prstGeom prst="roundRect">
            <a:avLst>
              <a:gd name="adj" fmla="val 9309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9688711" y="1285875"/>
            <a:ext cx="1238250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Pipeline</a:t>
            </a:r>
            <a:endParaRPr lang="en-US" sz="800" dirty="0"/>
          </a:p>
        </p:txBody>
      </p:sp>
      <p:sp>
        <p:nvSpPr>
          <p:cNvPr id="69" name="Shape 64"/>
          <p:cNvSpPr/>
          <p:nvPr/>
        </p:nvSpPr>
        <p:spPr>
          <a:xfrm>
            <a:off x="11007328" y="1285875"/>
            <a:ext cx="1238250" cy="294680"/>
          </a:xfrm>
          <a:prstGeom prst="roundRect">
            <a:avLst>
              <a:gd name="adj" fmla="val 9309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11007328" y="1285875"/>
            <a:ext cx="1238250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Assessment</a:t>
            </a:r>
            <a:endParaRPr lang="en-US" sz="800" dirty="0"/>
          </a:p>
        </p:txBody>
      </p:sp>
      <p:sp>
        <p:nvSpPr>
          <p:cNvPr id="71" name="Shape 66"/>
          <p:cNvSpPr/>
          <p:nvPr/>
        </p:nvSpPr>
        <p:spPr>
          <a:xfrm>
            <a:off x="12325945" y="1285875"/>
            <a:ext cx="1238250" cy="294680"/>
          </a:xfrm>
          <a:prstGeom prst="roundRect">
            <a:avLst>
              <a:gd name="adj" fmla="val 9309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12325945" y="1285875"/>
            <a:ext cx="1238250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Support</a:t>
            </a:r>
            <a:endParaRPr lang="en-US" sz="800" dirty="0"/>
          </a:p>
        </p:txBody>
      </p:sp>
      <p:sp>
        <p:nvSpPr>
          <p:cNvPr id="73" name="Shape 68"/>
          <p:cNvSpPr/>
          <p:nvPr/>
        </p:nvSpPr>
        <p:spPr>
          <a:xfrm>
            <a:off x="3732609" y="1669852"/>
            <a:ext cx="0" cy="19645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triangle"/>
            <a:tailEnd type="triangle"/>
          </a:ln>
        </p:spPr>
      </p:sp>
      <p:sp>
        <p:nvSpPr>
          <p:cNvPr id="74" name="Shape 69"/>
          <p:cNvSpPr/>
          <p:nvPr/>
        </p:nvSpPr>
        <p:spPr>
          <a:xfrm>
            <a:off x="7643813" y="1669852"/>
            <a:ext cx="0" cy="19645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triangle"/>
            <a:tailEnd type="triangle"/>
          </a:ln>
        </p:spPr>
      </p:sp>
      <p:sp>
        <p:nvSpPr>
          <p:cNvPr id="75" name="Shape 70"/>
          <p:cNvSpPr/>
          <p:nvPr/>
        </p:nvSpPr>
        <p:spPr>
          <a:xfrm>
            <a:off x="11644313" y="1669852"/>
            <a:ext cx="0" cy="19645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triangle"/>
            <a:tailEnd type="triangle"/>
          </a:ln>
        </p:spPr>
      </p:sp>
      <p:sp>
        <p:nvSpPr>
          <p:cNvPr id="76" name="Shape 71"/>
          <p:cNvSpPr/>
          <p:nvPr/>
        </p:nvSpPr>
        <p:spPr>
          <a:xfrm>
            <a:off x="1785938" y="1884164"/>
            <a:ext cx="11849695" cy="500063"/>
          </a:xfrm>
          <a:prstGeom prst="roundRect">
            <a:avLst>
              <a:gd name="adj" fmla="val 9143"/>
            </a:avLst>
          </a:prstGeom>
          <a:solidFill>
            <a:srgbClr val="E2DCF8"/>
          </a:solidFill>
          <a:ln w="9525">
            <a:solidFill>
              <a:srgbClr val="C3B6EE"/>
            </a:solidFill>
            <a:prstDash val="solid"/>
          </a:ln>
        </p:spPr>
      </p:sp>
      <p:pic>
        <p:nvPicPr>
          <p:cNvPr id="7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673" y="1919883"/>
            <a:ext cx="250031" cy="250031"/>
          </a:xfrm>
          <a:prstGeom prst="rect">
            <a:avLst/>
          </a:prstGeom>
        </p:spPr>
      </p:pic>
      <p:sp>
        <p:nvSpPr>
          <p:cNvPr id="78" name="Text 72"/>
          <p:cNvSpPr txBox="1"/>
          <p:nvPr/>
        </p:nvSpPr>
        <p:spPr>
          <a:xfrm>
            <a:off x="6299002" y="1919883"/>
            <a:ext cx="324326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Agent (Workbench Orchestrator)</a:t>
            </a:r>
            <a:endParaRPr lang="en-US" sz="1200" dirty="0"/>
          </a:p>
        </p:txBody>
      </p:sp>
      <p:sp>
        <p:nvSpPr>
          <p:cNvPr id="79" name="Text 73"/>
          <p:cNvSpPr txBox="1"/>
          <p:nvPr/>
        </p:nvSpPr>
        <p:spPr>
          <a:xfrm>
            <a:off x="1785938" y="2169914"/>
            <a:ext cx="11849695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intent   •   Plan &amp; orchestrate   •   Select agents/skills   •   Manage context   •   Human-in-the-loop   •   Dynamic workspace</a:t>
            </a:r>
            <a:endParaRPr lang="en-US" sz="850" dirty="0"/>
          </a:p>
        </p:txBody>
      </p:sp>
      <p:sp>
        <p:nvSpPr>
          <p:cNvPr id="80" name="Shape 74"/>
          <p:cNvSpPr/>
          <p:nvPr/>
        </p:nvSpPr>
        <p:spPr>
          <a:xfrm>
            <a:off x="2942332" y="2393156"/>
            <a:ext cx="0" cy="116086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triangle"/>
            <a:tailEnd type="triangle"/>
          </a:ln>
        </p:spPr>
      </p:sp>
      <p:sp>
        <p:nvSpPr>
          <p:cNvPr id="81" name="Shape 75"/>
          <p:cNvSpPr/>
          <p:nvPr/>
        </p:nvSpPr>
        <p:spPr>
          <a:xfrm>
            <a:off x="5290840" y="2393156"/>
            <a:ext cx="0" cy="116086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triangle"/>
            <a:tailEnd type="triangle"/>
          </a:ln>
        </p:spPr>
      </p:sp>
      <p:sp>
        <p:nvSpPr>
          <p:cNvPr id="82" name="Shape 76"/>
          <p:cNvSpPr/>
          <p:nvPr/>
        </p:nvSpPr>
        <p:spPr>
          <a:xfrm>
            <a:off x="7572375" y="2393156"/>
            <a:ext cx="0" cy="116086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triangle"/>
            <a:tailEnd type="triangle"/>
          </a:ln>
        </p:spPr>
      </p:sp>
      <p:sp>
        <p:nvSpPr>
          <p:cNvPr id="83" name="Shape 77"/>
          <p:cNvSpPr/>
          <p:nvPr/>
        </p:nvSpPr>
        <p:spPr>
          <a:xfrm>
            <a:off x="9947672" y="2393156"/>
            <a:ext cx="0" cy="116086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triangle"/>
            <a:tailEnd type="triangle"/>
          </a:ln>
        </p:spPr>
      </p:sp>
      <p:sp>
        <p:nvSpPr>
          <p:cNvPr id="84" name="Shape 78"/>
          <p:cNvSpPr/>
          <p:nvPr/>
        </p:nvSpPr>
        <p:spPr>
          <a:xfrm>
            <a:off x="12439055" y="2393156"/>
            <a:ext cx="0" cy="116086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triangle"/>
            <a:tailEnd type="triangle"/>
          </a:ln>
        </p:spPr>
      </p:sp>
      <p:sp>
        <p:nvSpPr>
          <p:cNvPr id="85" name="Shape 79"/>
          <p:cNvSpPr/>
          <p:nvPr/>
        </p:nvSpPr>
        <p:spPr>
          <a:xfrm>
            <a:off x="1794867" y="2509242"/>
            <a:ext cx="2294930" cy="741164"/>
          </a:xfrm>
          <a:prstGeom prst="roundRect">
            <a:avLst>
              <a:gd name="adj" fmla="val 6169"/>
            </a:avLst>
          </a:prstGeom>
          <a:solidFill>
            <a:srgbClr val="DCEBFB"/>
          </a:solidFill>
          <a:ln w="9525">
            <a:solidFill>
              <a:srgbClr val="A9CBEF"/>
            </a:solidFill>
            <a:prstDash val="solid"/>
          </a:ln>
        </p:spPr>
      </p:sp>
      <p:pic>
        <p:nvPicPr>
          <p:cNvPr id="8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1504" y="2598539"/>
            <a:ext cx="232172" cy="232172"/>
          </a:xfrm>
          <a:prstGeom prst="rect">
            <a:avLst/>
          </a:prstGeom>
        </p:spPr>
      </p:pic>
      <p:sp>
        <p:nvSpPr>
          <p:cNvPr id="87" name="Text 80"/>
          <p:cNvSpPr txBox="1"/>
          <p:nvPr/>
        </p:nvSpPr>
        <p:spPr>
          <a:xfrm>
            <a:off x="2352973" y="2589609"/>
            <a:ext cx="1768078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Advisory Agent</a:t>
            </a:r>
            <a:endParaRPr lang="en-US" sz="1050" dirty="0"/>
          </a:p>
        </p:txBody>
      </p:sp>
      <p:sp>
        <p:nvSpPr>
          <p:cNvPr id="88" name="Text 81"/>
          <p:cNvSpPr txBox="1"/>
          <p:nvPr/>
        </p:nvSpPr>
        <p:spPr>
          <a:xfrm>
            <a:off x="1848445" y="2857500"/>
            <a:ext cx="218777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advisory, needs analysis,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and proposal</a:t>
            </a:r>
            <a:endParaRPr lang="en-US" sz="900" dirty="0"/>
          </a:p>
        </p:txBody>
      </p:sp>
      <p:sp>
        <p:nvSpPr>
          <p:cNvPr id="89" name="Shape 82"/>
          <p:cNvSpPr/>
          <p:nvPr/>
        </p:nvSpPr>
        <p:spPr>
          <a:xfrm>
            <a:off x="4170164" y="2509242"/>
            <a:ext cx="2241352" cy="741164"/>
          </a:xfrm>
          <a:prstGeom prst="roundRect">
            <a:avLst>
              <a:gd name="adj" fmla="val 6169"/>
            </a:avLst>
          </a:prstGeom>
          <a:solidFill>
            <a:srgbClr val="DDF5E6"/>
          </a:solidFill>
          <a:ln w="9525">
            <a:solidFill>
              <a:srgbClr val="A8DDB9"/>
            </a:solidFill>
            <a:prstDash val="solid"/>
          </a:ln>
        </p:spPr>
      </p:sp>
      <p:pic>
        <p:nvPicPr>
          <p:cNvPr id="9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5040" y="2598539"/>
            <a:ext cx="232172" cy="232172"/>
          </a:xfrm>
          <a:prstGeom prst="rect">
            <a:avLst/>
          </a:prstGeom>
        </p:spPr>
      </p:pic>
      <p:sp>
        <p:nvSpPr>
          <p:cNvPr id="91" name="Text 83"/>
          <p:cNvSpPr txBox="1"/>
          <p:nvPr/>
        </p:nvSpPr>
        <p:spPr>
          <a:xfrm>
            <a:off x="4926509" y="2589609"/>
            <a:ext cx="131802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Agent</a:t>
            </a:r>
            <a:endParaRPr lang="en-US" sz="1050" dirty="0"/>
          </a:p>
        </p:txBody>
      </p:sp>
      <p:sp>
        <p:nvSpPr>
          <p:cNvPr id="92" name="Text 84"/>
          <p:cNvSpPr txBox="1"/>
          <p:nvPr/>
        </p:nvSpPr>
        <p:spPr>
          <a:xfrm>
            <a:off x="4223742" y="2857500"/>
            <a:ext cx="213419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diagnosis,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and growth plan</a:t>
            </a:r>
            <a:endParaRPr lang="en-US" sz="900" dirty="0"/>
          </a:p>
        </p:txBody>
      </p:sp>
      <p:sp>
        <p:nvSpPr>
          <p:cNvPr id="93" name="Shape 85"/>
          <p:cNvSpPr/>
          <p:nvPr/>
        </p:nvSpPr>
        <p:spPr>
          <a:xfrm>
            <a:off x="6491883" y="2509242"/>
            <a:ext cx="2160984" cy="741164"/>
          </a:xfrm>
          <a:prstGeom prst="roundRect">
            <a:avLst>
              <a:gd name="adj" fmla="val 6169"/>
            </a:avLst>
          </a:prstGeom>
          <a:solidFill>
            <a:srgbClr val="DDF5E6"/>
          </a:solidFill>
          <a:ln w="9525">
            <a:solidFill>
              <a:srgbClr val="A8DDB9"/>
            </a:solidFill>
            <a:prstDash val="solid"/>
          </a:ln>
        </p:spPr>
      </p:sp>
      <p:pic>
        <p:nvPicPr>
          <p:cNvPr id="9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9070" y="2598539"/>
            <a:ext cx="232172" cy="232172"/>
          </a:xfrm>
          <a:prstGeom prst="rect">
            <a:avLst/>
          </a:prstGeom>
        </p:spPr>
      </p:pic>
      <p:sp>
        <p:nvSpPr>
          <p:cNvPr id="95" name="Text 86"/>
          <p:cNvSpPr txBox="1"/>
          <p:nvPr/>
        </p:nvSpPr>
        <p:spPr>
          <a:xfrm>
            <a:off x="7170539" y="2589609"/>
            <a:ext cx="1393031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 Agent</a:t>
            </a:r>
            <a:endParaRPr lang="en-US" sz="1050" dirty="0"/>
          </a:p>
        </p:txBody>
      </p:sp>
      <p:sp>
        <p:nvSpPr>
          <p:cNvPr id="96" name="Text 87"/>
          <p:cNvSpPr txBox="1"/>
          <p:nvPr/>
        </p:nvSpPr>
        <p:spPr>
          <a:xfrm>
            <a:off x="6545461" y="2857500"/>
            <a:ext cx="205382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simulation, evaluation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practice</a:t>
            </a:r>
            <a:endParaRPr lang="en-US" sz="900" dirty="0"/>
          </a:p>
        </p:txBody>
      </p:sp>
      <p:sp>
        <p:nvSpPr>
          <p:cNvPr id="97" name="Shape 88"/>
          <p:cNvSpPr/>
          <p:nvPr/>
        </p:nvSpPr>
        <p:spPr>
          <a:xfrm>
            <a:off x="8733234" y="2509242"/>
            <a:ext cx="2428875" cy="741164"/>
          </a:xfrm>
          <a:prstGeom prst="roundRect">
            <a:avLst>
              <a:gd name="adj" fmla="val 6169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</p:sp>
      <p:pic>
        <p:nvPicPr>
          <p:cNvPr id="9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9339" y="2598539"/>
            <a:ext cx="232172" cy="232172"/>
          </a:xfrm>
          <a:prstGeom prst="rect">
            <a:avLst/>
          </a:prstGeom>
        </p:spPr>
      </p:pic>
      <p:sp>
        <p:nvSpPr>
          <p:cNvPr id="99" name="Text 89"/>
          <p:cNvSpPr txBox="1"/>
          <p:nvPr/>
        </p:nvSpPr>
        <p:spPr>
          <a:xfrm>
            <a:off x="9320808" y="2589609"/>
            <a:ext cx="1843088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Coaching Agent</a:t>
            </a:r>
            <a:endParaRPr lang="en-US" sz="1050" dirty="0"/>
          </a:p>
        </p:txBody>
      </p:sp>
      <p:sp>
        <p:nvSpPr>
          <p:cNvPr id="100" name="Text 90"/>
          <p:cNvSpPr txBox="1"/>
          <p:nvPr/>
        </p:nvSpPr>
        <p:spPr>
          <a:xfrm>
            <a:off x="8786813" y="2857500"/>
            <a:ext cx="232171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performance, agent coaching,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next best action</a:t>
            </a:r>
            <a:endParaRPr lang="en-US" sz="900" dirty="0"/>
          </a:p>
        </p:txBody>
      </p:sp>
      <p:sp>
        <p:nvSpPr>
          <p:cNvPr id="101" name="Shape 91"/>
          <p:cNvSpPr/>
          <p:nvPr/>
        </p:nvSpPr>
        <p:spPr>
          <a:xfrm>
            <a:off x="11242477" y="2509242"/>
            <a:ext cx="2393156" cy="741164"/>
          </a:xfrm>
          <a:prstGeom prst="roundRect">
            <a:avLst>
              <a:gd name="adj" fmla="val 6169"/>
            </a:avLst>
          </a:prstGeom>
          <a:solidFill>
            <a:srgbClr val="FCE1E8"/>
          </a:solidFill>
          <a:ln w="9525">
            <a:solidFill>
              <a:srgbClr val="F2B3C3"/>
            </a:solidFill>
            <a:prstDash val="solid"/>
          </a:ln>
        </p:spPr>
      </p:sp>
      <p:pic>
        <p:nvPicPr>
          <p:cNvPr id="10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40741" y="2598539"/>
            <a:ext cx="232172" cy="232172"/>
          </a:xfrm>
          <a:prstGeom prst="rect">
            <a:avLst/>
          </a:prstGeom>
        </p:spPr>
      </p:pic>
      <p:sp>
        <p:nvSpPr>
          <p:cNvPr id="103" name="Text 92"/>
          <p:cNvSpPr txBox="1"/>
          <p:nvPr/>
        </p:nvSpPr>
        <p:spPr>
          <a:xfrm>
            <a:off x="11962209" y="2589609"/>
            <a:ext cx="1543050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</a:t>
            </a:r>
            <a:endParaRPr lang="en-US" sz="1050" dirty="0"/>
          </a:p>
        </p:txBody>
      </p:sp>
      <p:sp>
        <p:nvSpPr>
          <p:cNvPr id="104" name="Text 93"/>
          <p:cNvSpPr txBox="1"/>
          <p:nvPr/>
        </p:nvSpPr>
        <p:spPr>
          <a:xfrm>
            <a:off x="11296055" y="2857500"/>
            <a:ext cx="22860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assessment,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and onboarding</a:t>
            </a:r>
            <a:endParaRPr lang="en-US" sz="900" dirty="0"/>
          </a:p>
        </p:txBody>
      </p:sp>
      <p:sp>
        <p:nvSpPr>
          <p:cNvPr id="105" name="Shape 94"/>
          <p:cNvSpPr/>
          <p:nvPr/>
        </p:nvSpPr>
        <p:spPr>
          <a:xfrm>
            <a:off x="2942332" y="3259336"/>
            <a:ext cx="0" cy="178594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106" name="Shape 95"/>
          <p:cNvSpPr/>
          <p:nvPr/>
        </p:nvSpPr>
        <p:spPr>
          <a:xfrm>
            <a:off x="5290840" y="3259336"/>
            <a:ext cx="0" cy="178594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107" name="Shape 96"/>
          <p:cNvSpPr/>
          <p:nvPr/>
        </p:nvSpPr>
        <p:spPr>
          <a:xfrm>
            <a:off x="7572375" y="3259336"/>
            <a:ext cx="0" cy="178594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108" name="Shape 97"/>
          <p:cNvSpPr/>
          <p:nvPr/>
        </p:nvSpPr>
        <p:spPr>
          <a:xfrm>
            <a:off x="9947672" y="3259336"/>
            <a:ext cx="0" cy="178594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109" name="Shape 98"/>
          <p:cNvSpPr/>
          <p:nvPr/>
        </p:nvSpPr>
        <p:spPr>
          <a:xfrm>
            <a:off x="12439055" y="3259336"/>
            <a:ext cx="0" cy="178594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110" name="Shape 99"/>
          <p:cNvSpPr/>
          <p:nvPr/>
        </p:nvSpPr>
        <p:spPr>
          <a:xfrm>
            <a:off x="1794867" y="3446859"/>
            <a:ext cx="2294930" cy="1589484"/>
          </a:xfrm>
          <a:prstGeom prst="roundRect">
            <a:avLst>
              <a:gd name="adj" fmla="val 2301"/>
            </a:avLst>
          </a:prstGeom>
          <a:solidFill>
            <a:srgbClr val="DCEBFB"/>
          </a:solidFill>
          <a:ln w="9525">
            <a:solidFill>
              <a:srgbClr val="A9CBEF"/>
            </a:solidFill>
            <a:prstDash val="solid"/>
          </a:ln>
        </p:spPr>
      </p:sp>
      <p:sp>
        <p:nvSpPr>
          <p:cNvPr id="111" name="Text 100"/>
          <p:cNvSpPr txBox="1"/>
          <p:nvPr/>
        </p:nvSpPr>
        <p:spPr>
          <a:xfrm>
            <a:off x="1794867" y="3473648"/>
            <a:ext cx="2294930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Advisory Skills (15–20)</a:t>
            </a:r>
            <a:endParaRPr lang="en-US" sz="1000" dirty="0"/>
          </a:p>
        </p:txBody>
      </p:sp>
      <p:sp>
        <p:nvSpPr>
          <p:cNvPr id="112" name="Shape 101"/>
          <p:cNvSpPr/>
          <p:nvPr/>
        </p:nvSpPr>
        <p:spPr>
          <a:xfrm>
            <a:off x="1857375" y="3723680"/>
            <a:ext cx="1049238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13" name="Text 102"/>
          <p:cNvSpPr txBox="1"/>
          <p:nvPr/>
        </p:nvSpPr>
        <p:spPr>
          <a:xfrm>
            <a:off x="1928813" y="3723680"/>
            <a:ext cx="9420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customer-brief</a:t>
            </a:r>
            <a:endParaRPr lang="en-US" sz="650" dirty="0"/>
          </a:p>
        </p:txBody>
      </p:sp>
      <p:sp>
        <p:nvSpPr>
          <p:cNvPr id="114" name="Shape 103"/>
          <p:cNvSpPr/>
          <p:nvPr/>
        </p:nvSpPr>
        <p:spPr>
          <a:xfrm>
            <a:off x="1857375" y="3973711"/>
            <a:ext cx="1049238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15" name="Text 104"/>
          <p:cNvSpPr txBox="1"/>
          <p:nvPr/>
        </p:nvSpPr>
        <p:spPr>
          <a:xfrm>
            <a:off x="1928813" y="3973711"/>
            <a:ext cx="9420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needs-analysis</a:t>
            </a:r>
            <a:endParaRPr lang="en-US" sz="650" dirty="0"/>
          </a:p>
        </p:txBody>
      </p:sp>
      <p:sp>
        <p:nvSpPr>
          <p:cNvPr id="116" name="Shape 105"/>
          <p:cNvSpPr/>
          <p:nvPr/>
        </p:nvSpPr>
        <p:spPr>
          <a:xfrm>
            <a:off x="1857375" y="4223742"/>
            <a:ext cx="1049238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17" name="Text 106"/>
          <p:cNvSpPr txBox="1"/>
          <p:nvPr/>
        </p:nvSpPr>
        <p:spPr>
          <a:xfrm>
            <a:off x="1928813" y="4223742"/>
            <a:ext cx="9420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coverage-gap-analysis</a:t>
            </a:r>
            <a:endParaRPr lang="en-US" sz="650" dirty="0"/>
          </a:p>
        </p:txBody>
      </p:sp>
      <p:sp>
        <p:nvSpPr>
          <p:cNvPr id="118" name="Shape 107"/>
          <p:cNvSpPr/>
          <p:nvPr/>
        </p:nvSpPr>
        <p:spPr>
          <a:xfrm>
            <a:off x="1857375" y="4491633"/>
            <a:ext cx="1049238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19" name="Text 108"/>
          <p:cNvSpPr txBox="1"/>
          <p:nvPr/>
        </p:nvSpPr>
        <p:spPr>
          <a:xfrm>
            <a:off x="1928813" y="4491633"/>
            <a:ext cx="9420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product-recommendation</a:t>
            </a:r>
            <a:endParaRPr lang="en-US" sz="650" dirty="0"/>
          </a:p>
        </p:txBody>
      </p:sp>
      <p:sp>
        <p:nvSpPr>
          <p:cNvPr id="120" name="Shape 109"/>
          <p:cNvSpPr/>
          <p:nvPr/>
        </p:nvSpPr>
        <p:spPr>
          <a:xfrm>
            <a:off x="1857375" y="4750594"/>
            <a:ext cx="1049238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21" name="Text 110"/>
          <p:cNvSpPr txBox="1"/>
          <p:nvPr/>
        </p:nvSpPr>
        <p:spPr>
          <a:xfrm>
            <a:off x="1928813" y="4750594"/>
            <a:ext cx="9420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meeting-preparation</a:t>
            </a:r>
            <a:endParaRPr lang="en-US" sz="650" dirty="0"/>
          </a:p>
        </p:txBody>
      </p:sp>
      <p:sp>
        <p:nvSpPr>
          <p:cNvPr id="122" name="Shape 111"/>
          <p:cNvSpPr/>
          <p:nvPr/>
        </p:nvSpPr>
        <p:spPr>
          <a:xfrm>
            <a:off x="2978051" y="3723680"/>
            <a:ext cx="1049238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23" name="Text 112"/>
          <p:cNvSpPr txBox="1"/>
          <p:nvPr/>
        </p:nvSpPr>
        <p:spPr>
          <a:xfrm>
            <a:off x="3049488" y="3723680"/>
            <a:ext cx="9420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proposal-preparation</a:t>
            </a:r>
            <a:endParaRPr lang="en-US" sz="650" dirty="0"/>
          </a:p>
        </p:txBody>
      </p:sp>
      <p:sp>
        <p:nvSpPr>
          <p:cNvPr id="124" name="Shape 113"/>
          <p:cNvSpPr/>
          <p:nvPr/>
        </p:nvSpPr>
        <p:spPr>
          <a:xfrm>
            <a:off x="2978051" y="3973711"/>
            <a:ext cx="1049238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25" name="Text 114"/>
          <p:cNvSpPr txBox="1"/>
          <p:nvPr/>
        </p:nvSpPr>
        <p:spPr>
          <a:xfrm>
            <a:off x="3049488" y="3973711"/>
            <a:ext cx="9420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objection-preparation</a:t>
            </a:r>
            <a:endParaRPr lang="en-US" sz="650" dirty="0"/>
          </a:p>
        </p:txBody>
      </p:sp>
      <p:sp>
        <p:nvSpPr>
          <p:cNvPr id="126" name="Shape 115"/>
          <p:cNvSpPr/>
          <p:nvPr/>
        </p:nvSpPr>
        <p:spPr>
          <a:xfrm>
            <a:off x="2978051" y="4223742"/>
            <a:ext cx="1049238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27" name="Text 116"/>
          <p:cNvSpPr txBox="1"/>
          <p:nvPr/>
        </p:nvSpPr>
        <p:spPr>
          <a:xfrm>
            <a:off x="3049488" y="4223742"/>
            <a:ext cx="9420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engagement-plan</a:t>
            </a:r>
            <a:endParaRPr lang="en-US" sz="650" dirty="0"/>
          </a:p>
        </p:txBody>
      </p:sp>
      <p:sp>
        <p:nvSpPr>
          <p:cNvPr id="128" name="Shape 117"/>
          <p:cNvSpPr/>
          <p:nvPr/>
        </p:nvSpPr>
        <p:spPr>
          <a:xfrm>
            <a:off x="2978051" y="4491633"/>
            <a:ext cx="1049238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29" name="Text 118"/>
          <p:cNvSpPr txBox="1"/>
          <p:nvPr/>
        </p:nvSpPr>
        <p:spPr>
          <a:xfrm>
            <a:off x="3049488" y="4491633"/>
            <a:ext cx="9420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application-followup</a:t>
            </a:r>
            <a:endParaRPr lang="en-US" sz="650" dirty="0"/>
          </a:p>
        </p:txBody>
      </p:sp>
      <p:sp>
        <p:nvSpPr>
          <p:cNvPr id="130" name="Shape 119"/>
          <p:cNvSpPr/>
          <p:nvPr/>
        </p:nvSpPr>
        <p:spPr>
          <a:xfrm>
            <a:off x="2978051" y="4750594"/>
            <a:ext cx="1049238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31" name="Text 120"/>
          <p:cNvSpPr txBox="1"/>
          <p:nvPr/>
        </p:nvSpPr>
        <p:spPr>
          <a:xfrm>
            <a:off x="3049488" y="4750594"/>
            <a:ext cx="9420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claim-status</a:t>
            </a:r>
            <a:endParaRPr lang="en-US" sz="650" dirty="0"/>
          </a:p>
        </p:txBody>
      </p:sp>
      <p:sp>
        <p:nvSpPr>
          <p:cNvPr id="132" name="Shape 121"/>
          <p:cNvSpPr/>
          <p:nvPr/>
        </p:nvSpPr>
        <p:spPr>
          <a:xfrm>
            <a:off x="4170164" y="3446859"/>
            <a:ext cx="2241352" cy="1589484"/>
          </a:xfrm>
          <a:prstGeom prst="roundRect">
            <a:avLst>
              <a:gd name="adj" fmla="val 2301"/>
            </a:avLst>
          </a:prstGeom>
          <a:solidFill>
            <a:srgbClr val="DDF5E6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133" name="Text 122"/>
          <p:cNvSpPr txBox="1"/>
          <p:nvPr/>
        </p:nvSpPr>
        <p:spPr>
          <a:xfrm>
            <a:off x="4170164" y="3473648"/>
            <a:ext cx="2241352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Skills (10–12)</a:t>
            </a:r>
            <a:endParaRPr lang="en-US" sz="1000" dirty="0"/>
          </a:p>
        </p:txBody>
      </p:sp>
      <p:sp>
        <p:nvSpPr>
          <p:cNvPr id="134" name="Shape 123"/>
          <p:cNvSpPr/>
          <p:nvPr/>
        </p:nvSpPr>
        <p:spPr>
          <a:xfrm>
            <a:off x="4232672" y="3723680"/>
            <a:ext cx="1022449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35" name="Text 124"/>
          <p:cNvSpPr txBox="1"/>
          <p:nvPr/>
        </p:nvSpPr>
        <p:spPr>
          <a:xfrm>
            <a:off x="4304109" y="3723680"/>
            <a:ext cx="9152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performance-summary</a:t>
            </a:r>
            <a:endParaRPr lang="en-US" sz="600" dirty="0"/>
          </a:p>
        </p:txBody>
      </p:sp>
      <p:sp>
        <p:nvSpPr>
          <p:cNvPr id="136" name="Shape 125"/>
          <p:cNvSpPr/>
          <p:nvPr/>
        </p:nvSpPr>
        <p:spPr>
          <a:xfrm>
            <a:off x="4232672" y="3973711"/>
            <a:ext cx="1022449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37" name="Text 126"/>
          <p:cNvSpPr txBox="1"/>
          <p:nvPr/>
        </p:nvSpPr>
        <p:spPr>
          <a:xfrm>
            <a:off x="4304109" y="3973711"/>
            <a:ext cx="9152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performance-diagnosis</a:t>
            </a:r>
            <a:endParaRPr lang="en-US" sz="600" dirty="0"/>
          </a:p>
        </p:txBody>
      </p:sp>
      <p:sp>
        <p:nvSpPr>
          <p:cNvPr id="138" name="Shape 127"/>
          <p:cNvSpPr/>
          <p:nvPr/>
        </p:nvSpPr>
        <p:spPr>
          <a:xfrm>
            <a:off x="4232672" y="4223742"/>
            <a:ext cx="1022449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39" name="Text 128"/>
          <p:cNvSpPr txBox="1"/>
          <p:nvPr/>
        </p:nvSpPr>
        <p:spPr>
          <a:xfrm>
            <a:off x="4304109" y="4223742"/>
            <a:ext cx="9152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goal-progress-analysis</a:t>
            </a:r>
            <a:endParaRPr lang="en-US" sz="600" dirty="0"/>
          </a:p>
        </p:txBody>
      </p:sp>
      <p:sp>
        <p:nvSpPr>
          <p:cNvPr id="140" name="Shape 129"/>
          <p:cNvSpPr/>
          <p:nvPr/>
        </p:nvSpPr>
        <p:spPr>
          <a:xfrm>
            <a:off x="4232672" y="4491633"/>
            <a:ext cx="1022449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41" name="Text 130"/>
          <p:cNvSpPr txBox="1"/>
          <p:nvPr/>
        </p:nvSpPr>
        <p:spPr>
          <a:xfrm>
            <a:off x="4304109" y="4491633"/>
            <a:ext cx="9152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learning-recommendation</a:t>
            </a:r>
            <a:endParaRPr lang="en-US" sz="600" dirty="0"/>
          </a:p>
        </p:txBody>
      </p:sp>
      <p:sp>
        <p:nvSpPr>
          <p:cNvPr id="142" name="Shape 131"/>
          <p:cNvSpPr/>
          <p:nvPr/>
        </p:nvSpPr>
        <p:spPr>
          <a:xfrm>
            <a:off x="4232672" y="4750594"/>
            <a:ext cx="1022449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43" name="Text 132"/>
          <p:cNvSpPr txBox="1"/>
          <p:nvPr/>
        </p:nvSpPr>
        <p:spPr>
          <a:xfrm>
            <a:off x="4304109" y="4750594"/>
            <a:ext cx="9152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practice-recommendation</a:t>
            </a:r>
            <a:endParaRPr lang="en-US" sz="600" dirty="0"/>
          </a:p>
        </p:txBody>
      </p:sp>
      <p:sp>
        <p:nvSpPr>
          <p:cNvPr id="144" name="Shape 133"/>
          <p:cNvSpPr/>
          <p:nvPr/>
        </p:nvSpPr>
        <p:spPr>
          <a:xfrm>
            <a:off x="5326559" y="3723680"/>
            <a:ext cx="1022449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45" name="Text 134"/>
          <p:cNvSpPr txBox="1"/>
          <p:nvPr/>
        </p:nvSpPr>
        <p:spPr>
          <a:xfrm>
            <a:off x="5397996" y="3723680"/>
            <a:ext cx="9152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improvement-plan</a:t>
            </a:r>
            <a:endParaRPr lang="en-US" sz="600" dirty="0"/>
          </a:p>
        </p:txBody>
      </p:sp>
      <p:sp>
        <p:nvSpPr>
          <p:cNvPr id="146" name="Shape 135"/>
          <p:cNvSpPr/>
          <p:nvPr/>
        </p:nvSpPr>
        <p:spPr>
          <a:xfrm>
            <a:off x="5326559" y="3973711"/>
            <a:ext cx="1022449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47" name="Text 136"/>
          <p:cNvSpPr txBox="1"/>
          <p:nvPr/>
        </p:nvSpPr>
        <p:spPr>
          <a:xfrm>
            <a:off x="5397996" y="3973711"/>
            <a:ext cx="9152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progress-tracking</a:t>
            </a:r>
            <a:endParaRPr lang="en-US" sz="600" dirty="0"/>
          </a:p>
        </p:txBody>
      </p:sp>
      <p:sp>
        <p:nvSpPr>
          <p:cNvPr id="148" name="Shape 137"/>
          <p:cNvSpPr/>
          <p:nvPr/>
        </p:nvSpPr>
        <p:spPr>
          <a:xfrm>
            <a:off x="5326559" y="4223742"/>
            <a:ext cx="1022449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49" name="Text 138"/>
          <p:cNvSpPr txBox="1"/>
          <p:nvPr/>
        </p:nvSpPr>
        <p:spPr>
          <a:xfrm>
            <a:off x="5397996" y="4223742"/>
            <a:ext cx="9152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content-personalization</a:t>
            </a:r>
            <a:endParaRPr lang="en-US" sz="600" dirty="0"/>
          </a:p>
        </p:txBody>
      </p:sp>
      <p:sp>
        <p:nvSpPr>
          <p:cNvPr id="150" name="Shape 139"/>
          <p:cNvSpPr/>
          <p:nvPr/>
        </p:nvSpPr>
        <p:spPr>
          <a:xfrm>
            <a:off x="5326559" y="4491633"/>
            <a:ext cx="1022449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51" name="Text 140"/>
          <p:cNvSpPr txBox="1"/>
          <p:nvPr/>
        </p:nvSpPr>
        <p:spPr>
          <a:xfrm>
            <a:off x="5397996" y="4491633"/>
            <a:ext cx="9152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coaching-session-prep</a:t>
            </a:r>
            <a:endParaRPr lang="en-US" sz="600" dirty="0"/>
          </a:p>
        </p:txBody>
      </p:sp>
      <p:sp>
        <p:nvSpPr>
          <p:cNvPr id="152" name="Shape 141"/>
          <p:cNvSpPr/>
          <p:nvPr/>
        </p:nvSpPr>
        <p:spPr>
          <a:xfrm>
            <a:off x="5326559" y="4750594"/>
            <a:ext cx="1022449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53" name="Text 142"/>
          <p:cNvSpPr txBox="1"/>
          <p:nvPr/>
        </p:nvSpPr>
        <p:spPr>
          <a:xfrm>
            <a:off x="5397996" y="4750594"/>
            <a:ext cx="9152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600" dirty="0"/>
          </a:p>
        </p:txBody>
      </p:sp>
      <p:sp>
        <p:nvSpPr>
          <p:cNvPr id="154" name="Shape 143"/>
          <p:cNvSpPr/>
          <p:nvPr/>
        </p:nvSpPr>
        <p:spPr>
          <a:xfrm>
            <a:off x="6491883" y="3446859"/>
            <a:ext cx="2160984" cy="1589484"/>
          </a:xfrm>
          <a:prstGeom prst="roundRect">
            <a:avLst>
              <a:gd name="adj" fmla="val 2301"/>
            </a:avLst>
          </a:prstGeom>
          <a:solidFill>
            <a:srgbClr val="DDF5E6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155" name="Text 144"/>
          <p:cNvSpPr txBox="1"/>
          <p:nvPr/>
        </p:nvSpPr>
        <p:spPr>
          <a:xfrm>
            <a:off x="6491883" y="3473648"/>
            <a:ext cx="2160984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 Skills (7–8)</a:t>
            </a:r>
            <a:endParaRPr lang="en-US" sz="1000" dirty="0"/>
          </a:p>
        </p:txBody>
      </p:sp>
      <p:sp>
        <p:nvSpPr>
          <p:cNvPr id="156" name="Shape 145"/>
          <p:cNvSpPr/>
          <p:nvPr/>
        </p:nvSpPr>
        <p:spPr>
          <a:xfrm>
            <a:off x="6554391" y="3723680"/>
            <a:ext cx="982266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57" name="Text 146"/>
          <p:cNvSpPr txBox="1"/>
          <p:nvPr/>
        </p:nvSpPr>
        <p:spPr>
          <a:xfrm>
            <a:off x="6625828" y="3723680"/>
            <a:ext cx="8751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scenario-generation</a:t>
            </a:r>
            <a:endParaRPr lang="en-US" sz="700" dirty="0"/>
          </a:p>
        </p:txBody>
      </p:sp>
      <p:sp>
        <p:nvSpPr>
          <p:cNvPr id="158" name="Shape 147"/>
          <p:cNvSpPr/>
          <p:nvPr/>
        </p:nvSpPr>
        <p:spPr>
          <a:xfrm>
            <a:off x="6554391" y="3973711"/>
            <a:ext cx="982266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59" name="Text 148"/>
          <p:cNvSpPr txBox="1"/>
          <p:nvPr/>
        </p:nvSpPr>
        <p:spPr>
          <a:xfrm>
            <a:off x="6625828" y="3973711"/>
            <a:ext cx="8751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customer-persona</a:t>
            </a:r>
            <a:endParaRPr lang="en-US" sz="700" dirty="0"/>
          </a:p>
        </p:txBody>
      </p:sp>
      <p:sp>
        <p:nvSpPr>
          <p:cNvPr id="160" name="Shape 149"/>
          <p:cNvSpPr/>
          <p:nvPr/>
        </p:nvSpPr>
        <p:spPr>
          <a:xfrm>
            <a:off x="6554391" y="4223742"/>
            <a:ext cx="982266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61" name="Text 150"/>
          <p:cNvSpPr txBox="1"/>
          <p:nvPr/>
        </p:nvSpPr>
        <p:spPr>
          <a:xfrm>
            <a:off x="6625828" y="4223742"/>
            <a:ext cx="8751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roleplay-simulation</a:t>
            </a:r>
            <a:endParaRPr lang="en-US" sz="700" dirty="0"/>
          </a:p>
        </p:txBody>
      </p:sp>
      <p:sp>
        <p:nvSpPr>
          <p:cNvPr id="162" name="Shape 151"/>
          <p:cNvSpPr/>
          <p:nvPr/>
        </p:nvSpPr>
        <p:spPr>
          <a:xfrm>
            <a:off x="6554391" y="4491633"/>
            <a:ext cx="982266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63" name="Text 152"/>
          <p:cNvSpPr txBox="1"/>
          <p:nvPr/>
        </p:nvSpPr>
        <p:spPr>
          <a:xfrm>
            <a:off x="6625828" y="4491633"/>
            <a:ext cx="8751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objection-generation</a:t>
            </a:r>
            <a:endParaRPr lang="en-US" sz="700" dirty="0"/>
          </a:p>
        </p:txBody>
      </p:sp>
      <p:sp>
        <p:nvSpPr>
          <p:cNvPr id="164" name="Shape 153"/>
          <p:cNvSpPr/>
          <p:nvPr/>
        </p:nvSpPr>
        <p:spPr>
          <a:xfrm>
            <a:off x="6554391" y="4750594"/>
            <a:ext cx="982266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65" name="Text 154"/>
          <p:cNvSpPr txBox="1"/>
          <p:nvPr/>
        </p:nvSpPr>
        <p:spPr>
          <a:xfrm>
            <a:off x="6625828" y="4750594"/>
            <a:ext cx="8751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evaluation-scoring</a:t>
            </a:r>
            <a:endParaRPr lang="en-US" sz="700" dirty="0"/>
          </a:p>
        </p:txBody>
      </p:sp>
      <p:sp>
        <p:nvSpPr>
          <p:cNvPr id="166" name="Shape 155"/>
          <p:cNvSpPr/>
          <p:nvPr/>
        </p:nvSpPr>
        <p:spPr>
          <a:xfrm>
            <a:off x="7608094" y="3723680"/>
            <a:ext cx="982266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67" name="Text 156"/>
          <p:cNvSpPr txBox="1"/>
          <p:nvPr/>
        </p:nvSpPr>
        <p:spPr>
          <a:xfrm>
            <a:off x="7679531" y="3723680"/>
            <a:ext cx="8751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feedback-coaching</a:t>
            </a:r>
            <a:endParaRPr lang="en-US" sz="700" dirty="0"/>
          </a:p>
        </p:txBody>
      </p:sp>
      <p:sp>
        <p:nvSpPr>
          <p:cNvPr id="168" name="Shape 157"/>
          <p:cNvSpPr/>
          <p:nvPr/>
        </p:nvSpPr>
        <p:spPr>
          <a:xfrm>
            <a:off x="7608094" y="3973711"/>
            <a:ext cx="982266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69" name="Text 158"/>
          <p:cNvSpPr txBox="1"/>
          <p:nvPr/>
        </p:nvSpPr>
        <p:spPr>
          <a:xfrm>
            <a:off x="7679531" y="3973711"/>
            <a:ext cx="8751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practice-plan</a:t>
            </a:r>
            <a:endParaRPr lang="en-US" sz="700" dirty="0"/>
          </a:p>
        </p:txBody>
      </p:sp>
      <p:sp>
        <p:nvSpPr>
          <p:cNvPr id="170" name="Shape 159"/>
          <p:cNvSpPr/>
          <p:nvPr/>
        </p:nvSpPr>
        <p:spPr>
          <a:xfrm>
            <a:off x="7608094" y="4223742"/>
            <a:ext cx="982266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71" name="Text 160"/>
          <p:cNvSpPr txBox="1"/>
          <p:nvPr/>
        </p:nvSpPr>
        <p:spPr>
          <a:xfrm>
            <a:off x="7679531" y="4223742"/>
            <a:ext cx="8751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save-result</a:t>
            </a:r>
            <a:endParaRPr lang="en-US" sz="700" dirty="0"/>
          </a:p>
        </p:txBody>
      </p:sp>
      <p:sp>
        <p:nvSpPr>
          <p:cNvPr id="172" name="Shape 161"/>
          <p:cNvSpPr/>
          <p:nvPr/>
        </p:nvSpPr>
        <p:spPr>
          <a:xfrm>
            <a:off x="7608094" y="4491633"/>
            <a:ext cx="982266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73" name="Text 162"/>
          <p:cNvSpPr txBox="1"/>
          <p:nvPr/>
        </p:nvSpPr>
        <p:spPr>
          <a:xfrm>
            <a:off x="7679531" y="4491633"/>
            <a:ext cx="8751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700" dirty="0"/>
          </a:p>
        </p:txBody>
      </p:sp>
      <p:sp>
        <p:nvSpPr>
          <p:cNvPr id="174" name="Shape 163"/>
          <p:cNvSpPr/>
          <p:nvPr/>
        </p:nvSpPr>
        <p:spPr>
          <a:xfrm>
            <a:off x="8733234" y="3446859"/>
            <a:ext cx="2428875" cy="1589484"/>
          </a:xfrm>
          <a:prstGeom prst="roundRect">
            <a:avLst>
              <a:gd name="adj" fmla="val 2301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175" name="Text 164"/>
          <p:cNvSpPr txBox="1"/>
          <p:nvPr/>
        </p:nvSpPr>
        <p:spPr>
          <a:xfrm>
            <a:off x="8733234" y="3473648"/>
            <a:ext cx="2428875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Coaching Skills (8–10)</a:t>
            </a:r>
            <a:endParaRPr lang="en-US" sz="1000" dirty="0"/>
          </a:p>
        </p:txBody>
      </p:sp>
      <p:sp>
        <p:nvSpPr>
          <p:cNvPr id="176" name="Shape 165"/>
          <p:cNvSpPr/>
          <p:nvPr/>
        </p:nvSpPr>
        <p:spPr>
          <a:xfrm>
            <a:off x="8795742" y="3723680"/>
            <a:ext cx="1116211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77" name="Text 166"/>
          <p:cNvSpPr txBox="1"/>
          <p:nvPr/>
        </p:nvSpPr>
        <p:spPr>
          <a:xfrm>
            <a:off x="8867180" y="3723680"/>
            <a:ext cx="10090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team-brief</a:t>
            </a:r>
            <a:endParaRPr lang="en-US" sz="550" dirty="0"/>
          </a:p>
        </p:txBody>
      </p:sp>
      <p:sp>
        <p:nvSpPr>
          <p:cNvPr id="178" name="Shape 167"/>
          <p:cNvSpPr/>
          <p:nvPr/>
        </p:nvSpPr>
        <p:spPr>
          <a:xfrm>
            <a:off x="8795742" y="3973711"/>
            <a:ext cx="1116211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79" name="Text 168"/>
          <p:cNvSpPr txBox="1"/>
          <p:nvPr/>
        </p:nvSpPr>
        <p:spPr>
          <a:xfrm>
            <a:off x="8867180" y="3973711"/>
            <a:ext cx="10090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team-performance</a:t>
            </a:r>
            <a:endParaRPr lang="en-US" sz="550" dirty="0"/>
          </a:p>
        </p:txBody>
      </p:sp>
      <p:sp>
        <p:nvSpPr>
          <p:cNvPr id="180" name="Shape 169"/>
          <p:cNvSpPr/>
          <p:nvPr/>
        </p:nvSpPr>
        <p:spPr>
          <a:xfrm>
            <a:off x="8795742" y="4223742"/>
            <a:ext cx="1116211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81" name="Text 170"/>
          <p:cNvSpPr txBox="1"/>
          <p:nvPr/>
        </p:nvSpPr>
        <p:spPr>
          <a:xfrm>
            <a:off x="8867180" y="4223742"/>
            <a:ext cx="10090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agent-risk-detection</a:t>
            </a:r>
            <a:endParaRPr lang="en-US" sz="550" dirty="0"/>
          </a:p>
        </p:txBody>
      </p:sp>
      <p:sp>
        <p:nvSpPr>
          <p:cNvPr id="182" name="Shape 171"/>
          <p:cNvSpPr/>
          <p:nvPr/>
        </p:nvSpPr>
        <p:spPr>
          <a:xfrm>
            <a:off x="8795742" y="4491633"/>
            <a:ext cx="1116211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83" name="Text 172"/>
          <p:cNvSpPr txBox="1"/>
          <p:nvPr/>
        </p:nvSpPr>
        <p:spPr>
          <a:xfrm>
            <a:off x="8867180" y="4491633"/>
            <a:ext cx="10090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agent-ranking</a:t>
            </a:r>
            <a:endParaRPr lang="en-US" sz="550" dirty="0"/>
          </a:p>
        </p:txBody>
      </p:sp>
      <p:sp>
        <p:nvSpPr>
          <p:cNvPr id="184" name="Shape 173"/>
          <p:cNvSpPr/>
          <p:nvPr/>
        </p:nvSpPr>
        <p:spPr>
          <a:xfrm>
            <a:off x="8795742" y="4750594"/>
            <a:ext cx="1116211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85" name="Text 174"/>
          <p:cNvSpPr txBox="1"/>
          <p:nvPr/>
        </p:nvSpPr>
        <p:spPr>
          <a:xfrm>
            <a:off x="8867180" y="4750594"/>
            <a:ext cx="10090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team-nba</a:t>
            </a:r>
            <a:endParaRPr lang="en-US" sz="550" dirty="0"/>
          </a:p>
        </p:txBody>
      </p:sp>
      <p:sp>
        <p:nvSpPr>
          <p:cNvPr id="186" name="Shape 175"/>
          <p:cNvSpPr/>
          <p:nvPr/>
        </p:nvSpPr>
        <p:spPr>
          <a:xfrm>
            <a:off x="9983391" y="3723680"/>
            <a:ext cx="1116211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87" name="Text 176"/>
          <p:cNvSpPr txBox="1"/>
          <p:nvPr/>
        </p:nvSpPr>
        <p:spPr>
          <a:xfrm>
            <a:off x="10054828" y="3723680"/>
            <a:ext cx="10090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agent-diagnosis</a:t>
            </a:r>
            <a:endParaRPr lang="en-US" sz="550" dirty="0"/>
          </a:p>
        </p:txBody>
      </p:sp>
      <p:sp>
        <p:nvSpPr>
          <p:cNvPr id="188" name="Shape 177"/>
          <p:cNvSpPr/>
          <p:nvPr/>
        </p:nvSpPr>
        <p:spPr>
          <a:xfrm>
            <a:off x="9983391" y="3973711"/>
            <a:ext cx="1116211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89" name="Text 178"/>
          <p:cNvSpPr txBox="1"/>
          <p:nvPr/>
        </p:nvSpPr>
        <p:spPr>
          <a:xfrm>
            <a:off x="10054828" y="3973711"/>
            <a:ext cx="10090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intervention-recommendation</a:t>
            </a:r>
            <a:endParaRPr lang="en-US" sz="550" dirty="0"/>
          </a:p>
        </p:txBody>
      </p:sp>
      <p:sp>
        <p:nvSpPr>
          <p:cNvPr id="190" name="Shape 179"/>
          <p:cNvSpPr/>
          <p:nvPr/>
        </p:nvSpPr>
        <p:spPr>
          <a:xfrm>
            <a:off x="9983391" y="4223742"/>
            <a:ext cx="1116211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91" name="Text 180"/>
          <p:cNvSpPr txBox="1"/>
          <p:nvPr/>
        </p:nvSpPr>
        <p:spPr>
          <a:xfrm>
            <a:off x="10054828" y="4223742"/>
            <a:ext cx="10090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coaching-session-prep</a:t>
            </a:r>
            <a:endParaRPr lang="en-US" sz="550" dirty="0"/>
          </a:p>
        </p:txBody>
      </p:sp>
      <p:sp>
        <p:nvSpPr>
          <p:cNvPr id="192" name="Shape 181"/>
          <p:cNvSpPr/>
          <p:nvPr/>
        </p:nvSpPr>
        <p:spPr>
          <a:xfrm>
            <a:off x="9983391" y="4491633"/>
            <a:ext cx="1116211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93" name="Text 182"/>
          <p:cNvSpPr txBox="1"/>
          <p:nvPr/>
        </p:nvSpPr>
        <p:spPr>
          <a:xfrm>
            <a:off x="10054828" y="4491633"/>
            <a:ext cx="10090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team-capacity-analysis</a:t>
            </a:r>
            <a:endParaRPr lang="en-US" sz="550" dirty="0"/>
          </a:p>
        </p:txBody>
      </p:sp>
      <p:sp>
        <p:nvSpPr>
          <p:cNvPr id="194" name="Shape 183"/>
          <p:cNvSpPr/>
          <p:nvPr/>
        </p:nvSpPr>
        <p:spPr>
          <a:xfrm>
            <a:off x="9983391" y="4750594"/>
            <a:ext cx="1116211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95" name="Text 184"/>
          <p:cNvSpPr txBox="1"/>
          <p:nvPr/>
        </p:nvSpPr>
        <p:spPr>
          <a:xfrm>
            <a:off x="10054828" y="4750594"/>
            <a:ext cx="10090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550" dirty="0"/>
          </a:p>
        </p:txBody>
      </p:sp>
      <p:sp>
        <p:nvSpPr>
          <p:cNvPr id="196" name="Shape 185"/>
          <p:cNvSpPr/>
          <p:nvPr/>
        </p:nvSpPr>
        <p:spPr>
          <a:xfrm>
            <a:off x="11242477" y="3446859"/>
            <a:ext cx="2393156" cy="1589484"/>
          </a:xfrm>
          <a:prstGeom prst="roundRect">
            <a:avLst>
              <a:gd name="adj" fmla="val 2301"/>
            </a:avLst>
          </a:prstGeom>
          <a:solidFill>
            <a:srgbClr val="FCE1E8"/>
          </a:solidFill>
          <a:ln w="9525">
            <a:solidFill>
              <a:srgbClr val="F2B3C3"/>
            </a:solidFill>
            <a:prstDash val="solid"/>
          </a:ln>
        </p:spPr>
      </p:sp>
      <p:sp>
        <p:nvSpPr>
          <p:cNvPr id="197" name="Text 186"/>
          <p:cNvSpPr txBox="1"/>
          <p:nvPr/>
        </p:nvSpPr>
        <p:spPr>
          <a:xfrm>
            <a:off x="11242477" y="3473648"/>
            <a:ext cx="2393156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Skills (8–10)</a:t>
            </a:r>
            <a:endParaRPr lang="en-US" sz="1000" dirty="0"/>
          </a:p>
        </p:txBody>
      </p:sp>
      <p:sp>
        <p:nvSpPr>
          <p:cNvPr id="198" name="Shape 187"/>
          <p:cNvSpPr/>
          <p:nvPr/>
        </p:nvSpPr>
        <p:spPr>
          <a:xfrm>
            <a:off x="11304984" y="3723680"/>
            <a:ext cx="1098352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199" name="Text 188"/>
          <p:cNvSpPr txBox="1"/>
          <p:nvPr/>
        </p:nvSpPr>
        <p:spPr>
          <a:xfrm>
            <a:off x="11376422" y="3723680"/>
            <a:ext cx="9911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recruitment-pipeline</a:t>
            </a:r>
            <a:endParaRPr lang="en-US" sz="600" dirty="0"/>
          </a:p>
        </p:txBody>
      </p:sp>
      <p:sp>
        <p:nvSpPr>
          <p:cNvPr id="200" name="Shape 189"/>
          <p:cNvSpPr/>
          <p:nvPr/>
        </p:nvSpPr>
        <p:spPr>
          <a:xfrm>
            <a:off x="11304984" y="3973711"/>
            <a:ext cx="1098352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201" name="Text 190"/>
          <p:cNvSpPr txBox="1"/>
          <p:nvPr/>
        </p:nvSpPr>
        <p:spPr>
          <a:xfrm>
            <a:off x="11376422" y="3973711"/>
            <a:ext cx="9911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candidate-summary</a:t>
            </a:r>
            <a:endParaRPr lang="en-US" sz="600" dirty="0"/>
          </a:p>
        </p:txBody>
      </p:sp>
      <p:sp>
        <p:nvSpPr>
          <p:cNvPr id="202" name="Shape 191"/>
          <p:cNvSpPr/>
          <p:nvPr/>
        </p:nvSpPr>
        <p:spPr>
          <a:xfrm>
            <a:off x="11304984" y="4223742"/>
            <a:ext cx="1098352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203" name="Text 192"/>
          <p:cNvSpPr txBox="1"/>
          <p:nvPr/>
        </p:nvSpPr>
        <p:spPr>
          <a:xfrm>
            <a:off x="11376422" y="4223742"/>
            <a:ext cx="9911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candidate-assessment</a:t>
            </a:r>
            <a:endParaRPr lang="en-US" sz="600" dirty="0"/>
          </a:p>
        </p:txBody>
      </p:sp>
      <p:sp>
        <p:nvSpPr>
          <p:cNvPr id="204" name="Shape 193"/>
          <p:cNvSpPr/>
          <p:nvPr/>
        </p:nvSpPr>
        <p:spPr>
          <a:xfrm>
            <a:off x="11304984" y="4491633"/>
            <a:ext cx="1098352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205" name="Text 194"/>
          <p:cNvSpPr txBox="1"/>
          <p:nvPr/>
        </p:nvSpPr>
        <p:spPr>
          <a:xfrm>
            <a:off x="11376422" y="4491633"/>
            <a:ext cx="9911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interview-preparation</a:t>
            </a:r>
            <a:endParaRPr lang="en-US" sz="600" dirty="0"/>
          </a:p>
        </p:txBody>
      </p:sp>
      <p:sp>
        <p:nvSpPr>
          <p:cNvPr id="206" name="Shape 195"/>
          <p:cNvSpPr/>
          <p:nvPr/>
        </p:nvSpPr>
        <p:spPr>
          <a:xfrm>
            <a:off x="11304984" y="4750594"/>
            <a:ext cx="1098352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207" name="Text 196"/>
          <p:cNvSpPr txBox="1"/>
          <p:nvPr/>
        </p:nvSpPr>
        <p:spPr>
          <a:xfrm>
            <a:off x="11376422" y="4750594"/>
            <a:ext cx="9911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interview-simulation</a:t>
            </a:r>
            <a:endParaRPr lang="en-US" sz="600" dirty="0"/>
          </a:p>
        </p:txBody>
      </p:sp>
      <p:sp>
        <p:nvSpPr>
          <p:cNvPr id="208" name="Shape 197"/>
          <p:cNvSpPr/>
          <p:nvPr/>
        </p:nvSpPr>
        <p:spPr>
          <a:xfrm>
            <a:off x="12474773" y="3723680"/>
            <a:ext cx="1098352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209" name="Text 198"/>
          <p:cNvSpPr txBox="1"/>
          <p:nvPr/>
        </p:nvSpPr>
        <p:spPr>
          <a:xfrm>
            <a:off x="12546211" y="3723680"/>
            <a:ext cx="9911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candidate-ranking</a:t>
            </a:r>
            <a:endParaRPr lang="en-US" sz="600" dirty="0"/>
          </a:p>
        </p:txBody>
      </p:sp>
      <p:sp>
        <p:nvSpPr>
          <p:cNvPr id="210" name="Shape 199"/>
          <p:cNvSpPr/>
          <p:nvPr/>
        </p:nvSpPr>
        <p:spPr>
          <a:xfrm>
            <a:off x="12474773" y="3973711"/>
            <a:ext cx="1098352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211" name="Text 200"/>
          <p:cNvSpPr txBox="1"/>
          <p:nvPr/>
        </p:nvSpPr>
        <p:spPr>
          <a:xfrm>
            <a:off x="12546211" y="3973711"/>
            <a:ext cx="9911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recruitment-recommendation</a:t>
            </a:r>
            <a:endParaRPr lang="en-US" sz="600" dirty="0"/>
          </a:p>
        </p:txBody>
      </p:sp>
      <p:sp>
        <p:nvSpPr>
          <p:cNvPr id="212" name="Shape 201"/>
          <p:cNvSpPr/>
          <p:nvPr/>
        </p:nvSpPr>
        <p:spPr>
          <a:xfrm>
            <a:off x="12474773" y="4223742"/>
            <a:ext cx="1098352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213" name="Text 202"/>
          <p:cNvSpPr txBox="1"/>
          <p:nvPr/>
        </p:nvSpPr>
        <p:spPr>
          <a:xfrm>
            <a:off x="12546211" y="4223742"/>
            <a:ext cx="9911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recruitment-followup</a:t>
            </a:r>
            <a:endParaRPr lang="en-US" sz="600" dirty="0"/>
          </a:p>
        </p:txBody>
      </p:sp>
      <p:sp>
        <p:nvSpPr>
          <p:cNvPr id="214" name="Shape 203"/>
          <p:cNvSpPr/>
          <p:nvPr/>
        </p:nvSpPr>
        <p:spPr>
          <a:xfrm>
            <a:off x="12474773" y="4491633"/>
            <a:ext cx="1098352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215" name="Text 204"/>
          <p:cNvSpPr txBox="1"/>
          <p:nvPr/>
        </p:nvSpPr>
        <p:spPr>
          <a:xfrm>
            <a:off x="12546211" y="4491633"/>
            <a:ext cx="9911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onboarding-support</a:t>
            </a:r>
            <a:endParaRPr lang="en-US" sz="600" dirty="0"/>
          </a:p>
        </p:txBody>
      </p:sp>
      <p:sp>
        <p:nvSpPr>
          <p:cNvPr id="216" name="Shape 205"/>
          <p:cNvSpPr/>
          <p:nvPr/>
        </p:nvSpPr>
        <p:spPr>
          <a:xfrm>
            <a:off x="12474773" y="4750594"/>
            <a:ext cx="1098352" cy="214313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217" name="Text 206"/>
          <p:cNvSpPr txBox="1"/>
          <p:nvPr/>
        </p:nvSpPr>
        <p:spPr>
          <a:xfrm>
            <a:off x="12546211" y="4750594"/>
            <a:ext cx="9911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600" dirty="0"/>
          </a:p>
        </p:txBody>
      </p:sp>
      <p:sp>
        <p:nvSpPr>
          <p:cNvPr id="218" name="Shape 207"/>
          <p:cNvSpPr/>
          <p:nvPr/>
        </p:nvSpPr>
        <p:spPr>
          <a:xfrm>
            <a:off x="2937867" y="5054203"/>
            <a:ext cx="0" cy="232172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219" name="Shape 208"/>
          <p:cNvSpPr/>
          <p:nvPr/>
        </p:nvSpPr>
        <p:spPr>
          <a:xfrm>
            <a:off x="5286375" y="5054203"/>
            <a:ext cx="0" cy="232172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220" name="Shape 209"/>
          <p:cNvSpPr/>
          <p:nvPr/>
        </p:nvSpPr>
        <p:spPr>
          <a:xfrm>
            <a:off x="7599164" y="5054203"/>
            <a:ext cx="0" cy="232172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221" name="Shape 210"/>
          <p:cNvSpPr/>
          <p:nvPr/>
        </p:nvSpPr>
        <p:spPr>
          <a:xfrm>
            <a:off x="10099477" y="5054203"/>
            <a:ext cx="0" cy="232172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222" name="Shape 211"/>
          <p:cNvSpPr/>
          <p:nvPr/>
        </p:nvSpPr>
        <p:spPr>
          <a:xfrm>
            <a:off x="12376547" y="5054203"/>
            <a:ext cx="0" cy="232172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223" name="Shape 212"/>
          <p:cNvSpPr/>
          <p:nvPr/>
        </p:nvSpPr>
        <p:spPr>
          <a:xfrm>
            <a:off x="1785938" y="5304234"/>
            <a:ext cx="1000125" cy="1071563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9525">
            <a:solidFill>
              <a:srgbClr val="C9DCF3"/>
            </a:solidFill>
            <a:prstDash val="solid"/>
          </a:ln>
        </p:spPr>
      </p:sp>
      <p:pic>
        <p:nvPicPr>
          <p:cNvPr id="2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66305" y="5375672"/>
            <a:ext cx="142875" cy="142875"/>
          </a:xfrm>
          <a:prstGeom prst="rect">
            <a:avLst/>
          </a:prstGeom>
        </p:spPr>
      </p:pic>
      <p:sp>
        <p:nvSpPr>
          <p:cNvPr id="225" name="Text 213"/>
          <p:cNvSpPr txBox="1"/>
          <p:nvPr/>
        </p:nvSpPr>
        <p:spPr>
          <a:xfrm>
            <a:off x="2062758" y="5322094"/>
            <a:ext cx="69651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Tools</a:t>
            </a:r>
            <a:endParaRPr lang="en-US" sz="750" dirty="0"/>
          </a:p>
        </p:txBody>
      </p:sp>
      <p:sp>
        <p:nvSpPr>
          <p:cNvPr id="226" name="Text 214"/>
          <p:cNvSpPr txBox="1"/>
          <p:nvPr/>
        </p:nvSpPr>
        <p:spPr>
          <a:xfrm>
            <a:off x="1875234" y="5625703"/>
            <a:ext cx="884039" cy="72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get_customer_360</a:t>
            </a:r>
            <a:endParaRPr lang="en-US" sz="7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search_customer</a:t>
            </a:r>
            <a:endParaRPr lang="en-US" sz="7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get_interaction</a:t>
            </a:r>
            <a:endParaRPr lang="en-US" sz="7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get_opportunities</a:t>
            </a:r>
            <a:endParaRPr lang="en-US" sz="700" dirty="0"/>
          </a:p>
          <a:p>
            <a:pPr algn="l" indent="0" marL="0">
              <a:spcAft>
                <a:spcPts val="150"/>
              </a:spcAft>
              <a:buNone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700" dirty="0"/>
          </a:p>
        </p:txBody>
      </p:sp>
      <p:sp>
        <p:nvSpPr>
          <p:cNvPr id="227" name="Shape 215"/>
          <p:cNvSpPr/>
          <p:nvPr/>
        </p:nvSpPr>
        <p:spPr>
          <a:xfrm>
            <a:off x="2821781" y="5304234"/>
            <a:ext cx="982266" cy="1071563"/>
          </a:xfrm>
          <a:prstGeom prst="roundRect">
            <a:avLst>
              <a:gd name="adj" fmla="val 2793"/>
            </a:avLst>
          </a:prstGeom>
          <a:solidFill>
            <a:srgbClr val="FFFFFF"/>
          </a:solidFill>
          <a:ln w="9525">
            <a:solidFill>
              <a:srgbClr val="C9DCF3"/>
            </a:solidFill>
            <a:prstDash val="solid"/>
          </a:ln>
        </p:spPr>
      </p:sp>
      <p:pic>
        <p:nvPicPr>
          <p:cNvPr id="2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02148" y="5375672"/>
            <a:ext cx="142875" cy="142875"/>
          </a:xfrm>
          <a:prstGeom prst="rect">
            <a:avLst/>
          </a:prstGeom>
        </p:spPr>
      </p:pic>
      <p:sp>
        <p:nvSpPr>
          <p:cNvPr id="229" name="Text 216"/>
          <p:cNvSpPr txBox="1"/>
          <p:nvPr/>
        </p:nvSpPr>
        <p:spPr>
          <a:xfrm>
            <a:off x="3098602" y="5322094"/>
            <a:ext cx="67865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/ Product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700" dirty="0"/>
          </a:p>
        </p:txBody>
      </p:sp>
      <p:sp>
        <p:nvSpPr>
          <p:cNvPr id="230" name="Text 217"/>
          <p:cNvSpPr txBox="1"/>
          <p:nvPr/>
        </p:nvSpPr>
        <p:spPr>
          <a:xfrm>
            <a:off x="2911078" y="5625703"/>
            <a:ext cx="866180" cy="72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get_policy_detail</a:t>
            </a:r>
            <a:endParaRPr lang="en-US" sz="6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get_product_catalog</a:t>
            </a:r>
            <a:endParaRPr lang="en-US" sz="6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calculate_premium</a:t>
            </a:r>
            <a:endParaRPr lang="en-US" sz="6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check_eligibility</a:t>
            </a:r>
            <a:endParaRPr lang="en-US" sz="600" dirty="0"/>
          </a:p>
          <a:p>
            <a:pPr algn="l" indent="0" marL="0">
              <a:spcAft>
                <a:spcPts val="150"/>
              </a:spcAft>
              <a:buNone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600" dirty="0"/>
          </a:p>
        </p:txBody>
      </p:sp>
      <p:sp>
        <p:nvSpPr>
          <p:cNvPr id="231" name="Shape 218"/>
          <p:cNvSpPr/>
          <p:nvPr/>
        </p:nvSpPr>
        <p:spPr>
          <a:xfrm>
            <a:off x="3839766" y="5304234"/>
            <a:ext cx="1098352" cy="1071563"/>
          </a:xfrm>
          <a:prstGeom prst="roundRect">
            <a:avLst>
              <a:gd name="adj" fmla="val 2560"/>
            </a:avLst>
          </a:prstGeom>
          <a:solidFill>
            <a:srgbClr val="FFFFFF"/>
          </a:solidFill>
          <a:ln w="9525">
            <a:solidFill>
              <a:srgbClr val="C9DCF3"/>
            </a:solidFill>
            <a:prstDash val="solid"/>
          </a:ln>
        </p:spPr>
      </p:sp>
      <p:pic>
        <p:nvPicPr>
          <p:cNvPr id="2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20133" y="5375672"/>
            <a:ext cx="142875" cy="142875"/>
          </a:xfrm>
          <a:prstGeom prst="rect">
            <a:avLst/>
          </a:prstGeom>
        </p:spPr>
      </p:pic>
      <p:sp>
        <p:nvSpPr>
          <p:cNvPr id="233" name="Text 219"/>
          <p:cNvSpPr txBox="1"/>
          <p:nvPr/>
        </p:nvSpPr>
        <p:spPr>
          <a:xfrm>
            <a:off x="4116586" y="5322094"/>
            <a:ext cx="794742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UW Tools</a:t>
            </a:r>
            <a:endParaRPr lang="en-US" sz="550" dirty="0"/>
          </a:p>
        </p:txBody>
      </p:sp>
      <p:sp>
        <p:nvSpPr>
          <p:cNvPr id="234" name="Text 220"/>
          <p:cNvSpPr txBox="1"/>
          <p:nvPr/>
        </p:nvSpPr>
        <p:spPr>
          <a:xfrm>
            <a:off x="3929063" y="5625703"/>
            <a:ext cx="982266" cy="72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get_application_status</a:t>
            </a:r>
            <a:endParaRPr lang="en-US" sz="6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get_uw_requirements</a:t>
            </a:r>
            <a:endParaRPr lang="en-US" sz="6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upload_document</a:t>
            </a:r>
            <a:endParaRPr lang="en-US" sz="6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submit_application</a:t>
            </a:r>
            <a:endParaRPr lang="en-US" sz="600" dirty="0"/>
          </a:p>
          <a:p>
            <a:pPr algn="l" indent="0" marL="0">
              <a:spcAft>
                <a:spcPts val="150"/>
              </a:spcAft>
              <a:buNone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600" dirty="0"/>
          </a:p>
        </p:txBody>
      </p:sp>
      <p:sp>
        <p:nvSpPr>
          <p:cNvPr id="235" name="Shape 221"/>
          <p:cNvSpPr/>
          <p:nvPr/>
        </p:nvSpPr>
        <p:spPr>
          <a:xfrm>
            <a:off x="4973836" y="5304234"/>
            <a:ext cx="1053703" cy="1071563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9525">
            <a:solidFill>
              <a:srgbClr val="C9DCF3"/>
            </a:solidFill>
            <a:prstDash val="solid"/>
          </a:ln>
        </p:spPr>
      </p:sp>
      <p:pic>
        <p:nvPicPr>
          <p:cNvPr id="2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54203" y="5375672"/>
            <a:ext cx="142875" cy="142875"/>
          </a:xfrm>
          <a:prstGeom prst="rect">
            <a:avLst/>
          </a:prstGeom>
        </p:spPr>
      </p:pic>
      <p:sp>
        <p:nvSpPr>
          <p:cNvPr id="237" name="Text 222"/>
          <p:cNvSpPr txBox="1"/>
          <p:nvPr/>
        </p:nvSpPr>
        <p:spPr>
          <a:xfrm>
            <a:off x="5250656" y="5322094"/>
            <a:ext cx="750094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Tools</a:t>
            </a:r>
            <a:endParaRPr lang="en-US" sz="750" dirty="0"/>
          </a:p>
        </p:txBody>
      </p:sp>
      <p:sp>
        <p:nvSpPr>
          <p:cNvPr id="238" name="Text 223"/>
          <p:cNvSpPr txBox="1"/>
          <p:nvPr/>
        </p:nvSpPr>
        <p:spPr>
          <a:xfrm>
            <a:off x="5063133" y="5625703"/>
            <a:ext cx="937617" cy="72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get_claim_status</a:t>
            </a:r>
            <a:endParaRPr lang="en-US" sz="6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get_claim_documents</a:t>
            </a:r>
            <a:endParaRPr lang="en-US" sz="6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get_claim_comments</a:t>
            </a:r>
            <a:endParaRPr lang="en-US" sz="6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create_claim_followup</a:t>
            </a:r>
            <a:endParaRPr lang="en-US" sz="600" dirty="0"/>
          </a:p>
          <a:p>
            <a:pPr algn="l" indent="0" marL="0">
              <a:spcAft>
                <a:spcPts val="150"/>
              </a:spcAft>
              <a:buNone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600" dirty="0"/>
          </a:p>
        </p:txBody>
      </p:sp>
      <p:sp>
        <p:nvSpPr>
          <p:cNvPr id="239" name="Shape 224"/>
          <p:cNvSpPr/>
          <p:nvPr/>
        </p:nvSpPr>
        <p:spPr>
          <a:xfrm>
            <a:off x="6063258" y="5304234"/>
            <a:ext cx="1232297" cy="1071563"/>
          </a:xfrm>
          <a:prstGeom prst="roundRect">
            <a:avLst>
              <a:gd name="adj" fmla="val 2560"/>
            </a:avLst>
          </a:prstGeom>
          <a:solidFill>
            <a:srgbClr val="FFFFFF"/>
          </a:solidFill>
          <a:ln w="9525">
            <a:solidFill>
              <a:srgbClr val="C9DCF3"/>
            </a:solidFill>
            <a:prstDash val="solid"/>
          </a:ln>
        </p:spPr>
      </p:sp>
      <p:pic>
        <p:nvPicPr>
          <p:cNvPr id="2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43625" y="5375672"/>
            <a:ext cx="142875" cy="142875"/>
          </a:xfrm>
          <a:prstGeom prst="rect">
            <a:avLst/>
          </a:prstGeom>
        </p:spPr>
      </p:pic>
      <p:sp>
        <p:nvSpPr>
          <p:cNvPr id="241" name="Text 225"/>
          <p:cNvSpPr txBox="1"/>
          <p:nvPr/>
        </p:nvSpPr>
        <p:spPr>
          <a:xfrm>
            <a:off x="6340078" y="5322094"/>
            <a:ext cx="928688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&amp; NBA Tools</a:t>
            </a:r>
            <a:endParaRPr lang="en-US" sz="600" dirty="0"/>
          </a:p>
        </p:txBody>
      </p:sp>
      <p:sp>
        <p:nvSpPr>
          <p:cNvPr id="242" name="Text 226"/>
          <p:cNvSpPr txBox="1"/>
          <p:nvPr/>
        </p:nvSpPr>
        <p:spPr>
          <a:xfrm>
            <a:off x="6152555" y="5625703"/>
            <a:ext cx="1116211" cy="72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run_needs_analysis</a:t>
            </a:r>
            <a:endParaRPr lang="en-US" sz="65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calculate_protection_gap</a:t>
            </a:r>
            <a:endParaRPr lang="en-US" sz="65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get_next_best_product</a:t>
            </a:r>
            <a:endParaRPr lang="en-US" sz="65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get_next_best_action</a:t>
            </a:r>
            <a:endParaRPr lang="en-US" sz="650" dirty="0"/>
          </a:p>
          <a:p>
            <a:pPr algn="l" indent="0" marL="0">
              <a:spcAft>
                <a:spcPts val="150"/>
              </a:spcAft>
              <a:buNone/>
            </a:pPr>
            <a:r>
              <a:rPr lang="en-US" sz="6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650" dirty="0"/>
          </a:p>
        </p:txBody>
      </p:sp>
      <p:sp>
        <p:nvSpPr>
          <p:cNvPr id="243" name="Shape 227"/>
          <p:cNvSpPr/>
          <p:nvPr/>
        </p:nvSpPr>
        <p:spPr>
          <a:xfrm>
            <a:off x="7331273" y="5304234"/>
            <a:ext cx="1080492" cy="1071563"/>
          </a:xfrm>
          <a:prstGeom prst="roundRect">
            <a:avLst>
              <a:gd name="adj" fmla="val 2560"/>
            </a:avLst>
          </a:prstGeom>
          <a:solidFill>
            <a:srgbClr val="FFFFFF"/>
          </a:solidFill>
          <a:ln w="9525">
            <a:solidFill>
              <a:srgbClr val="C9DCF3"/>
            </a:solidFill>
            <a:prstDash val="solid"/>
          </a:ln>
        </p:spPr>
      </p:sp>
      <p:pic>
        <p:nvPicPr>
          <p:cNvPr id="24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1641" y="5375672"/>
            <a:ext cx="142875" cy="142875"/>
          </a:xfrm>
          <a:prstGeom prst="rect">
            <a:avLst/>
          </a:prstGeom>
        </p:spPr>
      </p:pic>
      <p:sp>
        <p:nvSpPr>
          <p:cNvPr id="245" name="Text 228"/>
          <p:cNvSpPr txBox="1"/>
          <p:nvPr/>
        </p:nvSpPr>
        <p:spPr>
          <a:xfrm>
            <a:off x="7608094" y="5322094"/>
            <a:ext cx="776883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Tools</a:t>
            </a:r>
            <a:endParaRPr lang="en-US" sz="750" dirty="0"/>
          </a:p>
        </p:txBody>
      </p:sp>
      <p:sp>
        <p:nvSpPr>
          <p:cNvPr id="246" name="Text 229"/>
          <p:cNvSpPr txBox="1"/>
          <p:nvPr/>
        </p:nvSpPr>
        <p:spPr>
          <a:xfrm>
            <a:off x="7420570" y="5625703"/>
            <a:ext cx="964406" cy="72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search_knowledge</a:t>
            </a:r>
            <a:endParaRPr lang="en-US" sz="6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get_product_content</a:t>
            </a:r>
            <a:endParaRPr lang="en-US" sz="6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get_regulation_content</a:t>
            </a:r>
            <a:endParaRPr lang="en-US" sz="6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get_approved_content</a:t>
            </a:r>
            <a:endParaRPr lang="en-US" sz="600" dirty="0"/>
          </a:p>
          <a:p>
            <a:pPr algn="l" indent="0" marL="0">
              <a:spcAft>
                <a:spcPts val="150"/>
              </a:spcAft>
              <a:buNone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600" dirty="0"/>
          </a:p>
        </p:txBody>
      </p:sp>
      <p:sp>
        <p:nvSpPr>
          <p:cNvPr id="247" name="Shape 230"/>
          <p:cNvSpPr/>
          <p:nvPr/>
        </p:nvSpPr>
        <p:spPr>
          <a:xfrm>
            <a:off x="8447484" y="5304234"/>
            <a:ext cx="1053703" cy="1071563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9525">
            <a:solidFill>
              <a:srgbClr val="C9DCF3"/>
            </a:solidFill>
            <a:prstDash val="solid"/>
          </a:ln>
        </p:spPr>
      </p:sp>
      <p:pic>
        <p:nvPicPr>
          <p:cNvPr id="2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27852" y="5375672"/>
            <a:ext cx="142875" cy="142875"/>
          </a:xfrm>
          <a:prstGeom prst="rect">
            <a:avLst/>
          </a:prstGeom>
        </p:spPr>
      </p:pic>
      <p:sp>
        <p:nvSpPr>
          <p:cNvPr id="249" name="Text 231"/>
          <p:cNvSpPr txBox="1"/>
          <p:nvPr/>
        </p:nvSpPr>
        <p:spPr>
          <a:xfrm>
            <a:off x="8724305" y="5322094"/>
            <a:ext cx="750094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/ Work Tools</a:t>
            </a:r>
            <a:endParaRPr lang="en-US" sz="550" dirty="0"/>
          </a:p>
        </p:txBody>
      </p:sp>
      <p:sp>
        <p:nvSpPr>
          <p:cNvPr id="250" name="Text 232"/>
          <p:cNvSpPr txBox="1"/>
          <p:nvPr/>
        </p:nvSpPr>
        <p:spPr>
          <a:xfrm>
            <a:off x="8536781" y="5625703"/>
            <a:ext cx="937617" cy="72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get_journey_status</a:t>
            </a:r>
            <a:endParaRPr lang="en-US" sz="7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create_work_item</a:t>
            </a:r>
            <a:endParaRPr lang="en-US" sz="7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create_approval</a:t>
            </a:r>
            <a:endParaRPr lang="en-US" sz="7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get_sla</a:t>
            </a:r>
            <a:endParaRPr lang="en-US" sz="700" dirty="0"/>
          </a:p>
          <a:p>
            <a:pPr algn="l" indent="0" marL="0">
              <a:spcAft>
                <a:spcPts val="150"/>
              </a:spcAft>
              <a:buNone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700" dirty="0"/>
          </a:p>
        </p:txBody>
      </p:sp>
      <p:sp>
        <p:nvSpPr>
          <p:cNvPr id="251" name="Shape 233"/>
          <p:cNvSpPr/>
          <p:nvPr/>
        </p:nvSpPr>
        <p:spPr>
          <a:xfrm>
            <a:off x="9536906" y="5304234"/>
            <a:ext cx="1107281" cy="1071563"/>
          </a:xfrm>
          <a:prstGeom prst="roundRect">
            <a:avLst>
              <a:gd name="adj" fmla="val 2560"/>
            </a:avLst>
          </a:prstGeom>
          <a:solidFill>
            <a:srgbClr val="FFFFFF"/>
          </a:solidFill>
          <a:ln w="9525">
            <a:solidFill>
              <a:srgbClr val="C9DCF3"/>
            </a:solidFill>
            <a:prstDash val="solid"/>
          </a:ln>
        </p:spPr>
      </p:sp>
      <p:pic>
        <p:nvPicPr>
          <p:cNvPr id="25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17273" y="5375672"/>
            <a:ext cx="142875" cy="142875"/>
          </a:xfrm>
          <a:prstGeom prst="rect">
            <a:avLst/>
          </a:prstGeom>
        </p:spPr>
      </p:pic>
      <p:sp>
        <p:nvSpPr>
          <p:cNvPr id="253" name="Text 234"/>
          <p:cNvSpPr txBox="1"/>
          <p:nvPr/>
        </p:nvSpPr>
        <p:spPr>
          <a:xfrm>
            <a:off x="9813727" y="5322094"/>
            <a:ext cx="803672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Tools</a:t>
            </a:r>
            <a:endParaRPr lang="en-US" sz="650" dirty="0"/>
          </a:p>
        </p:txBody>
      </p:sp>
      <p:sp>
        <p:nvSpPr>
          <p:cNvPr id="254" name="Text 235"/>
          <p:cNvSpPr txBox="1"/>
          <p:nvPr/>
        </p:nvSpPr>
        <p:spPr>
          <a:xfrm>
            <a:off x="9626203" y="5625703"/>
            <a:ext cx="991195" cy="72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send_email</a:t>
            </a:r>
            <a:endParaRPr lang="en-US" sz="65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send_line_message</a:t>
            </a:r>
            <a:endParaRPr lang="en-US" sz="65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send_whatsapp_message</a:t>
            </a:r>
            <a:endParaRPr lang="en-US" sz="65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6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get_message_status</a:t>
            </a:r>
            <a:endParaRPr lang="en-US" sz="650" dirty="0"/>
          </a:p>
          <a:p>
            <a:pPr algn="l" indent="0" marL="0">
              <a:spcAft>
                <a:spcPts val="150"/>
              </a:spcAft>
              <a:buNone/>
            </a:pPr>
            <a:r>
              <a:rPr lang="en-US" sz="6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650" dirty="0"/>
          </a:p>
        </p:txBody>
      </p:sp>
      <p:sp>
        <p:nvSpPr>
          <p:cNvPr id="255" name="Shape 236"/>
          <p:cNvSpPr/>
          <p:nvPr/>
        </p:nvSpPr>
        <p:spPr>
          <a:xfrm>
            <a:off x="10679906" y="5304234"/>
            <a:ext cx="1196578" cy="1071563"/>
          </a:xfrm>
          <a:prstGeom prst="roundRect">
            <a:avLst>
              <a:gd name="adj" fmla="val 2560"/>
            </a:avLst>
          </a:prstGeom>
          <a:solidFill>
            <a:srgbClr val="FFFFFF"/>
          </a:solidFill>
          <a:ln w="9525">
            <a:solidFill>
              <a:srgbClr val="C9DCF3"/>
            </a:solidFill>
            <a:prstDash val="solid"/>
          </a:ln>
        </p:spPr>
      </p:sp>
      <p:pic>
        <p:nvPicPr>
          <p:cNvPr id="25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60273" y="5375672"/>
            <a:ext cx="142875" cy="142875"/>
          </a:xfrm>
          <a:prstGeom prst="rect">
            <a:avLst/>
          </a:prstGeom>
        </p:spPr>
      </p:pic>
      <p:sp>
        <p:nvSpPr>
          <p:cNvPr id="257" name="Text 237"/>
          <p:cNvSpPr txBox="1"/>
          <p:nvPr/>
        </p:nvSpPr>
        <p:spPr>
          <a:xfrm>
            <a:off x="10956727" y="5322094"/>
            <a:ext cx="892969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HR Tools</a:t>
            </a:r>
            <a:endParaRPr lang="en-US" sz="750" dirty="0"/>
          </a:p>
        </p:txBody>
      </p:sp>
      <p:sp>
        <p:nvSpPr>
          <p:cNvPr id="258" name="Text 238"/>
          <p:cNvSpPr txBox="1"/>
          <p:nvPr/>
        </p:nvSpPr>
        <p:spPr>
          <a:xfrm>
            <a:off x="10769203" y="5625703"/>
            <a:ext cx="1080492" cy="72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get_agent_performance</a:t>
            </a:r>
            <a:endParaRPr lang="en-US" sz="7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get_learning_history</a:t>
            </a:r>
            <a:endParaRPr lang="en-US" sz="7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create_coaching_plan</a:t>
            </a:r>
            <a:endParaRPr lang="en-US" sz="7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get_team_performance</a:t>
            </a:r>
            <a:endParaRPr lang="en-US" sz="700" dirty="0"/>
          </a:p>
          <a:p>
            <a:pPr algn="l" indent="0" marL="0">
              <a:spcAft>
                <a:spcPts val="150"/>
              </a:spcAft>
              <a:buNone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700" dirty="0"/>
          </a:p>
        </p:txBody>
      </p:sp>
      <p:sp>
        <p:nvSpPr>
          <p:cNvPr id="259" name="Shape 239"/>
          <p:cNvSpPr/>
          <p:nvPr/>
        </p:nvSpPr>
        <p:spPr>
          <a:xfrm>
            <a:off x="11912203" y="5304234"/>
            <a:ext cx="1723430" cy="1071563"/>
          </a:xfrm>
          <a:prstGeom prst="roundRect">
            <a:avLst>
              <a:gd name="adj" fmla="val 2560"/>
            </a:avLst>
          </a:prstGeom>
          <a:solidFill>
            <a:srgbClr val="FFFFFF"/>
          </a:solidFill>
          <a:ln w="9525">
            <a:solidFill>
              <a:srgbClr val="C9DCF3"/>
            </a:solidFill>
            <a:prstDash val="solid"/>
          </a:ln>
        </p:spPr>
      </p:sp>
      <p:pic>
        <p:nvPicPr>
          <p:cNvPr id="26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992570" y="5375672"/>
            <a:ext cx="142875" cy="142875"/>
          </a:xfrm>
          <a:prstGeom prst="rect">
            <a:avLst/>
          </a:prstGeom>
        </p:spPr>
      </p:pic>
      <p:sp>
        <p:nvSpPr>
          <p:cNvPr id="261" name="Text 240"/>
          <p:cNvSpPr txBox="1"/>
          <p:nvPr/>
        </p:nvSpPr>
        <p:spPr>
          <a:xfrm>
            <a:off x="12189023" y="5322094"/>
            <a:ext cx="141982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Tools</a:t>
            </a:r>
            <a:endParaRPr lang="en-US" sz="750" dirty="0"/>
          </a:p>
        </p:txBody>
      </p:sp>
      <p:sp>
        <p:nvSpPr>
          <p:cNvPr id="262" name="Text 241"/>
          <p:cNvSpPr txBox="1"/>
          <p:nvPr/>
        </p:nvSpPr>
        <p:spPr>
          <a:xfrm>
            <a:off x="12001500" y="5625703"/>
            <a:ext cx="1607344" cy="72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get_candidate_profile</a:t>
            </a:r>
            <a:endParaRPr lang="en-US" sz="7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get_recruitment_pipeline</a:t>
            </a:r>
            <a:endParaRPr lang="en-US" sz="7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schedule_interview</a:t>
            </a:r>
            <a:endParaRPr lang="en-US" sz="700" dirty="0"/>
          </a:p>
          <a:p>
            <a:pPr algn="l" marL="101600" indent="-101600"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create_onboarding_task</a:t>
            </a:r>
            <a:endParaRPr lang="en-US" sz="700" dirty="0"/>
          </a:p>
          <a:p>
            <a:pPr algn="l" indent="0" marL="0">
              <a:spcAft>
                <a:spcPts val="150"/>
              </a:spcAft>
              <a:buNone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700" dirty="0"/>
          </a:p>
        </p:txBody>
      </p:sp>
      <p:sp>
        <p:nvSpPr>
          <p:cNvPr id="263" name="Shape 242"/>
          <p:cNvSpPr/>
          <p:nvPr/>
        </p:nvSpPr>
        <p:spPr>
          <a:xfrm>
            <a:off x="2830711" y="6393656"/>
            <a:ext cx="0" cy="20538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264" name="Shape 243"/>
          <p:cNvSpPr/>
          <p:nvPr/>
        </p:nvSpPr>
        <p:spPr>
          <a:xfrm>
            <a:off x="4464844" y="6393656"/>
            <a:ext cx="0" cy="20538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265" name="Shape 244"/>
          <p:cNvSpPr/>
          <p:nvPr/>
        </p:nvSpPr>
        <p:spPr>
          <a:xfrm>
            <a:off x="6116836" y="6393656"/>
            <a:ext cx="0" cy="20538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266" name="Shape 245"/>
          <p:cNvSpPr/>
          <p:nvPr/>
        </p:nvSpPr>
        <p:spPr>
          <a:xfrm>
            <a:off x="7572375" y="6393656"/>
            <a:ext cx="0" cy="20538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267" name="Shape 246"/>
          <p:cNvSpPr/>
          <p:nvPr/>
        </p:nvSpPr>
        <p:spPr>
          <a:xfrm>
            <a:off x="8938617" y="6393656"/>
            <a:ext cx="0" cy="20538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268" name="Shape 247"/>
          <p:cNvSpPr/>
          <p:nvPr/>
        </p:nvSpPr>
        <p:spPr>
          <a:xfrm>
            <a:off x="9974461" y="6393656"/>
            <a:ext cx="0" cy="20538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269" name="Shape 248"/>
          <p:cNvSpPr/>
          <p:nvPr/>
        </p:nvSpPr>
        <p:spPr>
          <a:xfrm>
            <a:off x="11590734" y="6393656"/>
            <a:ext cx="0" cy="20538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270" name="Shape 249"/>
          <p:cNvSpPr/>
          <p:nvPr/>
        </p:nvSpPr>
        <p:spPr>
          <a:xfrm>
            <a:off x="12831961" y="6393656"/>
            <a:ext cx="0" cy="20538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271" name="Shape 250"/>
          <p:cNvSpPr/>
          <p:nvPr/>
        </p:nvSpPr>
        <p:spPr>
          <a:xfrm>
            <a:off x="1794867" y="6616898"/>
            <a:ext cx="1759148" cy="830461"/>
          </a:xfrm>
          <a:prstGeom prst="roundRect">
            <a:avLst>
              <a:gd name="adj" fmla="val 3303"/>
            </a:avLst>
          </a:prstGeom>
          <a:solidFill>
            <a:srgbClr val="FFFFFF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272" name="Text 251"/>
          <p:cNvSpPr txBox="1"/>
          <p:nvPr/>
        </p:nvSpPr>
        <p:spPr>
          <a:xfrm>
            <a:off x="2152055" y="6643688"/>
            <a:ext cx="1366242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Agent / Candidate 360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(Semantic Data Platform)</a:t>
            </a:r>
            <a:endParaRPr lang="en-US" sz="750" dirty="0"/>
          </a:p>
        </p:txBody>
      </p:sp>
      <p:pic>
        <p:nvPicPr>
          <p:cNvPr id="27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93094" y="6938367"/>
            <a:ext cx="223242" cy="223242"/>
          </a:xfrm>
          <a:prstGeom prst="rect">
            <a:avLst/>
          </a:prstGeom>
        </p:spPr>
      </p:pic>
      <p:sp>
        <p:nvSpPr>
          <p:cNvPr id="274" name="Text 252"/>
          <p:cNvSpPr txBox="1"/>
          <p:nvPr/>
        </p:nvSpPr>
        <p:spPr>
          <a:xfrm>
            <a:off x="2169914" y="6947297"/>
            <a:ext cx="1348383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 |  Agent 360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360  |  Candidate 360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360  |  Consent</a:t>
            </a:r>
            <a:endParaRPr lang="en-US" sz="750" dirty="0"/>
          </a:p>
        </p:txBody>
      </p:sp>
      <p:sp>
        <p:nvSpPr>
          <p:cNvPr id="275" name="Shape 253"/>
          <p:cNvSpPr/>
          <p:nvPr/>
        </p:nvSpPr>
        <p:spPr>
          <a:xfrm>
            <a:off x="3598664" y="6616898"/>
            <a:ext cx="1768078" cy="830461"/>
          </a:xfrm>
          <a:prstGeom prst="roundRect">
            <a:avLst>
              <a:gd name="adj" fmla="val 3303"/>
            </a:avLst>
          </a:prstGeom>
          <a:solidFill>
            <a:srgbClr val="FFFFFF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276" name="Text 254"/>
          <p:cNvSpPr txBox="1"/>
          <p:nvPr/>
        </p:nvSpPr>
        <p:spPr>
          <a:xfrm>
            <a:off x="3955852" y="6643688"/>
            <a:ext cx="1375172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&amp; NBA Platform</a:t>
            </a:r>
            <a:endParaRPr lang="en-US" sz="750" dirty="0"/>
          </a:p>
        </p:txBody>
      </p:sp>
      <p:pic>
        <p:nvPicPr>
          <p:cNvPr id="27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96891" y="6938367"/>
            <a:ext cx="223242" cy="223242"/>
          </a:xfrm>
          <a:prstGeom prst="rect">
            <a:avLst/>
          </a:prstGeom>
        </p:spPr>
      </p:pic>
      <p:sp>
        <p:nvSpPr>
          <p:cNvPr id="278" name="Text 255"/>
          <p:cNvSpPr txBox="1"/>
          <p:nvPr/>
        </p:nvSpPr>
        <p:spPr>
          <a:xfrm>
            <a:off x="3973711" y="6831211"/>
            <a:ext cx="1357313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Analysis  |  Scoring Models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Best Action  |  Next Best Customer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Risk  |  Candidate Assessment</a:t>
            </a:r>
            <a:endParaRPr lang="en-US" sz="600" dirty="0"/>
          </a:p>
        </p:txBody>
      </p:sp>
      <p:sp>
        <p:nvSpPr>
          <p:cNvPr id="279" name="Shape 256"/>
          <p:cNvSpPr/>
          <p:nvPr/>
        </p:nvSpPr>
        <p:spPr>
          <a:xfrm>
            <a:off x="5411391" y="6616898"/>
            <a:ext cx="1589484" cy="830461"/>
          </a:xfrm>
          <a:prstGeom prst="roundRect">
            <a:avLst>
              <a:gd name="adj" fmla="val 3303"/>
            </a:avLst>
          </a:prstGeom>
          <a:solidFill>
            <a:srgbClr val="FFFFFF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280" name="Text 257"/>
          <p:cNvSpPr txBox="1"/>
          <p:nvPr/>
        </p:nvSpPr>
        <p:spPr>
          <a:xfrm>
            <a:off x="5768578" y="6643688"/>
            <a:ext cx="119657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&amp; Work Platform</a:t>
            </a:r>
            <a:endParaRPr lang="en-US" sz="750" dirty="0"/>
          </a:p>
        </p:txBody>
      </p:sp>
      <p:pic>
        <p:nvPicPr>
          <p:cNvPr id="28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09617" y="6938367"/>
            <a:ext cx="223242" cy="223242"/>
          </a:xfrm>
          <a:prstGeom prst="rect">
            <a:avLst/>
          </a:prstGeom>
        </p:spPr>
      </p:pic>
      <p:sp>
        <p:nvSpPr>
          <p:cNvPr id="282" name="Text 258"/>
          <p:cNvSpPr txBox="1"/>
          <p:nvPr/>
        </p:nvSpPr>
        <p:spPr>
          <a:xfrm>
            <a:off x="5786438" y="6831211"/>
            <a:ext cx="1178719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State  |  Work Items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Management  |  Approval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 |  Human + AI Work Queue</a:t>
            </a:r>
            <a:endParaRPr lang="en-US" sz="550" dirty="0"/>
          </a:p>
        </p:txBody>
      </p:sp>
      <p:sp>
        <p:nvSpPr>
          <p:cNvPr id="283" name="Shape 259"/>
          <p:cNvSpPr/>
          <p:nvPr/>
        </p:nvSpPr>
        <p:spPr>
          <a:xfrm>
            <a:off x="7045523" y="6616898"/>
            <a:ext cx="1759148" cy="830461"/>
          </a:xfrm>
          <a:prstGeom prst="roundRect">
            <a:avLst>
              <a:gd name="adj" fmla="val 3303"/>
            </a:avLst>
          </a:prstGeom>
          <a:solidFill>
            <a:srgbClr val="FFFFFF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284" name="Text 260"/>
          <p:cNvSpPr txBox="1"/>
          <p:nvPr/>
        </p:nvSpPr>
        <p:spPr>
          <a:xfrm>
            <a:off x="7402711" y="6643688"/>
            <a:ext cx="1366242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GenAI Platform</a:t>
            </a:r>
            <a:endParaRPr lang="en-US" sz="750" dirty="0"/>
          </a:p>
        </p:txBody>
      </p:sp>
      <p:pic>
        <p:nvPicPr>
          <p:cNvPr id="28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43750" y="6938367"/>
            <a:ext cx="223242" cy="223242"/>
          </a:xfrm>
          <a:prstGeom prst="rect">
            <a:avLst/>
          </a:prstGeom>
        </p:spPr>
      </p:pic>
      <p:sp>
        <p:nvSpPr>
          <p:cNvPr id="286" name="Text 261"/>
          <p:cNvSpPr txBox="1"/>
          <p:nvPr/>
        </p:nvSpPr>
        <p:spPr>
          <a:xfrm>
            <a:off x="7420570" y="6831211"/>
            <a:ext cx="1348383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|  Knowledge Router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  |  Citation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Governance  |  Compliance</a:t>
            </a:r>
            <a:endParaRPr lang="en-US" sz="700" dirty="0"/>
          </a:p>
        </p:txBody>
      </p:sp>
      <p:sp>
        <p:nvSpPr>
          <p:cNvPr id="287" name="Shape 262"/>
          <p:cNvSpPr/>
          <p:nvPr/>
        </p:nvSpPr>
        <p:spPr>
          <a:xfrm>
            <a:off x="8849320" y="6616898"/>
            <a:ext cx="1384102" cy="830461"/>
          </a:xfrm>
          <a:prstGeom prst="roundRect">
            <a:avLst>
              <a:gd name="adj" fmla="val 3303"/>
            </a:avLst>
          </a:prstGeom>
          <a:solidFill>
            <a:srgbClr val="FFFFFF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288" name="Text 263"/>
          <p:cNvSpPr txBox="1"/>
          <p:nvPr/>
        </p:nvSpPr>
        <p:spPr>
          <a:xfrm>
            <a:off x="9206508" y="6643688"/>
            <a:ext cx="99119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Platform</a:t>
            </a:r>
            <a:endParaRPr lang="en-US" sz="750" dirty="0"/>
          </a:p>
        </p:txBody>
      </p:sp>
      <p:pic>
        <p:nvPicPr>
          <p:cNvPr id="28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47547" y="6938367"/>
            <a:ext cx="223242" cy="223242"/>
          </a:xfrm>
          <a:prstGeom prst="rect">
            <a:avLst/>
          </a:prstGeom>
        </p:spPr>
      </p:pic>
      <p:sp>
        <p:nvSpPr>
          <p:cNvPr id="290" name="Text 264"/>
          <p:cNvSpPr txBox="1"/>
          <p:nvPr/>
        </p:nvSpPr>
        <p:spPr>
          <a:xfrm>
            <a:off x="9224367" y="6831211"/>
            <a:ext cx="973336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Management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Messaging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 |  Campaigns</a:t>
            </a:r>
            <a:endParaRPr lang="en-US" sz="550" dirty="0"/>
          </a:p>
        </p:txBody>
      </p:sp>
      <p:sp>
        <p:nvSpPr>
          <p:cNvPr id="291" name="Shape 265"/>
          <p:cNvSpPr/>
          <p:nvPr/>
        </p:nvSpPr>
        <p:spPr>
          <a:xfrm>
            <a:off x="10278070" y="6616898"/>
            <a:ext cx="1660922" cy="830461"/>
          </a:xfrm>
          <a:prstGeom prst="roundRect">
            <a:avLst>
              <a:gd name="adj" fmla="val 3303"/>
            </a:avLst>
          </a:prstGeom>
          <a:solidFill>
            <a:srgbClr val="FFFFFF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292" name="Text 266"/>
          <p:cNvSpPr txBox="1"/>
          <p:nvPr/>
        </p:nvSpPr>
        <p:spPr>
          <a:xfrm>
            <a:off x="10635258" y="6643688"/>
            <a:ext cx="126801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&amp; Learning Platform</a:t>
            </a:r>
            <a:endParaRPr lang="en-US" sz="650" dirty="0"/>
          </a:p>
        </p:txBody>
      </p:sp>
      <p:pic>
        <p:nvPicPr>
          <p:cNvPr id="29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376297" y="6938367"/>
            <a:ext cx="223242" cy="223242"/>
          </a:xfrm>
          <a:prstGeom prst="rect">
            <a:avLst/>
          </a:prstGeom>
        </p:spPr>
      </p:pic>
      <p:sp>
        <p:nvSpPr>
          <p:cNvPr id="294" name="Text 267"/>
          <p:cNvSpPr txBox="1"/>
          <p:nvPr/>
        </p:nvSpPr>
        <p:spPr>
          <a:xfrm>
            <a:off x="10653117" y="6831211"/>
            <a:ext cx="1250156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Model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Content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Management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 Scenarios</a:t>
            </a:r>
            <a:endParaRPr lang="en-US" sz="750" dirty="0"/>
          </a:p>
        </p:txBody>
      </p:sp>
      <p:sp>
        <p:nvSpPr>
          <p:cNvPr id="295" name="Shape 268"/>
          <p:cNvSpPr/>
          <p:nvPr/>
        </p:nvSpPr>
        <p:spPr>
          <a:xfrm>
            <a:off x="11983641" y="6616898"/>
            <a:ext cx="1651992" cy="830461"/>
          </a:xfrm>
          <a:prstGeom prst="roundRect">
            <a:avLst>
              <a:gd name="adj" fmla="val 3303"/>
            </a:avLst>
          </a:prstGeom>
          <a:solidFill>
            <a:srgbClr val="FFFFFF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296" name="Text 269"/>
          <p:cNvSpPr txBox="1"/>
          <p:nvPr/>
        </p:nvSpPr>
        <p:spPr>
          <a:xfrm>
            <a:off x="12340828" y="6643688"/>
            <a:ext cx="125908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Runtime</a:t>
            </a:r>
            <a:endParaRPr lang="en-US" sz="750" dirty="0"/>
          </a:p>
        </p:txBody>
      </p:sp>
      <p:pic>
        <p:nvPicPr>
          <p:cNvPr id="29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081867" y="6938367"/>
            <a:ext cx="223242" cy="223242"/>
          </a:xfrm>
          <a:prstGeom prst="rect">
            <a:avLst/>
          </a:prstGeom>
        </p:spPr>
      </p:pic>
      <p:sp>
        <p:nvSpPr>
          <p:cNvPr id="298" name="Text 270"/>
          <p:cNvSpPr txBox="1"/>
          <p:nvPr/>
        </p:nvSpPr>
        <p:spPr>
          <a:xfrm>
            <a:off x="12358688" y="6831211"/>
            <a:ext cx="1241227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  |  Skill Registry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(MCP) Gateway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 |  Audit  |  Monitor</a:t>
            </a:r>
            <a:endParaRPr lang="en-US" sz="650" dirty="0"/>
          </a:p>
        </p:txBody>
      </p:sp>
      <p:sp>
        <p:nvSpPr>
          <p:cNvPr id="299" name="Shape 271"/>
          <p:cNvSpPr/>
          <p:nvPr/>
        </p:nvSpPr>
        <p:spPr>
          <a:xfrm>
            <a:off x="2192557" y="7465219"/>
            <a:ext cx="0" cy="18752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300" name="Shape 272"/>
          <p:cNvSpPr/>
          <p:nvPr/>
        </p:nvSpPr>
        <p:spPr>
          <a:xfrm>
            <a:off x="1785938" y="7661672"/>
            <a:ext cx="813239" cy="839391"/>
          </a:xfrm>
          <a:prstGeom prst="roundRect">
            <a:avLst>
              <a:gd name="adj" fmla="val 3373"/>
            </a:avLst>
          </a:prstGeom>
          <a:solidFill>
            <a:srgbClr val="E9E4FA"/>
          </a:solidFill>
          <a:ln w="9525">
            <a:solidFill>
              <a:srgbClr val="CFC4F2"/>
            </a:solidFill>
            <a:prstDash val="solid"/>
          </a:ln>
        </p:spPr>
      </p:sp>
      <p:pic>
        <p:nvPicPr>
          <p:cNvPr id="30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067542" y="7750969"/>
            <a:ext cx="250031" cy="250031"/>
          </a:xfrm>
          <a:prstGeom prst="rect">
            <a:avLst/>
          </a:prstGeom>
        </p:spPr>
      </p:pic>
      <p:sp>
        <p:nvSpPr>
          <p:cNvPr id="302" name="Text 273"/>
          <p:cNvSpPr txBox="1"/>
          <p:nvPr/>
        </p:nvSpPr>
        <p:spPr>
          <a:xfrm>
            <a:off x="1794867" y="8054578"/>
            <a:ext cx="79538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750" dirty="0"/>
          </a:p>
        </p:txBody>
      </p:sp>
      <p:sp>
        <p:nvSpPr>
          <p:cNvPr id="303" name="Text 274"/>
          <p:cNvSpPr txBox="1"/>
          <p:nvPr/>
        </p:nvSpPr>
        <p:spPr>
          <a:xfrm>
            <a:off x="1794867" y="8197453"/>
            <a:ext cx="79538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 Management)</a:t>
            </a:r>
            <a:endParaRPr lang="en-US" sz="600" dirty="0"/>
          </a:p>
        </p:txBody>
      </p:sp>
      <p:sp>
        <p:nvSpPr>
          <p:cNvPr id="304" name="Shape 275"/>
          <p:cNvSpPr/>
          <p:nvPr/>
        </p:nvSpPr>
        <p:spPr>
          <a:xfrm>
            <a:off x="3041515" y="7465219"/>
            <a:ext cx="0" cy="18752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305" name="Shape 276"/>
          <p:cNvSpPr/>
          <p:nvPr/>
        </p:nvSpPr>
        <p:spPr>
          <a:xfrm>
            <a:off x="2634896" y="7661672"/>
            <a:ext cx="813239" cy="839391"/>
          </a:xfrm>
          <a:prstGeom prst="roundRect">
            <a:avLst>
              <a:gd name="adj" fmla="val 3373"/>
            </a:avLst>
          </a:prstGeom>
          <a:solidFill>
            <a:srgbClr val="E9E4FA"/>
          </a:solidFill>
          <a:ln w="9525">
            <a:solidFill>
              <a:srgbClr val="CFC4F2"/>
            </a:solidFill>
            <a:prstDash val="solid"/>
          </a:ln>
        </p:spPr>
      </p:sp>
      <p:pic>
        <p:nvPicPr>
          <p:cNvPr id="306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16500" y="7750969"/>
            <a:ext cx="250031" cy="250031"/>
          </a:xfrm>
          <a:prstGeom prst="rect">
            <a:avLst/>
          </a:prstGeom>
        </p:spPr>
      </p:pic>
      <p:sp>
        <p:nvSpPr>
          <p:cNvPr id="307" name="Text 277"/>
          <p:cNvSpPr txBox="1"/>
          <p:nvPr/>
        </p:nvSpPr>
        <p:spPr>
          <a:xfrm>
            <a:off x="2643825" y="8054578"/>
            <a:ext cx="79538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Admin</a:t>
            </a:r>
            <a:endParaRPr lang="en-US" sz="750" dirty="0"/>
          </a:p>
        </p:txBody>
      </p:sp>
      <p:sp>
        <p:nvSpPr>
          <p:cNvPr id="308" name="Text 278"/>
          <p:cNvSpPr txBox="1"/>
          <p:nvPr/>
        </p:nvSpPr>
        <p:spPr>
          <a:xfrm>
            <a:off x="2643825" y="8197453"/>
            <a:ext cx="79538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(Policy System)</a:t>
            </a:r>
            <a:endParaRPr lang="en-US" sz="650" dirty="0"/>
          </a:p>
        </p:txBody>
      </p:sp>
      <p:sp>
        <p:nvSpPr>
          <p:cNvPr id="309" name="Shape 279"/>
          <p:cNvSpPr/>
          <p:nvPr/>
        </p:nvSpPr>
        <p:spPr>
          <a:xfrm>
            <a:off x="3890473" y="7465219"/>
            <a:ext cx="0" cy="18752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310" name="Shape 280"/>
          <p:cNvSpPr/>
          <p:nvPr/>
        </p:nvSpPr>
        <p:spPr>
          <a:xfrm>
            <a:off x="3483854" y="7661672"/>
            <a:ext cx="813239" cy="839391"/>
          </a:xfrm>
          <a:prstGeom prst="roundRect">
            <a:avLst>
              <a:gd name="adj" fmla="val 3373"/>
            </a:avLst>
          </a:prstGeom>
          <a:solidFill>
            <a:srgbClr val="E9E4FA"/>
          </a:solidFill>
          <a:ln w="9525">
            <a:solidFill>
              <a:srgbClr val="CFC4F2"/>
            </a:solidFill>
            <a:prstDash val="solid"/>
          </a:ln>
        </p:spPr>
      </p:sp>
      <p:pic>
        <p:nvPicPr>
          <p:cNvPr id="31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765458" y="7750969"/>
            <a:ext cx="250031" cy="250031"/>
          </a:xfrm>
          <a:prstGeom prst="rect">
            <a:avLst/>
          </a:prstGeom>
        </p:spPr>
      </p:pic>
      <p:sp>
        <p:nvSpPr>
          <p:cNvPr id="312" name="Text 281"/>
          <p:cNvSpPr txBox="1"/>
          <p:nvPr/>
        </p:nvSpPr>
        <p:spPr>
          <a:xfrm>
            <a:off x="3492783" y="8054578"/>
            <a:ext cx="79538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System</a:t>
            </a:r>
            <a:endParaRPr lang="en-US" sz="750" dirty="0"/>
          </a:p>
        </p:txBody>
      </p:sp>
      <p:sp>
        <p:nvSpPr>
          <p:cNvPr id="313" name="Text 282"/>
          <p:cNvSpPr txBox="1"/>
          <p:nvPr/>
        </p:nvSpPr>
        <p:spPr>
          <a:xfrm>
            <a:off x="3492783" y="8197453"/>
            <a:ext cx="79538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(Product Master)</a:t>
            </a:r>
            <a:endParaRPr lang="en-US" sz="650" dirty="0"/>
          </a:p>
        </p:txBody>
      </p:sp>
      <p:sp>
        <p:nvSpPr>
          <p:cNvPr id="314" name="Shape 283"/>
          <p:cNvSpPr/>
          <p:nvPr/>
        </p:nvSpPr>
        <p:spPr>
          <a:xfrm>
            <a:off x="4739432" y="7465219"/>
            <a:ext cx="0" cy="18752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315" name="Shape 284"/>
          <p:cNvSpPr/>
          <p:nvPr/>
        </p:nvSpPr>
        <p:spPr>
          <a:xfrm>
            <a:off x="4332812" y="7661672"/>
            <a:ext cx="813239" cy="839391"/>
          </a:xfrm>
          <a:prstGeom prst="roundRect">
            <a:avLst>
              <a:gd name="adj" fmla="val 3373"/>
            </a:avLst>
          </a:prstGeom>
          <a:solidFill>
            <a:srgbClr val="E9E4FA"/>
          </a:solidFill>
          <a:ln w="9525">
            <a:solidFill>
              <a:srgbClr val="CFC4F2"/>
            </a:solidFill>
            <a:prstDash val="solid"/>
          </a:ln>
        </p:spPr>
      </p:sp>
      <p:pic>
        <p:nvPicPr>
          <p:cNvPr id="316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14416" y="7750969"/>
            <a:ext cx="250031" cy="250031"/>
          </a:xfrm>
          <a:prstGeom prst="rect">
            <a:avLst/>
          </a:prstGeom>
        </p:spPr>
      </p:pic>
      <p:sp>
        <p:nvSpPr>
          <p:cNvPr id="317" name="Text 285"/>
          <p:cNvSpPr txBox="1"/>
          <p:nvPr/>
        </p:nvSpPr>
        <p:spPr>
          <a:xfrm>
            <a:off x="4341742" y="8054578"/>
            <a:ext cx="79538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Engine</a:t>
            </a:r>
            <a:endParaRPr lang="en-US" sz="600" dirty="0"/>
          </a:p>
        </p:txBody>
      </p:sp>
      <p:sp>
        <p:nvSpPr>
          <p:cNvPr id="318" name="Text 286"/>
          <p:cNvSpPr txBox="1"/>
          <p:nvPr/>
        </p:nvSpPr>
        <p:spPr>
          <a:xfrm>
            <a:off x="4341742" y="8197453"/>
            <a:ext cx="79538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(Quote / Illustration)</a:t>
            </a:r>
            <a:endParaRPr lang="en-US" sz="600" dirty="0"/>
          </a:p>
        </p:txBody>
      </p:sp>
      <p:sp>
        <p:nvSpPr>
          <p:cNvPr id="319" name="Shape 287"/>
          <p:cNvSpPr/>
          <p:nvPr/>
        </p:nvSpPr>
        <p:spPr>
          <a:xfrm>
            <a:off x="5588390" y="7465219"/>
            <a:ext cx="0" cy="18752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320" name="Shape 288"/>
          <p:cNvSpPr/>
          <p:nvPr/>
        </p:nvSpPr>
        <p:spPr>
          <a:xfrm>
            <a:off x="5181770" y="7661672"/>
            <a:ext cx="813239" cy="839391"/>
          </a:xfrm>
          <a:prstGeom prst="roundRect">
            <a:avLst>
              <a:gd name="adj" fmla="val 3373"/>
            </a:avLst>
          </a:prstGeom>
          <a:solidFill>
            <a:srgbClr val="E9E4FA"/>
          </a:solidFill>
          <a:ln w="9525">
            <a:solidFill>
              <a:srgbClr val="CFC4F2"/>
            </a:solidFill>
            <a:prstDash val="solid"/>
          </a:ln>
        </p:spPr>
      </p:sp>
      <p:pic>
        <p:nvPicPr>
          <p:cNvPr id="321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463374" y="7750969"/>
            <a:ext cx="250031" cy="250031"/>
          </a:xfrm>
          <a:prstGeom prst="rect">
            <a:avLst/>
          </a:prstGeom>
        </p:spPr>
      </p:pic>
      <p:sp>
        <p:nvSpPr>
          <p:cNvPr id="322" name="Text 289"/>
          <p:cNvSpPr txBox="1"/>
          <p:nvPr/>
        </p:nvSpPr>
        <p:spPr>
          <a:xfrm>
            <a:off x="5190700" y="8054578"/>
            <a:ext cx="79538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</a:t>
            </a:r>
            <a:endParaRPr lang="en-US" sz="750" dirty="0"/>
          </a:p>
        </p:txBody>
      </p:sp>
      <p:sp>
        <p:nvSpPr>
          <p:cNvPr id="323" name="Text 290"/>
          <p:cNvSpPr txBox="1"/>
          <p:nvPr/>
        </p:nvSpPr>
        <p:spPr>
          <a:xfrm>
            <a:off x="5190700" y="8197453"/>
            <a:ext cx="79538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(Application System)</a:t>
            </a:r>
            <a:endParaRPr lang="en-US" sz="650" dirty="0"/>
          </a:p>
        </p:txBody>
      </p:sp>
      <p:sp>
        <p:nvSpPr>
          <p:cNvPr id="324" name="Shape 291"/>
          <p:cNvSpPr/>
          <p:nvPr/>
        </p:nvSpPr>
        <p:spPr>
          <a:xfrm>
            <a:off x="6437348" y="7465219"/>
            <a:ext cx="0" cy="18752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325" name="Shape 292"/>
          <p:cNvSpPr/>
          <p:nvPr/>
        </p:nvSpPr>
        <p:spPr>
          <a:xfrm>
            <a:off x="6030728" y="7661672"/>
            <a:ext cx="813239" cy="839391"/>
          </a:xfrm>
          <a:prstGeom prst="roundRect">
            <a:avLst>
              <a:gd name="adj" fmla="val 3373"/>
            </a:avLst>
          </a:prstGeom>
          <a:solidFill>
            <a:srgbClr val="E9E4FA"/>
          </a:solidFill>
          <a:ln w="9525">
            <a:solidFill>
              <a:srgbClr val="CFC4F2"/>
            </a:solidFill>
            <a:prstDash val="solid"/>
          </a:ln>
        </p:spPr>
      </p:sp>
      <p:pic>
        <p:nvPicPr>
          <p:cNvPr id="32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312332" y="7750969"/>
            <a:ext cx="250031" cy="250031"/>
          </a:xfrm>
          <a:prstGeom prst="rect">
            <a:avLst/>
          </a:prstGeom>
        </p:spPr>
      </p:pic>
      <p:sp>
        <p:nvSpPr>
          <p:cNvPr id="327" name="Text 293"/>
          <p:cNvSpPr txBox="1"/>
          <p:nvPr/>
        </p:nvSpPr>
        <p:spPr>
          <a:xfrm>
            <a:off x="6039658" y="8054578"/>
            <a:ext cx="79538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</a:t>
            </a:r>
            <a:endParaRPr lang="en-US" sz="750" dirty="0"/>
          </a:p>
        </p:txBody>
      </p:sp>
      <p:sp>
        <p:nvSpPr>
          <p:cNvPr id="328" name="Text 294"/>
          <p:cNvSpPr txBox="1"/>
          <p:nvPr/>
        </p:nvSpPr>
        <p:spPr>
          <a:xfrm>
            <a:off x="6039658" y="8197453"/>
            <a:ext cx="79538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(UW System)</a:t>
            </a:r>
            <a:endParaRPr lang="en-US" sz="650" dirty="0"/>
          </a:p>
        </p:txBody>
      </p:sp>
      <p:sp>
        <p:nvSpPr>
          <p:cNvPr id="329" name="Shape 295"/>
          <p:cNvSpPr/>
          <p:nvPr/>
        </p:nvSpPr>
        <p:spPr>
          <a:xfrm>
            <a:off x="7286306" y="7465219"/>
            <a:ext cx="0" cy="18752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330" name="Shape 296"/>
          <p:cNvSpPr/>
          <p:nvPr/>
        </p:nvSpPr>
        <p:spPr>
          <a:xfrm>
            <a:off x="6879686" y="7661672"/>
            <a:ext cx="813239" cy="839391"/>
          </a:xfrm>
          <a:prstGeom prst="roundRect">
            <a:avLst>
              <a:gd name="adj" fmla="val 3373"/>
            </a:avLst>
          </a:prstGeom>
          <a:solidFill>
            <a:srgbClr val="E9E4FA"/>
          </a:solidFill>
          <a:ln w="9525">
            <a:solidFill>
              <a:srgbClr val="CFC4F2"/>
            </a:solidFill>
            <a:prstDash val="solid"/>
          </a:ln>
        </p:spPr>
      </p:sp>
      <p:pic>
        <p:nvPicPr>
          <p:cNvPr id="331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161290" y="7750969"/>
            <a:ext cx="250031" cy="250031"/>
          </a:xfrm>
          <a:prstGeom prst="rect">
            <a:avLst/>
          </a:prstGeom>
        </p:spPr>
      </p:pic>
      <p:sp>
        <p:nvSpPr>
          <p:cNvPr id="332" name="Text 297"/>
          <p:cNvSpPr txBox="1"/>
          <p:nvPr/>
        </p:nvSpPr>
        <p:spPr>
          <a:xfrm>
            <a:off x="6888616" y="8054578"/>
            <a:ext cx="79538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System</a:t>
            </a:r>
            <a:endParaRPr lang="en-US" sz="750" dirty="0"/>
          </a:p>
        </p:txBody>
      </p:sp>
      <p:sp>
        <p:nvSpPr>
          <p:cNvPr id="333" name="Text 298"/>
          <p:cNvSpPr txBox="1"/>
          <p:nvPr/>
        </p:nvSpPr>
        <p:spPr>
          <a:xfrm>
            <a:off x="6888616" y="8197453"/>
            <a:ext cx="79538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(Claims Management)</a:t>
            </a:r>
            <a:endParaRPr lang="en-US" sz="650" dirty="0"/>
          </a:p>
        </p:txBody>
      </p:sp>
      <p:sp>
        <p:nvSpPr>
          <p:cNvPr id="334" name="Shape 299"/>
          <p:cNvSpPr/>
          <p:nvPr/>
        </p:nvSpPr>
        <p:spPr>
          <a:xfrm>
            <a:off x="8135264" y="7465219"/>
            <a:ext cx="0" cy="18752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335" name="Shape 300"/>
          <p:cNvSpPr/>
          <p:nvPr/>
        </p:nvSpPr>
        <p:spPr>
          <a:xfrm>
            <a:off x="7728645" y="7661672"/>
            <a:ext cx="813239" cy="839391"/>
          </a:xfrm>
          <a:prstGeom prst="roundRect">
            <a:avLst>
              <a:gd name="adj" fmla="val 3373"/>
            </a:avLst>
          </a:prstGeom>
          <a:solidFill>
            <a:srgbClr val="E9E4FA"/>
          </a:solidFill>
          <a:ln w="9525">
            <a:solidFill>
              <a:srgbClr val="CFC4F2"/>
            </a:solidFill>
            <a:prstDash val="solid"/>
          </a:ln>
        </p:spPr>
      </p:sp>
      <p:pic>
        <p:nvPicPr>
          <p:cNvPr id="336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010249" y="7750969"/>
            <a:ext cx="250031" cy="250031"/>
          </a:xfrm>
          <a:prstGeom prst="rect">
            <a:avLst/>
          </a:prstGeom>
        </p:spPr>
      </p:pic>
      <p:sp>
        <p:nvSpPr>
          <p:cNvPr id="337" name="Text 301"/>
          <p:cNvSpPr txBox="1"/>
          <p:nvPr/>
        </p:nvSpPr>
        <p:spPr>
          <a:xfrm>
            <a:off x="7737574" y="8054578"/>
            <a:ext cx="79538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600" dirty="0"/>
          </a:p>
        </p:txBody>
      </p:sp>
      <p:sp>
        <p:nvSpPr>
          <p:cNvPr id="338" name="Text 302"/>
          <p:cNvSpPr txBox="1"/>
          <p:nvPr/>
        </p:nvSpPr>
        <p:spPr>
          <a:xfrm>
            <a:off x="7737574" y="8197453"/>
            <a:ext cx="79538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(DMS)</a:t>
            </a:r>
            <a:endParaRPr lang="en-US" sz="650" dirty="0"/>
          </a:p>
        </p:txBody>
      </p:sp>
      <p:sp>
        <p:nvSpPr>
          <p:cNvPr id="339" name="Shape 303"/>
          <p:cNvSpPr/>
          <p:nvPr/>
        </p:nvSpPr>
        <p:spPr>
          <a:xfrm>
            <a:off x="8984222" y="7465219"/>
            <a:ext cx="0" cy="18752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340" name="Shape 304"/>
          <p:cNvSpPr/>
          <p:nvPr/>
        </p:nvSpPr>
        <p:spPr>
          <a:xfrm>
            <a:off x="8577603" y="7661672"/>
            <a:ext cx="813239" cy="839391"/>
          </a:xfrm>
          <a:prstGeom prst="roundRect">
            <a:avLst>
              <a:gd name="adj" fmla="val 3373"/>
            </a:avLst>
          </a:prstGeom>
          <a:solidFill>
            <a:srgbClr val="E9E4FA"/>
          </a:solidFill>
          <a:ln w="9525">
            <a:solidFill>
              <a:srgbClr val="CFC4F2"/>
            </a:solidFill>
            <a:prstDash val="solid"/>
          </a:ln>
        </p:spPr>
      </p:sp>
      <p:pic>
        <p:nvPicPr>
          <p:cNvPr id="341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859207" y="7750969"/>
            <a:ext cx="250031" cy="250031"/>
          </a:xfrm>
          <a:prstGeom prst="rect">
            <a:avLst/>
          </a:prstGeom>
        </p:spPr>
      </p:pic>
      <p:sp>
        <p:nvSpPr>
          <p:cNvPr id="342" name="Text 305"/>
          <p:cNvSpPr txBox="1"/>
          <p:nvPr/>
        </p:nvSpPr>
        <p:spPr>
          <a:xfrm>
            <a:off x="8586532" y="8054578"/>
            <a:ext cx="79538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750" dirty="0"/>
          </a:p>
        </p:txBody>
      </p:sp>
      <p:sp>
        <p:nvSpPr>
          <p:cNvPr id="343" name="Text 306"/>
          <p:cNvSpPr txBox="1"/>
          <p:nvPr/>
        </p:nvSpPr>
        <p:spPr>
          <a:xfrm>
            <a:off x="8586532" y="8197453"/>
            <a:ext cx="79538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(DWH / Lakehouse)</a:t>
            </a:r>
            <a:endParaRPr lang="en-US" sz="650" dirty="0"/>
          </a:p>
        </p:txBody>
      </p:sp>
      <p:sp>
        <p:nvSpPr>
          <p:cNvPr id="344" name="Shape 307"/>
          <p:cNvSpPr/>
          <p:nvPr/>
        </p:nvSpPr>
        <p:spPr>
          <a:xfrm>
            <a:off x="9833181" y="7465219"/>
            <a:ext cx="0" cy="18752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345" name="Shape 308"/>
          <p:cNvSpPr/>
          <p:nvPr/>
        </p:nvSpPr>
        <p:spPr>
          <a:xfrm>
            <a:off x="9426561" y="7661672"/>
            <a:ext cx="813239" cy="839391"/>
          </a:xfrm>
          <a:prstGeom prst="roundRect">
            <a:avLst>
              <a:gd name="adj" fmla="val 3373"/>
            </a:avLst>
          </a:prstGeom>
          <a:solidFill>
            <a:srgbClr val="E9E4FA"/>
          </a:solidFill>
          <a:ln w="9525">
            <a:solidFill>
              <a:srgbClr val="CFC4F2"/>
            </a:solidFill>
            <a:prstDash val="solid"/>
          </a:ln>
        </p:spPr>
      </p:sp>
      <p:pic>
        <p:nvPicPr>
          <p:cNvPr id="34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708165" y="7750969"/>
            <a:ext cx="250031" cy="250031"/>
          </a:xfrm>
          <a:prstGeom prst="rect">
            <a:avLst/>
          </a:prstGeom>
        </p:spPr>
      </p:pic>
      <p:sp>
        <p:nvSpPr>
          <p:cNvPr id="347" name="Text 309"/>
          <p:cNvSpPr txBox="1"/>
          <p:nvPr/>
        </p:nvSpPr>
        <p:spPr>
          <a:xfrm>
            <a:off x="9435491" y="8054578"/>
            <a:ext cx="79538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</a:t>
            </a:r>
            <a:endParaRPr lang="en-US" sz="750" dirty="0"/>
          </a:p>
        </p:txBody>
      </p:sp>
      <p:sp>
        <p:nvSpPr>
          <p:cNvPr id="348" name="Text 310"/>
          <p:cNvSpPr txBox="1"/>
          <p:nvPr/>
        </p:nvSpPr>
        <p:spPr>
          <a:xfrm>
            <a:off x="9435491" y="8197453"/>
            <a:ext cx="79538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(Learning System)</a:t>
            </a:r>
            <a:endParaRPr lang="en-US" sz="650" dirty="0"/>
          </a:p>
        </p:txBody>
      </p:sp>
      <p:sp>
        <p:nvSpPr>
          <p:cNvPr id="349" name="Shape 311"/>
          <p:cNvSpPr/>
          <p:nvPr/>
        </p:nvSpPr>
        <p:spPr>
          <a:xfrm>
            <a:off x="10682139" y="7465219"/>
            <a:ext cx="0" cy="18752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350" name="Shape 312"/>
          <p:cNvSpPr/>
          <p:nvPr/>
        </p:nvSpPr>
        <p:spPr>
          <a:xfrm>
            <a:off x="10275519" y="7661672"/>
            <a:ext cx="813239" cy="839391"/>
          </a:xfrm>
          <a:prstGeom prst="roundRect">
            <a:avLst>
              <a:gd name="adj" fmla="val 3373"/>
            </a:avLst>
          </a:prstGeom>
          <a:solidFill>
            <a:srgbClr val="E9E4FA"/>
          </a:solidFill>
          <a:ln w="9525">
            <a:solidFill>
              <a:srgbClr val="CFC4F2"/>
            </a:solidFill>
            <a:prstDash val="solid"/>
          </a:ln>
        </p:spPr>
      </p:sp>
      <p:pic>
        <p:nvPicPr>
          <p:cNvPr id="351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557123" y="7750969"/>
            <a:ext cx="250031" cy="250031"/>
          </a:xfrm>
          <a:prstGeom prst="rect">
            <a:avLst/>
          </a:prstGeom>
        </p:spPr>
      </p:pic>
      <p:sp>
        <p:nvSpPr>
          <p:cNvPr id="352" name="Text 313"/>
          <p:cNvSpPr txBox="1"/>
          <p:nvPr/>
        </p:nvSpPr>
        <p:spPr>
          <a:xfrm>
            <a:off x="10284449" y="8054578"/>
            <a:ext cx="79538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750" dirty="0"/>
          </a:p>
        </p:txBody>
      </p:sp>
      <p:sp>
        <p:nvSpPr>
          <p:cNvPr id="353" name="Text 314"/>
          <p:cNvSpPr txBox="1"/>
          <p:nvPr/>
        </p:nvSpPr>
        <p:spPr>
          <a:xfrm>
            <a:off x="10284449" y="8197453"/>
            <a:ext cx="79538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 / LINE / WhatsApp)</a:t>
            </a:r>
            <a:endParaRPr lang="en-US" sz="500" dirty="0"/>
          </a:p>
        </p:txBody>
      </p:sp>
      <p:sp>
        <p:nvSpPr>
          <p:cNvPr id="354" name="Shape 315"/>
          <p:cNvSpPr/>
          <p:nvPr/>
        </p:nvSpPr>
        <p:spPr>
          <a:xfrm>
            <a:off x="11531097" y="7465219"/>
            <a:ext cx="0" cy="18752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355" name="Shape 316"/>
          <p:cNvSpPr/>
          <p:nvPr/>
        </p:nvSpPr>
        <p:spPr>
          <a:xfrm>
            <a:off x="11124477" y="7661672"/>
            <a:ext cx="813239" cy="839391"/>
          </a:xfrm>
          <a:prstGeom prst="roundRect">
            <a:avLst>
              <a:gd name="adj" fmla="val 3373"/>
            </a:avLst>
          </a:prstGeom>
          <a:solidFill>
            <a:srgbClr val="E9E4FA"/>
          </a:solidFill>
          <a:ln w="9525">
            <a:solidFill>
              <a:srgbClr val="CFC4F2"/>
            </a:solidFill>
            <a:prstDash val="solid"/>
          </a:ln>
        </p:spPr>
      </p:sp>
      <p:pic>
        <p:nvPicPr>
          <p:cNvPr id="356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406081" y="7750969"/>
            <a:ext cx="250031" cy="250031"/>
          </a:xfrm>
          <a:prstGeom prst="rect">
            <a:avLst/>
          </a:prstGeom>
        </p:spPr>
      </p:pic>
      <p:sp>
        <p:nvSpPr>
          <p:cNvPr id="357" name="Text 317"/>
          <p:cNvSpPr txBox="1"/>
          <p:nvPr/>
        </p:nvSpPr>
        <p:spPr>
          <a:xfrm>
            <a:off x="11133407" y="8054578"/>
            <a:ext cx="79538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700" dirty="0"/>
          </a:p>
        </p:txBody>
      </p:sp>
      <p:sp>
        <p:nvSpPr>
          <p:cNvPr id="358" name="Text 318"/>
          <p:cNvSpPr txBox="1"/>
          <p:nvPr/>
        </p:nvSpPr>
        <p:spPr>
          <a:xfrm>
            <a:off x="11133407" y="8197453"/>
            <a:ext cx="79538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(IAM / SSO)</a:t>
            </a:r>
            <a:endParaRPr lang="en-US" sz="650" dirty="0"/>
          </a:p>
        </p:txBody>
      </p:sp>
      <p:sp>
        <p:nvSpPr>
          <p:cNvPr id="359" name="Shape 319"/>
          <p:cNvSpPr/>
          <p:nvPr/>
        </p:nvSpPr>
        <p:spPr>
          <a:xfrm>
            <a:off x="12380055" y="7465219"/>
            <a:ext cx="0" cy="18752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360" name="Shape 320"/>
          <p:cNvSpPr/>
          <p:nvPr/>
        </p:nvSpPr>
        <p:spPr>
          <a:xfrm>
            <a:off x="11973435" y="7661672"/>
            <a:ext cx="813239" cy="839391"/>
          </a:xfrm>
          <a:prstGeom prst="roundRect">
            <a:avLst>
              <a:gd name="adj" fmla="val 3373"/>
            </a:avLst>
          </a:prstGeom>
          <a:solidFill>
            <a:srgbClr val="E9E4FA"/>
          </a:solidFill>
          <a:ln w="9525">
            <a:solidFill>
              <a:srgbClr val="CFC4F2"/>
            </a:solidFill>
            <a:prstDash val="solid"/>
          </a:ln>
        </p:spPr>
      </p:sp>
      <p:pic>
        <p:nvPicPr>
          <p:cNvPr id="361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2255039" y="7750969"/>
            <a:ext cx="250031" cy="250031"/>
          </a:xfrm>
          <a:prstGeom prst="rect">
            <a:avLst/>
          </a:prstGeom>
        </p:spPr>
      </p:pic>
      <p:sp>
        <p:nvSpPr>
          <p:cNvPr id="362" name="Text 321"/>
          <p:cNvSpPr txBox="1"/>
          <p:nvPr/>
        </p:nvSpPr>
        <p:spPr>
          <a:xfrm>
            <a:off x="11982365" y="8054578"/>
            <a:ext cx="79538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750" dirty="0"/>
          </a:p>
        </p:txBody>
      </p:sp>
      <p:sp>
        <p:nvSpPr>
          <p:cNvPr id="363" name="Text 322"/>
          <p:cNvSpPr txBox="1"/>
          <p:nvPr/>
        </p:nvSpPr>
        <p:spPr>
          <a:xfrm>
            <a:off x="11982365" y="8197453"/>
            <a:ext cx="79538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(Microsoft 365)</a:t>
            </a:r>
            <a:endParaRPr lang="en-US" sz="650" dirty="0"/>
          </a:p>
        </p:txBody>
      </p:sp>
      <p:sp>
        <p:nvSpPr>
          <p:cNvPr id="364" name="Shape 323"/>
          <p:cNvSpPr/>
          <p:nvPr/>
        </p:nvSpPr>
        <p:spPr>
          <a:xfrm>
            <a:off x="13229013" y="7465219"/>
            <a:ext cx="0" cy="187523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headEnd type="none"/>
            <a:tailEnd type="triangle"/>
          </a:ln>
        </p:spPr>
      </p:sp>
      <p:sp>
        <p:nvSpPr>
          <p:cNvPr id="365" name="Shape 324"/>
          <p:cNvSpPr/>
          <p:nvPr/>
        </p:nvSpPr>
        <p:spPr>
          <a:xfrm>
            <a:off x="12822393" y="7661672"/>
            <a:ext cx="813239" cy="839391"/>
          </a:xfrm>
          <a:prstGeom prst="roundRect">
            <a:avLst>
              <a:gd name="adj" fmla="val 3373"/>
            </a:avLst>
          </a:prstGeom>
          <a:solidFill>
            <a:srgbClr val="E9E4FA"/>
          </a:solidFill>
          <a:ln w="9525">
            <a:solidFill>
              <a:srgbClr val="CFC4F2"/>
            </a:solidFill>
            <a:prstDash val="solid"/>
          </a:ln>
        </p:spPr>
      </p:sp>
      <p:pic>
        <p:nvPicPr>
          <p:cNvPr id="366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103997" y="7750969"/>
            <a:ext cx="250031" cy="250031"/>
          </a:xfrm>
          <a:prstGeom prst="rect">
            <a:avLst/>
          </a:prstGeom>
        </p:spPr>
      </p:pic>
      <p:sp>
        <p:nvSpPr>
          <p:cNvPr id="367" name="Text 325"/>
          <p:cNvSpPr txBox="1"/>
          <p:nvPr/>
        </p:nvSpPr>
        <p:spPr>
          <a:xfrm>
            <a:off x="12831323" y="8054578"/>
            <a:ext cx="79538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Partner</a:t>
            </a:r>
            <a:endParaRPr lang="en-US" sz="750" dirty="0"/>
          </a:p>
        </p:txBody>
      </p:sp>
      <p:sp>
        <p:nvSpPr>
          <p:cNvPr id="368" name="Text 326"/>
          <p:cNvSpPr txBox="1"/>
          <p:nvPr/>
        </p:nvSpPr>
        <p:spPr>
          <a:xfrm>
            <a:off x="12831323" y="8197453"/>
            <a:ext cx="79538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needed)</a:t>
            </a:r>
            <a:endParaRPr lang="en-US" sz="650" dirty="0"/>
          </a:p>
        </p:txBody>
      </p:sp>
      <p:sp>
        <p:nvSpPr>
          <p:cNvPr id="369" name="Shape 327"/>
          <p:cNvSpPr/>
          <p:nvPr/>
        </p:nvSpPr>
        <p:spPr>
          <a:xfrm>
            <a:off x="62508" y="8688586"/>
            <a:ext cx="13599914" cy="348258"/>
          </a:xfrm>
          <a:prstGeom prst="roundRect">
            <a:avLst>
              <a:gd name="adj" fmla="val 10503"/>
            </a:avLst>
          </a:prstGeom>
          <a:solidFill>
            <a:srgbClr val="F4F6FA"/>
          </a:solidFill>
          <a:ln/>
        </p:spPr>
      </p:sp>
      <p:sp>
        <p:nvSpPr>
          <p:cNvPr id="370" name="Text 328"/>
          <p:cNvSpPr txBox="1"/>
          <p:nvPr/>
        </p:nvSpPr>
        <p:spPr>
          <a:xfrm>
            <a:off x="160734" y="8688586"/>
            <a:ext cx="642938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1000" dirty="0"/>
          </a:p>
        </p:txBody>
      </p:sp>
      <p:sp>
        <p:nvSpPr>
          <p:cNvPr id="371" name="Shape 329"/>
          <p:cNvSpPr/>
          <p:nvPr/>
        </p:nvSpPr>
        <p:spPr>
          <a:xfrm>
            <a:off x="866180" y="8786813"/>
            <a:ext cx="250031" cy="142875"/>
          </a:xfrm>
          <a:prstGeom prst="roundRect">
            <a:avLst>
              <a:gd name="adj" fmla="val 12800"/>
            </a:avLst>
          </a:prstGeom>
          <a:solidFill>
            <a:srgbClr val="BFDDF7"/>
          </a:solidFill>
          <a:ln/>
        </p:spPr>
      </p:sp>
      <p:sp>
        <p:nvSpPr>
          <p:cNvPr id="372" name="Text 330"/>
          <p:cNvSpPr txBox="1"/>
          <p:nvPr/>
        </p:nvSpPr>
        <p:spPr>
          <a:xfrm>
            <a:off x="1205508" y="8688586"/>
            <a:ext cx="198239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</a:t>
            </a:r>
            <a:endParaRPr lang="en-US" sz="800" dirty="0"/>
          </a:p>
        </p:txBody>
      </p:sp>
      <p:sp>
        <p:nvSpPr>
          <p:cNvPr id="373" name="Shape 331"/>
          <p:cNvSpPr/>
          <p:nvPr/>
        </p:nvSpPr>
        <p:spPr>
          <a:xfrm>
            <a:off x="2277070" y="8786813"/>
            <a:ext cx="250031" cy="142875"/>
          </a:xfrm>
          <a:prstGeom prst="roundRect">
            <a:avLst>
              <a:gd name="adj" fmla="val 12800"/>
            </a:avLst>
          </a:prstGeom>
          <a:solidFill>
            <a:srgbClr val="D3C8F5"/>
          </a:solidFill>
          <a:ln/>
        </p:spPr>
      </p:sp>
      <p:sp>
        <p:nvSpPr>
          <p:cNvPr id="374" name="Text 332"/>
          <p:cNvSpPr txBox="1"/>
          <p:nvPr/>
        </p:nvSpPr>
        <p:spPr>
          <a:xfrm>
            <a:off x="2616398" y="8688586"/>
            <a:ext cx="198239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800" dirty="0"/>
          </a:p>
        </p:txBody>
      </p:sp>
      <p:sp>
        <p:nvSpPr>
          <p:cNvPr id="375" name="Shape 333"/>
          <p:cNvSpPr/>
          <p:nvPr/>
        </p:nvSpPr>
        <p:spPr>
          <a:xfrm>
            <a:off x="3143250" y="8786813"/>
            <a:ext cx="250031" cy="142875"/>
          </a:xfrm>
          <a:prstGeom prst="roundRect">
            <a:avLst>
              <a:gd name="adj" fmla="val 12800"/>
            </a:avLst>
          </a:prstGeom>
          <a:solidFill>
            <a:srgbClr val="FBE3A6"/>
          </a:solidFill>
          <a:ln/>
        </p:spPr>
      </p:sp>
      <p:sp>
        <p:nvSpPr>
          <p:cNvPr id="376" name="Text 334"/>
          <p:cNvSpPr txBox="1"/>
          <p:nvPr/>
        </p:nvSpPr>
        <p:spPr>
          <a:xfrm>
            <a:off x="3482578" y="8688586"/>
            <a:ext cx="198239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800" dirty="0"/>
          </a:p>
        </p:txBody>
      </p:sp>
      <p:sp>
        <p:nvSpPr>
          <p:cNvPr id="377" name="Shape 335"/>
          <p:cNvSpPr/>
          <p:nvPr/>
        </p:nvSpPr>
        <p:spPr>
          <a:xfrm>
            <a:off x="3902273" y="8786813"/>
            <a:ext cx="250031" cy="142875"/>
          </a:xfrm>
          <a:prstGeom prst="roundRect">
            <a:avLst>
              <a:gd name="adj" fmla="val 12800"/>
            </a:avLst>
          </a:prstGeom>
          <a:solidFill>
            <a:srgbClr val="CDEFD3"/>
          </a:solidFill>
          <a:ln/>
        </p:spPr>
      </p:sp>
      <p:sp>
        <p:nvSpPr>
          <p:cNvPr id="378" name="Text 336"/>
          <p:cNvSpPr txBox="1"/>
          <p:nvPr/>
        </p:nvSpPr>
        <p:spPr>
          <a:xfrm>
            <a:off x="4241602" y="8688586"/>
            <a:ext cx="198239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(MCP)</a:t>
            </a:r>
            <a:endParaRPr lang="en-US" sz="800" dirty="0"/>
          </a:p>
        </p:txBody>
      </p:sp>
      <p:sp>
        <p:nvSpPr>
          <p:cNvPr id="379" name="Shape 337"/>
          <p:cNvSpPr/>
          <p:nvPr/>
        </p:nvSpPr>
        <p:spPr>
          <a:xfrm>
            <a:off x="4938117" y="8786813"/>
            <a:ext cx="250031" cy="142875"/>
          </a:xfrm>
          <a:prstGeom prst="roundRect">
            <a:avLst>
              <a:gd name="adj" fmla="val 12800"/>
            </a:avLst>
          </a:prstGeom>
          <a:solidFill>
            <a:srgbClr val="BFE0F5"/>
          </a:solidFill>
          <a:ln/>
        </p:spPr>
      </p:sp>
      <p:sp>
        <p:nvSpPr>
          <p:cNvPr id="380" name="Text 338"/>
          <p:cNvSpPr txBox="1"/>
          <p:nvPr/>
        </p:nvSpPr>
        <p:spPr>
          <a:xfrm>
            <a:off x="5277445" y="8688586"/>
            <a:ext cx="198239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 (New / Enhanced)</a:t>
            </a:r>
            <a:endParaRPr lang="en-US" sz="800" dirty="0"/>
          </a:p>
        </p:txBody>
      </p:sp>
      <p:sp>
        <p:nvSpPr>
          <p:cNvPr id="381" name="Shape 339"/>
          <p:cNvSpPr/>
          <p:nvPr/>
        </p:nvSpPr>
        <p:spPr>
          <a:xfrm>
            <a:off x="7045523" y="8786813"/>
            <a:ext cx="250031" cy="142875"/>
          </a:xfrm>
          <a:prstGeom prst="roundRect">
            <a:avLst>
              <a:gd name="adj" fmla="val 12800"/>
            </a:avLst>
          </a:prstGeom>
          <a:solidFill>
            <a:srgbClr val="D9DDE3"/>
          </a:solidFill>
          <a:ln/>
        </p:spPr>
      </p:sp>
      <p:sp>
        <p:nvSpPr>
          <p:cNvPr id="382" name="Text 340"/>
          <p:cNvSpPr txBox="1"/>
          <p:nvPr/>
        </p:nvSpPr>
        <p:spPr>
          <a:xfrm>
            <a:off x="7384852" y="8688586"/>
            <a:ext cx="198239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800" dirty="0"/>
          </a:p>
        </p:txBody>
      </p:sp>
      <p:sp>
        <p:nvSpPr>
          <p:cNvPr id="383" name="Shape 341"/>
          <p:cNvSpPr/>
          <p:nvPr/>
        </p:nvSpPr>
        <p:spPr>
          <a:xfrm>
            <a:off x="8376047" y="8858250"/>
            <a:ext cx="357188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384" name="Text 342"/>
          <p:cNvSpPr txBox="1"/>
          <p:nvPr/>
        </p:nvSpPr>
        <p:spPr>
          <a:xfrm>
            <a:off x="8822531" y="8688586"/>
            <a:ext cx="160734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Invocation</a:t>
            </a:r>
            <a:endParaRPr lang="en-US" sz="800" dirty="0"/>
          </a:p>
        </p:txBody>
      </p:sp>
      <p:sp>
        <p:nvSpPr>
          <p:cNvPr id="385" name="Shape 343"/>
          <p:cNvSpPr/>
          <p:nvPr/>
        </p:nvSpPr>
        <p:spPr>
          <a:xfrm>
            <a:off x="9590484" y="8858250"/>
            <a:ext cx="357188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dash"/>
            <a:tailEnd type="triangle"/>
          </a:ln>
        </p:spPr>
      </p:sp>
      <p:sp>
        <p:nvSpPr>
          <p:cNvPr id="386" name="Text 344"/>
          <p:cNvSpPr txBox="1"/>
          <p:nvPr/>
        </p:nvSpPr>
        <p:spPr>
          <a:xfrm>
            <a:off x="10036969" y="8688586"/>
            <a:ext cx="160734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800" dirty="0"/>
          </a:p>
        </p:txBody>
      </p:sp>
      <p:sp>
        <p:nvSpPr>
          <p:cNvPr id="387" name="Shape 345"/>
          <p:cNvSpPr/>
          <p:nvPr/>
        </p:nvSpPr>
        <p:spPr>
          <a:xfrm>
            <a:off x="10778133" y="8858250"/>
            <a:ext cx="357188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ysDash"/>
            <a:tailEnd type="triangle"/>
          </a:ln>
        </p:spPr>
      </p:sp>
      <p:sp>
        <p:nvSpPr>
          <p:cNvPr id="388" name="Text 346"/>
          <p:cNvSpPr txBox="1"/>
          <p:nvPr/>
        </p:nvSpPr>
        <p:spPr>
          <a:xfrm>
            <a:off x="11224617" y="8688586"/>
            <a:ext cx="160734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/ Depends 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508" y="26789"/>
            <a:ext cx="13599914" cy="357188"/>
          </a:xfrm>
          <a:prstGeom prst="roundRect">
            <a:avLst>
              <a:gd name="adj" fmla="val 7680"/>
            </a:avLst>
          </a:prstGeom>
          <a:solidFill>
            <a:srgbClr val="0B2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508" y="26789"/>
            <a:ext cx="1359991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 Main Agent (Workbench Orchestrator)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Skills → MCP Tools → Shared Platforms → Data &amp; Enterprise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508" y="473273"/>
            <a:ext cx="13599914" cy="759023"/>
          </a:xfrm>
          <a:prstGeom prst="roundRect">
            <a:avLst>
              <a:gd name="adj" fmla="val 4819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172" y="642938"/>
            <a:ext cx="410766" cy="4107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5813" y="535781"/>
            <a:ext cx="725090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Agent (Workbench Orchestrator)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85813" y="794742"/>
            <a:ext cx="725090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Application:  </a:t>
            </a:r>
            <a:pPr algn="l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— all 3 Business Applications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85813" y="955477"/>
            <a:ext cx="823317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intent, plans and orchestrates; delegates multi-turn work to specialized Agents and invokes Skills directly where no dedicated Agent exists.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9197578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97578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9197578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0072688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72688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0072688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0947797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47797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0947797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1822906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822906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1822906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2698016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698016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2698016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enhanced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62508" y="1321594"/>
            <a:ext cx="1276945" cy="250031"/>
          </a:xfrm>
          <a:prstGeom prst="roundRect">
            <a:avLst>
              <a:gd name="adj" fmla="val 10971"/>
            </a:avLst>
          </a:prstGeom>
          <a:solidFill>
            <a:srgbClr val="E6E0F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2508" y="1321594"/>
            <a:ext cx="1276945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Group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464469" y="1321594"/>
            <a:ext cx="3214688" cy="250031"/>
          </a:xfrm>
          <a:prstGeom prst="roundRect">
            <a:avLst>
              <a:gd name="adj" fmla="val 10971"/>
            </a:avLst>
          </a:prstGeom>
          <a:solidFill>
            <a:srgbClr val="F6DE9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464469" y="1321594"/>
            <a:ext cx="3214688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Skills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bounded capability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875609" y="1321594"/>
            <a:ext cx="3393281" cy="250031"/>
          </a:xfrm>
          <a:prstGeom prst="roundRect">
            <a:avLst>
              <a:gd name="adj" fmla="val 10971"/>
            </a:avLst>
          </a:prstGeom>
          <a:solidFill>
            <a:srgbClr val="B9E6C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875609" y="1321594"/>
            <a:ext cx="3393281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MCP / AI Tools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governed execution &amp; data access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8465344" y="1321594"/>
            <a:ext cx="2214563" cy="250031"/>
          </a:xfrm>
          <a:prstGeom prst="roundRect">
            <a:avLst>
              <a:gd name="adj" fmla="val 10971"/>
            </a:avLst>
          </a:prstGeom>
          <a:solidFill>
            <a:srgbClr val="B8D6F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465344" y="1321594"/>
            <a:ext cx="22145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Shared Platform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API / capability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10876359" y="1321594"/>
            <a:ext cx="2786063" cy="250031"/>
          </a:xfrm>
          <a:prstGeom prst="roundRect">
            <a:avLst>
              <a:gd name="adj" fmla="val 10971"/>
            </a:avLst>
          </a:prstGeom>
          <a:solidFill>
            <a:srgbClr val="D3C8F5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876359" y="1321594"/>
            <a:ext cx="27860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Data &amp; Enterprise Systems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existing + new / enhanced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2508" y="1643063"/>
            <a:ext cx="1276945" cy="1206320"/>
          </a:xfrm>
          <a:prstGeom prst="roundRect">
            <a:avLst>
              <a:gd name="adj" fmla="val 2274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33945" y="1643063"/>
            <a:ext cx="1169789" cy="120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&amp; Lifecycle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specialized agents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1464469" y="1643063"/>
            <a:ext cx="3214688" cy="1206320"/>
          </a:xfrm>
          <a:prstGeom prst="roundRect">
            <a:avLst>
              <a:gd name="adj" fmla="val 1516"/>
            </a:avLst>
          </a:prstGeom>
          <a:solidFill>
            <a:srgbClr val="FDF4DE"/>
          </a:solidFill>
          <a:ln/>
        </p:spPr>
      </p:sp>
      <p:sp>
        <p:nvSpPr>
          <p:cNvPr id="37" name="Text 34"/>
          <p:cNvSpPr/>
          <p:nvPr/>
        </p:nvSpPr>
        <p:spPr>
          <a:xfrm>
            <a:off x="1535906" y="1732359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4A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Advisory Agent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3107531" y="1732359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4A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Agent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535906" y="2002685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4A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 Agent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3107531" y="2002685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4A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Coaching Agent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1535906" y="2273011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4A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4875609" y="1643063"/>
            <a:ext cx="3393281" cy="1206320"/>
          </a:xfrm>
          <a:prstGeom prst="roundRect">
            <a:avLst>
              <a:gd name="adj" fmla="val 1516"/>
            </a:avLst>
          </a:prstGeom>
          <a:solidFill>
            <a:srgbClr val="E4F6EA"/>
          </a:solidFill>
          <a:ln/>
        </p:spPr>
      </p:sp>
      <p:sp>
        <p:nvSpPr>
          <p:cNvPr id="43" name="Text 40"/>
          <p:cNvSpPr/>
          <p:nvPr/>
        </p:nvSpPr>
        <p:spPr>
          <a:xfrm>
            <a:off x="4947047" y="1732359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start_agent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607969" y="1732359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send_agent_turn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947047" y="2002685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suspend_agent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607969" y="2002685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resume_agent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947047" y="2273011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end_agent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607969" y="2273011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get_agent_status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705945" y="2246222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8465344" y="1643063"/>
            <a:ext cx="2214563" cy="1206320"/>
          </a:xfrm>
          <a:prstGeom prst="roundRect">
            <a:avLst>
              <a:gd name="adj" fmla="val 1516"/>
            </a:avLst>
          </a:prstGeom>
          <a:solidFill>
            <a:srgbClr val="E3EEFB"/>
          </a:solidFill>
          <a:ln/>
        </p:spPr>
      </p:sp>
      <p:sp>
        <p:nvSpPr>
          <p:cNvPr id="51" name="Text 48"/>
          <p:cNvSpPr/>
          <p:nvPr/>
        </p:nvSpPr>
        <p:spPr>
          <a:xfrm>
            <a:off x="8536781" y="1732359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Runtime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8536781" y="2002685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Lifecycle · Interrupt / Resume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8536781" y="2273011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· Guardrails · Audit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8295680" y="2246222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10876359" y="1643063"/>
            <a:ext cx="2786063" cy="1206320"/>
          </a:xfrm>
          <a:prstGeom prst="roundRect">
            <a:avLst>
              <a:gd name="adj" fmla="val 1516"/>
            </a:avLst>
          </a:prstGeom>
          <a:solidFill>
            <a:srgbClr val="F3F0FB"/>
          </a:solidFill>
          <a:ln/>
        </p:spPr>
      </p:sp>
      <p:sp>
        <p:nvSpPr>
          <p:cNvPr id="56" name="Text 53"/>
          <p:cNvSpPr/>
          <p:nvPr/>
        </p:nvSpPr>
        <p:spPr>
          <a:xfrm>
            <a:off x="10947797" y="1732359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/ SSO / IAM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12305109" y="1732359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10947797" y="2002685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2305109" y="2002685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/ Tool Registry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10947797" y="2273011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12305109" y="2273011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Policy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10947797" y="2543337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MCP Gateway</a:t>
            </a:r>
            <a:endParaRPr lang="en-US" sz="700" dirty="0"/>
          </a:p>
        </p:txBody>
      </p:sp>
      <p:sp>
        <p:nvSpPr>
          <p:cNvPr id="63" name="Text 60"/>
          <p:cNvSpPr/>
          <p:nvPr/>
        </p:nvSpPr>
        <p:spPr>
          <a:xfrm>
            <a:off x="12305109" y="2543337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Agent Gateway</a:t>
            </a:r>
            <a:endParaRPr lang="en-US" sz="700" dirty="0"/>
          </a:p>
        </p:txBody>
      </p:sp>
      <p:sp>
        <p:nvSpPr>
          <p:cNvPr id="64" name="Shape 61"/>
          <p:cNvSpPr/>
          <p:nvPr/>
        </p:nvSpPr>
        <p:spPr>
          <a:xfrm>
            <a:off x="10706695" y="2246222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65" name="Shape 62"/>
          <p:cNvSpPr/>
          <p:nvPr/>
        </p:nvSpPr>
        <p:spPr>
          <a:xfrm>
            <a:off x="62508" y="2920820"/>
            <a:ext cx="1276945" cy="1206320"/>
          </a:xfrm>
          <a:prstGeom prst="roundRect">
            <a:avLst>
              <a:gd name="adj" fmla="val 2274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33945" y="2920820"/>
            <a:ext cx="1169789" cy="120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Workbench &amp; Knowledge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skills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1464469" y="2920820"/>
            <a:ext cx="3214688" cy="1206320"/>
          </a:xfrm>
          <a:prstGeom prst="roundRect">
            <a:avLst>
              <a:gd name="adj" fmla="val 1516"/>
            </a:avLst>
          </a:prstGeom>
          <a:solidFill>
            <a:srgbClr val="FDF4DE"/>
          </a:solidFill>
          <a:ln/>
        </p:spPr>
      </p:sp>
      <p:sp>
        <p:nvSpPr>
          <p:cNvPr id="68" name="Text 65"/>
          <p:cNvSpPr/>
          <p:nvPr/>
        </p:nvSpPr>
        <p:spPr>
          <a:xfrm>
            <a:off x="1535906" y="3010116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morning-brief</a:t>
            </a:r>
            <a:endParaRPr lang="en-US" sz="650" dirty="0"/>
          </a:p>
        </p:txBody>
      </p:sp>
      <p:sp>
        <p:nvSpPr>
          <p:cNvPr id="69" name="Text 66"/>
          <p:cNvSpPr/>
          <p:nvPr/>
        </p:nvSpPr>
        <p:spPr>
          <a:xfrm>
            <a:off x="3107531" y="3010116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today-plan</a:t>
            </a:r>
            <a:endParaRPr lang="en-US" sz="650" dirty="0"/>
          </a:p>
        </p:txBody>
      </p:sp>
      <p:sp>
        <p:nvSpPr>
          <p:cNvPr id="70" name="Text 67"/>
          <p:cNvSpPr/>
          <p:nvPr/>
        </p:nvSpPr>
        <p:spPr>
          <a:xfrm>
            <a:off x="1535906" y="3280442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knowledge-answer</a:t>
            </a:r>
            <a:endParaRPr lang="en-US" sz="650" dirty="0"/>
          </a:p>
        </p:txBody>
      </p:sp>
      <p:sp>
        <p:nvSpPr>
          <p:cNvPr id="71" name="Shape 68"/>
          <p:cNvSpPr/>
          <p:nvPr/>
        </p:nvSpPr>
        <p:spPr>
          <a:xfrm>
            <a:off x="4875609" y="2920820"/>
            <a:ext cx="3393281" cy="1206320"/>
          </a:xfrm>
          <a:prstGeom prst="roundRect">
            <a:avLst>
              <a:gd name="adj" fmla="val 1516"/>
            </a:avLst>
          </a:prstGeom>
          <a:solidFill>
            <a:srgbClr val="E4F6EA"/>
          </a:solidFill>
          <a:ln/>
        </p:spPr>
      </p:sp>
      <p:sp>
        <p:nvSpPr>
          <p:cNvPr id="72" name="Text 69"/>
          <p:cNvSpPr/>
          <p:nvPr/>
        </p:nvSpPr>
        <p:spPr>
          <a:xfrm>
            <a:off x="4947047" y="3010116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get_work_items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6607969" y="3010116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get_sla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4947047" y="3280442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get_next_best_action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6607969" y="3280442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get_next_best_customer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4947047" y="3550768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search_knowledge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6607969" y="3550768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retrieve_evidence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4947047" y="3821094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get_citations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4705945" y="3523979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80" name="Shape 77"/>
          <p:cNvSpPr/>
          <p:nvPr/>
        </p:nvSpPr>
        <p:spPr>
          <a:xfrm>
            <a:off x="8465344" y="2920820"/>
            <a:ext cx="2214563" cy="1206320"/>
          </a:xfrm>
          <a:prstGeom prst="roundRect">
            <a:avLst>
              <a:gd name="adj" fmla="val 1516"/>
            </a:avLst>
          </a:prstGeom>
          <a:solidFill>
            <a:srgbClr val="E3EEFB"/>
          </a:solidFill>
          <a:ln/>
        </p:spPr>
      </p:sp>
      <p:sp>
        <p:nvSpPr>
          <p:cNvPr id="81" name="Text 78"/>
          <p:cNvSpPr/>
          <p:nvPr/>
        </p:nvSpPr>
        <p:spPr>
          <a:xfrm>
            <a:off x="8536781" y="3010116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&amp; Work Platform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8536781" y="3280442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&amp; NBA Platform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8536781" y="3550768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GenAI Platform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8536781" y="3821094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Router · Citation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8295680" y="3523979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86" name="Shape 83"/>
          <p:cNvSpPr/>
          <p:nvPr/>
        </p:nvSpPr>
        <p:spPr>
          <a:xfrm>
            <a:off x="10876359" y="2920820"/>
            <a:ext cx="2786063" cy="1206320"/>
          </a:xfrm>
          <a:prstGeom prst="roundRect">
            <a:avLst>
              <a:gd name="adj" fmla="val 1516"/>
            </a:avLst>
          </a:prstGeom>
          <a:solidFill>
            <a:srgbClr val="F3F0FB"/>
          </a:solidFill>
          <a:ln/>
        </p:spPr>
      </p:sp>
      <p:sp>
        <p:nvSpPr>
          <p:cNvPr id="87" name="Text 84"/>
          <p:cNvSpPr/>
          <p:nvPr/>
        </p:nvSpPr>
        <p:spPr>
          <a:xfrm>
            <a:off x="10947797" y="3010116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/ Outlook</a:t>
            </a:r>
            <a:endParaRPr lang="en-US" sz="700" dirty="0"/>
          </a:p>
        </p:txBody>
      </p:sp>
      <p:sp>
        <p:nvSpPr>
          <p:cNvPr id="88" name="Text 85"/>
          <p:cNvSpPr/>
          <p:nvPr/>
        </p:nvSpPr>
        <p:spPr>
          <a:xfrm>
            <a:off x="12305109" y="3010116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10947797" y="3280442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12305109" y="3280442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Service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10947797" y="3550768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/ Timer Service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12305109" y="3550768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Engine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10947797" y="3821094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Router</a:t>
            </a:r>
            <a:endParaRPr lang="en-US" sz="700" dirty="0"/>
          </a:p>
        </p:txBody>
      </p:sp>
      <p:sp>
        <p:nvSpPr>
          <p:cNvPr id="94" name="Shape 91"/>
          <p:cNvSpPr/>
          <p:nvPr/>
        </p:nvSpPr>
        <p:spPr>
          <a:xfrm>
            <a:off x="10706695" y="3523979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95" name="Shape 92"/>
          <p:cNvSpPr/>
          <p:nvPr/>
        </p:nvSpPr>
        <p:spPr>
          <a:xfrm>
            <a:off x="62508" y="4198577"/>
            <a:ext cx="1276945" cy="1476646"/>
          </a:xfrm>
          <a:prstGeom prst="roundRect">
            <a:avLst>
              <a:gd name="adj" fmla="val 2148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133945" y="4198577"/>
            <a:ext cx="1169789" cy="147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Engagement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skills</a:t>
            </a:r>
            <a:endParaRPr lang="en-US" sz="800" dirty="0"/>
          </a:p>
        </p:txBody>
      </p:sp>
      <p:sp>
        <p:nvSpPr>
          <p:cNvPr id="97" name="Shape 94"/>
          <p:cNvSpPr/>
          <p:nvPr/>
        </p:nvSpPr>
        <p:spPr>
          <a:xfrm>
            <a:off x="1464469" y="4198577"/>
            <a:ext cx="3214688" cy="1476646"/>
          </a:xfrm>
          <a:prstGeom prst="roundRect">
            <a:avLst>
              <a:gd name="adj" fmla="val 1238"/>
            </a:avLst>
          </a:prstGeom>
          <a:solidFill>
            <a:srgbClr val="FDF4DE"/>
          </a:solidFill>
          <a:ln/>
        </p:spPr>
      </p:sp>
      <p:sp>
        <p:nvSpPr>
          <p:cNvPr id="98" name="Text 95"/>
          <p:cNvSpPr/>
          <p:nvPr/>
        </p:nvSpPr>
        <p:spPr>
          <a:xfrm>
            <a:off x="1535906" y="4287874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customer-interest-assessment</a:t>
            </a:r>
            <a:endParaRPr lang="en-US" sz="650" dirty="0"/>
          </a:p>
        </p:txBody>
      </p:sp>
      <p:sp>
        <p:nvSpPr>
          <p:cNvPr id="99" name="Text 96"/>
          <p:cNvSpPr/>
          <p:nvPr/>
        </p:nvSpPr>
        <p:spPr>
          <a:xfrm>
            <a:off x="3107531" y="4287874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next-best-customer</a:t>
            </a:r>
            <a:endParaRPr lang="en-US" sz="650" dirty="0"/>
          </a:p>
        </p:txBody>
      </p:sp>
      <p:sp>
        <p:nvSpPr>
          <p:cNvPr id="100" name="Text 97"/>
          <p:cNvSpPr/>
          <p:nvPr/>
        </p:nvSpPr>
        <p:spPr>
          <a:xfrm>
            <a:off x="1535906" y="4558200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content-recommendation</a:t>
            </a:r>
            <a:endParaRPr lang="en-US" sz="650" dirty="0"/>
          </a:p>
        </p:txBody>
      </p:sp>
      <p:sp>
        <p:nvSpPr>
          <p:cNvPr id="101" name="Text 98"/>
          <p:cNvSpPr/>
          <p:nvPr/>
        </p:nvSpPr>
        <p:spPr>
          <a:xfrm>
            <a:off x="3107531" y="4558200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engagement-plan</a:t>
            </a:r>
            <a:endParaRPr lang="en-US" sz="650" dirty="0"/>
          </a:p>
        </p:txBody>
      </p:sp>
      <p:sp>
        <p:nvSpPr>
          <p:cNvPr id="102" name="Text 99"/>
          <p:cNvSpPr/>
          <p:nvPr/>
        </p:nvSpPr>
        <p:spPr>
          <a:xfrm>
            <a:off x="1535906" y="4828526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message-drafting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3107531" y="4828526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message-personalization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1535906" y="5098852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channel-recommendation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3107531" y="5098852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best-contact-time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535906" y="5369178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followup-recommendation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3107531" y="5369178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campaign-personalization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4875609" y="4198577"/>
            <a:ext cx="3393281" cy="1476646"/>
          </a:xfrm>
          <a:prstGeom prst="roundRect">
            <a:avLst>
              <a:gd name="adj" fmla="val 1238"/>
            </a:avLst>
          </a:prstGeom>
          <a:solidFill>
            <a:srgbClr val="E4F6EA"/>
          </a:solidFill>
          <a:ln/>
        </p:spPr>
      </p:sp>
      <p:sp>
        <p:nvSpPr>
          <p:cNvPr id="109" name="Text 106"/>
          <p:cNvSpPr/>
          <p:nvPr/>
        </p:nvSpPr>
        <p:spPr>
          <a:xfrm>
            <a:off x="4947047" y="4287874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assess_customer_interest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6607969" y="4287874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get_next_best_customer</a:t>
            </a:r>
            <a:endParaRPr lang="en-US" sz="900" dirty="0"/>
          </a:p>
        </p:txBody>
      </p:sp>
      <p:sp>
        <p:nvSpPr>
          <p:cNvPr id="111" name="Text 108"/>
          <p:cNvSpPr/>
          <p:nvPr/>
        </p:nvSpPr>
        <p:spPr>
          <a:xfrm>
            <a:off x="4947047" y="4558200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get_next_best_content</a:t>
            </a:r>
            <a:endParaRPr lang="en-US" sz="900" dirty="0"/>
          </a:p>
        </p:txBody>
      </p:sp>
      <p:sp>
        <p:nvSpPr>
          <p:cNvPr id="112" name="Text 109"/>
          <p:cNvSpPr/>
          <p:nvPr/>
        </p:nvSpPr>
        <p:spPr>
          <a:xfrm>
            <a:off x="6607969" y="4558200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get_approved_content</a:t>
            </a:r>
            <a:endParaRPr lang="en-US" sz="900" dirty="0"/>
          </a:p>
        </p:txBody>
      </p:sp>
      <p:sp>
        <p:nvSpPr>
          <p:cNvPr id="113" name="Text 110"/>
          <p:cNvSpPr/>
          <p:nvPr/>
        </p:nvSpPr>
        <p:spPr>
          <a:xfrm>
            <a:off x="4947047" y="4828526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get_customer_consent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6607969" y="4828526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get_customer_preferences</a:t>
            </a:r>
            <a:endParaRPr lang="en-US" sz="900" dirty="0"/>
          </a:p>
        </p:txBody>
      </p:sp>
      <p:sp>
        <p:nvSpPr>
          <p:cNvPr id="115" name="Text 112"/>
          <p:cNvSpPr/>
          <p:nvPr/>
        </p:nvSpPr>
        <p:spPr>
          <a:xfrm>
            <a:off x="4947047" y="5098852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DE0E0"/>
          </a:solidFill>
          <a:ln w="9525">
            <a:solidFill>
              <a:srgbClr val="E07A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send_email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6607969" y="5098852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DE0E0"/>
          </a:solidFill>
          <a:ln w="9525">
            <a:solidFill>
              <a:srgbClr val="E07A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send_line_message</a:t>
            </a:r>
            <a:endParaRPr lang="en-US" sz="900" dirty="0"/>
          </a:p>
        </p:txBody>
      </p:sp>
      <p:sp>
        <p:nvSpPr>
          <p:cNvPr id="117" name="Text 114"/>
          <p:cNvSpPr/>
          <p:nvPr/>
        </p:nvSpPr>
        <p:spPr>
          <a:xfrm>
            <a:off x="4947047" y="5369178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DE0E0"/>
          </a:solidFill>
          <a:ln w="9525">
            <a:solidFill>
              <a:srgbClr val="E07A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send_whatsapp_message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6607969" y="5369178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get_message_status</a:t>
            </a:r>
            <a:endParaRPr lang="en-US" sz="900" dirty="0"/>
          </a:p>
        </p:txBody>
      </p:sp>
      <p:sp>
        <p:nvSpPr>
          <p:cNvPr id="119" name="Shape 116"/>
          <p:cNvSpPr/>
          <p:nvPr/>
        </p:nvSpPr>
        <p:spPr>
          <a:xfrm>
            <a:off x="4705945" y="4936900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20" name="Shape 117"/>
          <p:cNvSpPr/>
          <p:nvPr/>
        </p:nvSpPr>
        <p:spPr>
          <a:xfrm>
            <a:off x="8465344" y="4198577"/>
            <a:ext cx="2214563" cy="1476646"/>
          </a:xfrm>
          <a:prstGeom prst="roundRect">
            <a:avLst>
              <a:gd name="adj" fmla="val 1238"/>
            </a:avLst>
          </a:prstGeom>
          <a:solidFill>
            <a:srgbClr val="E3EEFB"/>
          </a:solidFill>
          <a:ln/>
        </p:spPr>
      </p:sp>
      <p:sp>
        <p:nvSpPr>
          <p:cNvPr id="121" name="Text 118"/>
          <p:cNvSpPr/>
          <p:nvPr/>
        </p:nvSpPr>
        <p:spPr>
          <a:xfrm>
            <a:off x="8536781" y="4287874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&amp; NBA Platform</a:t>
            </a:r>
            <a:endParaRPr lang="en-US" sz="900" dirty="0"/>
          </a:p>
        </p:txBody>
      </p:sp>
      <p:sp>
        <p:nvSpPr>
          <p:cNvPr id="122" name="Text 119"/>
          <p:cNvSpPr/>
          <p:nvPr/>
        </p:nvSpPr>
        <p:spPr>
          <a:xfrm>
            <a:off x="8536781" y="4558200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Platform</a:t>
            </a:r>
            <a:endParaRPr lang="en-US" sz="900" dirty="0"/>
          </a:p>
        </p:txBody>
      </p:sp>
      <p:sp>
        <p:nvSpPr>
          <p:cNvPr id="123" name="Text 120"/>
          <p:cNvSpPr/>
          <p:nvPr/>
        </p:nvSpPr>
        <p:spPr>
          <a:xfrm>
            <a:off x="8536781" y="4828526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API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8536781" y="5098852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Messaging · Tracking</a:t>
            </a:r>
            <a:endParaRPr lang="en-US" sz="900" dirty="0"/>
          </a:p>
        </p:txBody>
      </p:sp>
      <p:sp>
        <p:nvSpPr>
          <p:cNvPr id="125" name="Shape 122"/>
          <p:cNvSpPr/>
          <p:nvPr/>
        </p:nvSpPr>
        <p:spPr>
          <a:xfrm>
            <a:off x="8295680" y="4936900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26" name="Shape 123"/>
          <p:cNvSpPr/>
          <p:nvPr/>
        </p:nvSpPr>
        <p:spPr>
          <a:xfrm>
            <a:off x="10876359" y="4198577"/>
            <a:ext cx="2786063" cy="1476646"/>
          </a:xfrm>
          <a:prstGeom prst="roundRect">
            <a:avLst>
              <a:gd name="adj" fmla="val 1238"/>
            </a:avLst>
          </a:prstGeom>
          <a:solidFill>
            <a:srgbClr val="F3F0FB"/>
          </a:solidFill>
          <a:ln/>
        </p:spPr>
      </p:sp>
      <p:sp>
        <p:nvSpPr>
          <p:cNvPr id="127" name="Text 124"/>
          <p:cNvSpPr/>
          <p:nvPr/>
        </p:nvSpPr>
        <p:spPr>
          <a:xfrm>
            <a:off x="10947797" y="4287874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700" dirty="0"/>
          </a:p>
        </p:txBody>
      </p:sp>
      <p:sp>
        <p:nvSpPr>
          <p:cNvPr id="128" name="Text 125"/>
          <p:cNvSpPr/>
          <p:nvPr/>
        </p:nvSpPr>
        <p:spPr>
          <a:xfrm>
            <a:off x="12305109" y="4287874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Gateway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10947797" y="4558200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700" dirty="0"/>
          </a:p>
        </p:txBody>
      </p:sp>
      <p:sp>
        <p:nvSpPr>
          <p:cNvPr id="130" name="Text 127"/>
          <p:cNvSpPr/>
          <p:nvPr/>
        </p:nvSpPr>
        <p:spPr>
          <a:xfrm>
            <a:off x="12305109" y="4558200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10947797" y="4828526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</a:t>
            </a:r>
            <a:endParaRPr lang="en-US" sz="700" dirty="0"/>
          </a:p>
        </p:txBody>
      </p:sp>
      <p:sp>
        <p:nvSpPr>
          <p:cNvPr id="132" name="Text 129"/>
          <p:cNvSpPr/>
          <p:nvPr/>
        </p:nvSpPr>
        <p:spPr>
          <a:xfrm>
            <a:off x="12305109" y="4828526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/ Marketing</a:t>
            </a:r>
            <a:endParaRPr lang="en-US" sz="700" dirty="0"/>
          </a:p>
        </p:txBody>
      </p:sp>
      <p:sp>
        <p:nvSpPr>
          <p:cNvPr id="133" name="Text 130"/>
          <p:cNvSpPr/>
          <p:nvPr/>
        </p:nvSpPr>
        <p:spPr>
          <a:xfrm>
            <a:off x="10947797" y="5098852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</a:t>
            </a:r>
            <a:endParaRPr lang="en-US" sz="700" dirty="0"/>
          </a:p>
        </p:txBody>
      </p:sp>
      <p:sp>
        <p:nvSpPr>
          <p:cNvPr id="134" name="Text 131"/>
          <p:cNvSpPr/>
          <p:nvPr/>
        </p:nvSpPr>
        <p:spPr>
          <a:xfrm>
            <a:off x="12305109" y="5098852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Platform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10947797" y="5369178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Hub</a:t>
            </a:r>
            <a:endParaRPr lang="en-US" sz="700" dirty="0"/>
          </a:p>
        </p:txBody>
      </p:sp>
      <p:sp>
        <p:nvSpPr>
          <p:cNvPr id="136" name="Text 133"/>
          <p:cNvSpPr/>
          <p:nvPr/>
        </p:nvSpPr>
        <p:spPr>
          <a:xfrm>
            <a:off x="12305109" y="5369178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Interest Model</a:t>
            </a:r>
            <a:endParaRPr lang="en-US" sz="700" dirty="0"/>
          </a:p>
        </p:txBody>
      </p:sp>
      <p:sp>
        <p:nvSpPr>
          <p:cNvPr id="137" name="Shape 134"/>
          <p:cNvSpPr/>
          <p:nvPr/>
        </p:nvSpPr>
        <p:spPr>
          <a:xfrm>
            <a:off x="10706695" y="4936900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38" name="Shape 135"/>
          <p:cNvSpPr/>
          <p:nvPr/>
        </p:nvSpPr>
        <p:spPr>
          <a:xfrm>
            <a:off x="62508" y="5746660"/>
            <a:ext cx="1276945" cy="1206320"/>
          </a:xfrm>
          <a:prstGeom prst="roundRect">
            <a:avLst>
              <a:gd name="adj" fmla="val 2274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139" name="Text 136"/>
          <p:cNvSpPr txBox="1"/>
          <p:nvPr/>
        </p:nvSpPr>
        <p:spPr>
          <a:xfrm>
            <a:off x="133945" y="5746660"/>
            <a:ext cx="1169789" cy="120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Underwriting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skills</a:t>
            </a:r>
            <a:endParaRPr lang="en-US" sz="800" dirty="0"/>
          </a:p>
        </p:txBody>
      </p:sp>
      <p:sp>
        <p:nvSpPr>
          <p:cNvPr id="140" name="Shape 137"/>
          <p:cNvSpPr/>
          <p:nvPr/>
        </p:nvSpPr>
        <p:spPr>
          <a:xfrm>
            <a:off x="1464469" y="5746660"/>
            <a:ext cx="3214688" cy="1206320"/>
          </a:xfrm>
          <a:prstGeom prst="roundRect">
            <a:avLst>
              <a:gd name="adj" fmla="val 1516"/>
            </a:avLst>
          </a:prstGeom>
          <a:solidFill>
            <a:srgbClr val="FDF4DE"/>
          </a:solidFill>
          <a:ln/>
        </p:spPr>
      </p:sp>
      <p:sp>
        <p:nvSpPr>
          <p:cNvPr id="141" name="Text 138"/>
          <p:cNvSpPr/>
          <p:nvPr/>
        </p:nvSpPr>
        <p:spPr>
          <a:xfrm>
            <a:off x="1535906" y="5835957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application-status</a:t>
            </a:r>
            <a:endParaRPr lang="en-US" sz="650" dirty="0"/>
          </a:p>
        </p:txBody>
      </p:sp>
      <p:sp>
        <p:nvSpPr>
          <p:cNvPr id="142" name="Text 139"/>
          <p:cNvSpPr/>
          <p:nvPr/>
        </p:nvSpPr>
        <p:spPr>
          <a:xfrm>
            <a:off x="3107531" y="5835957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application-summary</a:t>
            </a:r>
            <a:endParaRPr lang="en-US" sz="650" dirty="0"/>
          </a:p>
        </p:txBody>
      </p:sp>
      <p:sp>
        <p:nvSpPr>
          <p:cNvPr id="143" name="Text 140"/>
          <p:cNvSpPr/>
          <p:nvPr/>
        </p:nvSpPr>
        <p:spPr>
          <a:xfrm>
            <a:off x="1535906" y="6106283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application-followup</a:t>
            </a:r>
            <a:endParaRPr lang="en-US" sz="650" dirty="0"/>
          </a:p>
        </p:txBody>
      </p:sp>
      <p:sp>
        <p:nvSpPr>
          <p:cNvPr id="144" name="Text 141"/>
          <p:cNvSpPr/>
          <p:nvPr/>
        </p:nvSpPr>
        <p:spPr>
          <a:xfrm>
            <a:off x="3107531" y="6106283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missing-document-analysis</a:t>
            </a:r>
            <a:endParaRPr lang="en-US" sz="650" dirty="0"/>
          </a:p>
        </p:txBody>
      </p:sp>
      <p:sp>
        <p:nvSpPr>
          <p:cNvPr id="145" name="Text 142"/>
          <p:cNvSpPr/>
          <p:nvPr/>
        </p:nvSpPr>
        <p:spPr>
          <a:xfrm>
            <a:off x="1535906" y="6376609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underwriting-status</a:t>
            </a:r>
            <a:endParaRPr lang="en-US" sz="650" dirty="0"/>
          </a:p>
        </p:txBody>
      </p:sp>
      <p:sp>
        <p:nvSpPr>
          <p:cNvPr id="146" name="Text 143"/>
          <p:cNvSpPr/>
          <p:nvPr/>
        </p:nvSpPr>
        <p:spPr>
          <a:xfrm>
            <a:off x="3107531" y="6376609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underwriting-requirement-explanation</a:t>
            </a:r>
            <a:endParaRPr lang="en-US" sz="650" dirty="0"/>
          </a:p>
        </p:txBody>
      </p:sp>
      <p:sp>
        <p:nvSpPr>
          <p:cNvPr id="147" name="Text 144"/>
          <p:cNvSpPr/>
          <p:nvPr/>
        </p:nvSpPr>
        <p:spPr>
          <a:xfrm>
            <a:off x="1535906" y="6646935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underwriting-guideline-search</a:t>
            </a:r>
            <a:endParaRPr lang="en-US" sz="650" dirty="0"/>
          </a:p>
        </p:txBody>
      </p:sp>
      <p:sp>
        <p:nvSpPr>
          <p:cNvPr id="148" name="Text 145"/>
          <p:cNvSpPr/>
          <p:nvPr/>
        </p:nvSpPr>
        <p:spPr>
          <a:xfrm>
            <a:off x="3107531" y="6646935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application-risk-identification</a:t>
            </a:r>
            <a:endParaRPr lang="en-US" sz="650" dirty="0"/>
          </a:p>
        </p:txBody>
      </p:sp>
      <p:sp>
        <p:nvSpPr>
          <p:cNvPr id="149" name="Shape 146"/>
          <p:cNvSpPr/>
          <p:nvPr/>
        </p:nvSpPr>
        <p:spPr>
          <a:xfrm>
            <a:off x="4875609" y="5746660"/>
            <a:ext cx="3393281" cy="1206320"/>
          </a:xfrm>
          <a:prstGeom prst="roundRect">
            <a:avLst>
              <a:gd name="adj" fmla="val 1516"/>
            </a:avLst>
          </a:prstGeom>
          <a:solidFill>
            <a:srgbClr val="E4F6EA"/>
          </a:solidFill>
          <a:ln/>
        </p:spPr>
      </p:sp>
      <p:sp>
        <p:nvSpPr>
          <p:cNvPr id="150" name="Text 147"/>
          <p:cNvSpPr/>
          <p:nvPr/>
        </p:nvSpPr>
        <p:spPr>
          <a:xfrm>
            <a:off x="4947047" y="5835957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get_application_detail</a:t>
            </a:r>
            <a:endParaRPr lang="en-US" sz="900" dirty="0"/>
          </a:p>
        </p:txBody>
      </p:sp>
      <p:sp>
        <p:nvSpPr>
          <p:cNvPr id="151" name="Text 148"/>
          <p:cNvSpPr/>
          <p:nvPr/>
        </p:nvSpPr>
        <p:spPr>
          <a:xfrm>
            <a:off x="6607969" y="5835957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get_application_status</a:t>
            </a:r>
            <a:endParaRPr lang="en-US" sz="900" dirty="0"/>
          </a:p>
        </p:txBody>
      </p:sp>
      <p:sp>
        <p:nvSpPr>
          <p:cNvPr id="152" name="Text 149"/>
          <p:cNvSpPr/>
          <p:nvPr/>
        </p:nvSpPr>
        <p:spPr>
          <a:xfrm>
            <a:off x="4947047" y="6106283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get_application_requirements</a:t>
            </a:r>
            <a:endParaRPr lang="en-US" sz="900" dirty="0"/>
          </a:p>
        </p:txBody>
      </p:sp>
      <p:sp>
        <p:nvSpPr>
          <p:cNvPr id="153" name="Text 150"/>
          <p:cNvSpPr/>
          <p:nvPr/>
        </p:nvSpPr>
        <p:spPr>
          <a:xfrm>
            <a:off x="6607969" y="6106283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DE0E0"/>
          </a:solidFill>
          <a:ln w="9525">
            <a:solidFill>
              <a:srgbClr val="E07A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upload_application_document</a:t>
            </a:r>
            <a:endParaRPr lang="en-US" sz="900" dirty="0"/>
          </a:p>
        </p:txBody>
      </p:sp>
      <p:sp>
        <p:nvSpPr>
          <p:cNvPr id="154" name="Text 151"/>
          <p:cNvSpPr/>
          <p:nvPr/>
        </p:nvSpPr>
        <p:spPr>
          <a:xfrm>
            <a:off x="4947047" y="6376609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DE0E0"/>
          </a:solidFill>
          <a:ln w="9525">
            <a:solidFill>
              <a:srgbClr val="E07A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submit_application_document</a:t>
            </a:r>
            <a:endParaRPr lang="en-US" sz="900" dirty="0"/>
          </a:p>
        </p:txBody>
      </p:sp>
      <p:sp>
        <p:nvSpPr>
          <p:cNvPr id="155" name="Text 152"/>
          <p:cNvSpPr/>
          <p:nvPr/>
        </p:nvSpPr>
        <p:spPr>
          <a:xfrm>
            <a:off x="6607969" y="6376609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get_underwriting_status</a:t>
            </a:r>
            <a:endParaRPr lang="en-US" sz="900" dirty="0"/>
          </a:p>
        </p:txBody>
      </p:sp>
      <p:sp>
        <p:nvSpPr>
          <p:cNvPr id="156" name="Text 153"/>
          <p:cNvSpPr/>
          <p:nvPr/>
        </p:nvSpPr>
        <p:spPr>
          <a:xfrm>
            <a:off x="4947047" y="6646935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get_underwriting_requirements</a:t>
            </a:r>
            <a:endParaRPr lang="en-US" sz="900" dirty="0"/>
          </a:p>
        </p:txBody>
      </p:sp>
      <p:sp>
        <p:nvSpPr>
          <p:cNvPr id="157" name="Text 154"/>
          <p:cNvSpPr/>
          <p:nvPr/>
        </p:nvSpPr>
        <p:spPr>
          <a:xfrm>
            <a:off x="6607969" y="6646935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search_knowledge</a:t>
            </a:r>
            <a:endParaRPr lang="en-US" sz="900" dirty="0"/>
          </a:p>
        </p:txBody>
      </p:sp>
      <p:sp>
        <p:nvSpPr>
          <p:cNvPr id="158" name="Shape 155"/>
          <p:cNvSpPr/>
          <p:nvPr/>
        </p:nvSpPr>
        <p:spPr>
          <a:xfrm>
            <a:off x="4705945" y="6349820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59" name="Shape 156"/>
          <p:cNvSpPr/>
          <p:nvPr/>
        </p:nvSpPr>
        <p:spPr>
          <a:xfrm>
            <a:off x="8465344" y="5746660"/>
            <a:ext cx="2214563" cy="1206320"/>
          </a:xfrm>
          <a:prstGeom prst="roundRect">
            <a:avLst>
              <a:gd name="adj" fmla="val 1516"/>
            </a:avLst>
          </a:prstGeom>
          <a:solidFill>
            <a:srgbClr val="E3EEFB"/>
          </a:solidFill>
          <a:ln/>
        </p:spPr>
      </p:sp>
      <p:sp>
        <p:nvSpPr>
          <p:cNvPr id="160" name="Text 157"/>
          <p:cNvSpPr/>
          <p:nvPr/>
        </p:nvSpPr>
        <p:spPr>
          <a:xfrm>
            <a:off x="8536781" y="5835957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Data &amp; Semantic Platform</a:t>
            </a:r>
            <a:endParaRPr lang="en-US" sz="900" dirty="0"/>
          </a:p>
        </p:txBody>
      </p:sp>
      <p:sp>
        <p:nvSpPr>
          <p:cNvPr id="161" name="Text 158"/>
          <p:cNvSpPr/>
          <p:nvPr/>
        </p:nvSpPr>
        <p:spPr>
          <a:xfrm>
            <a:off x="8536781" y="6106283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360</a:t>
            </a:r>
            <a:endParaRPr lang="en-US" sz="900" dirty="0"/>
          </a:p>
        </p:txBody>
      </p:sp>
      <p:sp>
        <p:nvSpPr>
          <p:cNvPr id="162" name="Text 159"/>
          <p:cNvSpPr/>
          <p:nvPr/>
        </p:nvSpPr>
        <p:spPr>
          <a:xfrm>
            <a:off x="8536781" y="6376609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GenAI Platform</a:t>
            </a:r>
            <a:endParaRPr lang="en-US" sz="900" dirty="0"/>
          </a:p>
        </p:txBody>
      </p:sp>
      <p:sp>
        <p:nvSpPr>
          <p:cNvPr id="163" name="Text 160"/>
          <p:cNvSpPr/>
          <p:nvPr/>
        </p:nvSpPr>
        <p:spPr>
          <a:xfrm>
            <a:off x="8536781" y="6646935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Semantic Adapter</a:t>
            </a:r>
            <a:endParaRPr lang="en-US" sz="900" dirty="0"/>
          </a:p>
        </p:txBody>
      </p:sp>
      <p:sp>
        <p:nvSpPr>
          <p:cNvPr id="164" name="Shape 161"/>
          <p:cNvSpPr/>
          <p:nvPr/>
        </p:nvSpPr>
        <p:spPr>
          <a:xfrm>
            <a:off x="8295680" y="6349820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65" name="Shape 162"/>
          <p:cNvSpPr/>
          <p:nvPr/>
        </p:nvSpPr>
        <p:spPr>
          <a:xfrm>
            <a:off x="10876359" y="5746660"/>
            <a:ext cx="2786063" cy="1206320"/>
          </a:xfrm>
          <a:prstGeom prst="roundRect">
            <a:avLst>
              <a:gd name="adj" fmla="val 1516"/>
            </a:avLst>
          </a:prstGeom>
          <a:solidFill>
            <a:srgbClr val="F3F0FB"/>
          </a:solidFill>
          <a:ln/>
        </p:spPr>
      </p:sp>
      <p:sp>
        <p:nvSpPr>
          <p:cNvPr id="166" name="Text 163"/>
          <p:cNvSpPr/>
          <p:nvPr/>
        </p:nvSpPr>
        <p:spPr>
          <a:xfrm>
            <a:off x="10947797" y="5835957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 System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12305109" y="5835957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System</a:t>
            </a:r>
            <a:endParaRPr lang="en-US" sz="700" dirty="0"/>
          </a:p>
        </p:txBody>
      </p:sp>
      <p:sp>
        <p:nvSpPr>
          <p:cNvPr id="168" name="Text 165"/>
          <p:cNvSpPr/>
          <p:nvPr/>
        </p:nvSpPr>
        <p:spPr>
          <a:xfrm>
            <a:off x="10947797" y="6106283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12305109" y="6106283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Router</a:t>
            </a:r>
            <a:endParaRPr lang="en-US" sz="700" dirty="0"/>
          </a:p>
        </p:txBody>
      </p:sp>
      <p:sp>
        <p:nvSpPr>
          <p:cNvPr id="170" name="Shape 167"/>
          <p:cNvSpPr/>
          <p:nvPr/>
        </p:nvSpPr>
        <p:spPr>
          <a:xfrm>
            <a:off x="10706695" y="6349820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71" name="Shape 168"/>
          <p:cNvSpPr/>
          <p:nvPr/>
        </p:nvSpPr>
        <p:spPr>
          <a:xfrm>
            <a:off x="62508" y="7024417"/>
            <a:ext cx="1276945" cy="1476646"/>
          </a:xfrm>
          <a:prstGeom prst="roundRect">
            <a:avLst>
              <a:gd name="adj" fmla="val 2148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172" name="Text 169"/>
          <p:cNvSpPr txBox="1"/>
          <p:nvPr/>
        </p:nvSpPr>
        <p:spPr>
          <a:xfrm>
            <a:off x="133945" y="7024417"/>
            <a:ext cx="1169789" cy="147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/ Policy Service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skills</a:t>
            </a:r>
            <a:endParaRPr lang="en-US" sz="800" dirty="0"/>
          </a:p>
        </p:txBody>
      </p:sp>
      <p:sp>
        <p:nvSpPr>
          <p:cNvPr id="173" name="Shape 170"/>
          <p:cNvSpPr/>
          <p:nvPr/>
        </p:nvSpPr>
        <p:spPr>
          <a:xfrm>
            <a:off x="1464469" y="7024417"/>
            <a:ext cx="3214688" cy="1476646"/>
          </a:xfrm>
          <a:prstGeom prst="roundRect">
            <a:avLst>
              <a:gd name="adj" fmla="val 1238"/>
            </a:avLst>
          </a:prstGeom>
          <a:solidFill>
            <a:srgbClr val="FDF4DE"/>
          </a:solidFill>
          <a:ln/>
        </p:spPr>
      </p:sp>
      <p:sp>
        <p:nvSpPr>
          <p:cNvPr id="174" name="Text 171"/>
          <p:cNvSpPr/>
          <p:nvPr/>
        </p:nvSpPr>
        <p:spPr>
          <a:xfrm>
            <a:off x="1535906" y="7113714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claim-status</a:t>
            </a:r>
            <a:endParaRPr lang="en-US" sz="650" dirty="0"/>
          </a:p>
        </p:txBody>
      </p:sp>
      <p:sp>
        <p:nvSpPr>
          <p:cNvPr id="175" name="Text 172"/>
          <p:cNvSpPr/>
          <p:nvPr/>
        </p:nvSpPr>
        <p:spPr>
          <a:xfrm>
            <a:off x="3107531" y="7113714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claim-summary</a:t>
            </a:r>
            <a:endParaRPr lang="en-US" sz="650" dirty="0"/>
          </a:p>
        </p:txBody>
      </p:sp>
      <p:sp>
        <p:nvSpPr>
          <p:cNvPr id="176" name="Text 173"/>
          <p:cNvSpPr/>
          <p:nvPr/>
        </p:nvSpPr>
        <p:spPr>
          <a:xfrm>
            <a:off x="1535906" y="7384040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claim-requirement</a:t>
            </a:r>
            <a:endParaRPr lang="en-US" sz="650" dirty="0"/>
          </a:p>
        </p:txBody>
      </p:sp>
      <p:sp>
        <p:nvSpPr>
          <p:cNvPr id="177" name="Text 174"/>
          <p:cNvSpPr/>
          <p:nvPr/>
        </p:nvSpPr>
        <p:spPr>
          <a:xfrm>
            <a:off x="3107531" y="7384040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claim-document-check</a:t>
            </a:r>
            <a:endParaRPr lang="en-US" sz="650" dirty="0"/>
          </a:p>
        </p:txBody>
      </p:sp>
      <p:sp>
        <p:nvSpPr>
          <p:cNvPr id="178" name="Text 175"/>
          <p:cNvSpPr/>
          <p:nvPr/>
        </p:nvSpPr>
        <p:spPr>
          <a:xfrm>
            <a:off x="1535906" y="7654366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claim-next-step</a:t>
            </a:r>
            <a:endParaRPr lang="en-US" sz="650" dirty="0"/>
          </a:p>
        </p:txBody>
      </p:sp>
      <p:sp>
        <p:nvSpPr>
          <p:cNvPr id="179" name="Text 176"/>
          <p:cNvSpPr/>
          <p:nvPr/>
        </p:nvSpPr>
        <p:spPr>
          <a:xfrm>
            <a:off x="3107531" y="7654366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claim-explanation</a:t>
            </a:r>
            <a:endParaRPr lang="en-US" sz="650" dirty="0"/>
          </a:p>
        </p:txBody>
      </p:sp>
      <p:sp>
        <p:nvSpPr>
          <p:cNvPr id="180" name="Text 177"/>
          <p:cNvSpPr/>
          <p:nvPr/>
        </p:nvSpPr>
        <p:spPr>
          <a:xfrm>
            <a:off x="1535906" y="7924692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policy-service</a:t>
            </a:r>
            <a:endParaRPr lang="en-US" sz="650" dirty="0"/>
          </a:p>
        </p:txBody>
      </p:sp>
      <p:sp>
        <p:nvSpPr>
          <p:cNvPr id="181" name="Text 178"/>
          <p:cNvSpPr/>
          <p:nvPr/>
        </p:nvSpPr>
        <p:spPr>
          <a:xfrm>
            <a:off x="3107531" y="7924692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policy-change-guidance</a:t>
            </a:r>
            <a:endParaRPr lang="en-US" sz="650" dirty="0"/>
          </a:p>
        </p:txBody>
      </p:sp>
      <p:sp>
        <p:nvSpPr>
          <p:cNvPr id="182" name="Text 179"/>
          <p:cNvSpPr/>
          <p:nvPr/>
        </p:nvSpPr>
        <p:spPr>
          <a:xfrm>
            <a:off x="1535906" y="8195018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premium-status</a:t>
            </a:r>
            <a:endParaRPr lang="en-US" sz="650" dirty="0"/>
          </a:p>
        </p:txBody>
      </p:sp>
      <p:sp>
        <p:nvSpPr>
          <p:cNvPr id="183" name="Text 180"/>
          <p:cNvSpPr/>
          <p:nvPr/>
        </p:nvSpPr>
        <p:spPr>
          <a:xfrm>
            <a:off x="3107531" y="8195018"/>
            <a:ext cx="15001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renewal-support</a:t>
            </a:r>
            <a:endParaRPr lang="en-US" sz="650" dirty="0"/>
          </a:p>
        </p:txBody>
      </p:sp>
      <p:sp>
        <p:nvSpPr>
          <p:cNvPr id="184" name="Shape 181"/>
          <p:cNvSpPr/>
          <p:nvPr/>
        </p:nvSpPr>
        <p:spPr>
          <a:xfrm>
            <a:off x="4875609" y="7024417"/>
            <a:ext cx="3393281" cy="1476646"/>
          </a:xfrm>
          <a:prstGeom prst="roundRect">
            <a:avLst>
              <a:gd name="adj" fmla="val 1238"/>
            </a:avLst>
          </a:prstGeom>
          <a:solidFill>
            <a:srgbClr val="E4F6EA"/>
          </a:solidFill>
          <a:ln/>
        </p:spPr>
      </p:sp>
      <p:sp>
        <p:nvSpPr>
          <p:cNvPr id="185" name="Text 182"/>
          <p:cNvSpPr/>
          <p:nvPr/>
        </p:nvSpPr>
        <p:spPr>
          <a:xfrm>
            <a:off x="4947047" y="7113714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get_claims</a:t>
            </a:r>
            <a:endParaRPr lang="en-US" sz="900" dirty="0"/>
          </a:p>
        </p:txBody>
      </p:sp>
      <p:sp>
        <p:nvSpPr>
          <p:cNvPr id="186" name="Text 183"/>
          <p:cNvSpPr/>
          <p:nvPr/>
        </p:nvSpPr>
        <p:spPr>
          <a:xfrm>
            <a:off x="6607969" y="7113714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get_claim_detail</a:t>
            </a:r>
            <a:endParaRPr lang="en-US" sz="900" dirty="0"/>
          </a:p>
        </p:txBody>
      </p:sp>
      <p:sp>
        <p:nvSpPr>
          <p:cNvPr id="187" name="Text 184"/>
          <p:cNvSpPr/>
          <p:nvPr/>
        </p:nvSpPr>
        <p:spPr>
          <a:xfrm>
            <a:off x="4947047" y="7384040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get_claim_status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6607969" y="7384040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get_claim_requirements</a:t>
            </a:r>
            <a:endParaRPr lang="en-US" sz="900" dirty="0"/>
          </a:p>
        </p:txBody>
      </p:sp>
      <p:sp>
        <p:nvSpPr>
          <p:cNvPr id="189" name="Text 186"/>
          <p:cNvSpPr/>
          <p:nvPr/>
        </p:nvSpPr>
        <p:spPr>
          <a:xfrm>
            <a:off x="4947047" y="7654366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get_claim_documents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6607969" y="7654366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get_claim_payment</a:t>
            </a:r>
            <a:endParaRPr lang="en-US" sz="900" dirty="0"/>
          </a:p>
        </p:txBody>
      </p:sp>
      <p:sp>
        <p:nvSpPr>
          <p:cNvPr id="191" name="Text 188"/>
          <p:cNvSpPr/>
          <p:nvPr/>
        </p:nvSpPr>
        <p:spPr>
          <a:xfrm>
            <a:off x="4947047" y="7924692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get_claim_timeline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6607969" y="7924692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get_policy_detail</a:t>
            </a:r>
            <a:endParaRPr lang="en-US" sz="900" dirty="0"/>
          </a:p>
        </p:txBody>
      </p:sp>
      <p:sp>
        <p:nvSpPr>
          <p:cNvPr id="193" name="Text 190"/>
          <p:cNvSpPr/>
          <p:nvPr/>
        </p:nvSpPr>
        <p:spPr>
          <a:xfrm>
            <a:off x="4947047" y="8195018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get_policy_premium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6607969" y="8195018"/>
            <a:ext cx="1589484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get_policy_status</a:t>
            </a:r>
            <a:endParaRPr lang="en-US" sz="900" dirty="0"/>
          </a:p>
        </p:txBody>
      </p:sp>
      <p:sp>
        <p:nvSpPr>
          <p:cNvPr id="195" name="Shape 192"/>
          <p:cNvSpPr/>
          <p:nvPr/>
        </p:nvSpPr>
        <p:spPr>
          <a:xfrm>
            <a:off x="4705945" y="7762740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96" name="Shape 193"/>
          <p:cNvSpPr/>
          <p:nvPr/>
        </p:nvSpPr>
        <p:spPr>
          <a:xfrm>
            <a:off x="8465344" y="7024417"/>
            <a:ext cx="2214563" cy="1476646"/>
          </a:xfrm>
          <a:prstGeom prst="roundRect">
            <a:avLst>
              <a:gd name="adj" fmla="val 1238"/>
            </a:avLst>
          </a:prstGeom>
          <a:solidFill>
            <a:srgbClr val="E3EEFB"/>
          </a:solidFill>
          <a:ln/>
        </p:spPr>
      </p:sp>
      <p:sp>
        <p:nvSpPr>
          <p:cNvPr id="197" name="Text 194"/>
          <p:cNvSpPr/>
          <p:nvPr/>
        </p:nvSpPr>
        <p:spPr>
          <a:xfrm>
            <a:off x="8536781" y="7113714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Data &amp; Semantic Platform</a:t>
            </a:r>
            <a:endParaRPr lang="en-US" sz="900" dirty="0"/>
          </a:p>
        </p:txBody>
      </p:sp>
      <p:sp>
        <p:nvSpPr>
          <p:cNvPr id="198" name="Text 195"/>
          <p:cNvSpPr/>
          <p:nvPr/>
        </p:nvSpPr>
        <p:spPr>
          <a:xfrm>
            <a:off x="8536781" y="7384040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360 · Policy 360</a:t>
            </a:r>
            <a:endParaRPr lang="en-US" sz="900" dirty="0"/>
          </a:p>
        </p:txBody>
      </p:sp>
      <p:sp>
        <p:nvSpPr>
          <p:cNvPr id="199" name="Text 196"/>
          <p:cNvSpPr/>
          <p:nvPr/>
        </p:nvSpPr>
        <p:spPr>
          <a:xfrm>
            <a:off x="8536781" y="7654366"/>
            <a:ext cx="2071688" cy="216748"/>
          </a:xfrm>
          <a:prstGeom prst="roundRect">
            <a:avLst>
              <a:gd name="adj" fmla="val 12656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API</a:t>
            </a:r>
            <a:endParaRPr lang="en-US" sz="900" dirty="0"/>
          </a:p>
        </p:txBody>
      </p:sp>
      <p:sp>
        <p:nvSpPr>
          <p:cNvPr id="200" name="Shape 197"/>
          <p:cNvSpPr/>
          <p:nvPr/>
        </p:nvSpPr>
        <p:spPr>
          <a:xfrm>
            <a:off x="8295680" y="7762740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201" name="Shape 198"/>
          <p:cNvSpPr/>
          <p:nvPr/>
        </p:nvSpPr>
        <p:spPr>
          <a:xfrm>
            <a:off x="10876359" y="7024417"/>
            <a:ext cx="2786063" cy="1476646"/>
          </a:xfrm>
          <a:prstGeom prst="roundRect">
            <a:avLst>
              <a:gd name="adj" fmla="val 1238"/>
            </a:avLst>
          </a:prstGeom>
          <a:solidFill>
            <a:srgbClr val="F3F0FB"/>
          </a:solidFill>
          <a:ln/>
        </p:spPr>
      </p:sp>
      <p:sp>
        <p:nvSpPr>
          <p:cNvPr id="202" name="Text 199"/>
          <p:cNvSpPr/>
          <p:nvPr/>
        </p:nvSpPr>
        <p:spPr>
          <a:xfrm>
            <a:off x="10947797" y="7113714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Management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2305109" y="7113714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Admin System</a:t>
            </a:r>
            <a:endParaRPr lang="en-US" sz="700" dirty="0"/>
          </a:p>
        </p:txBody>
      </p:sp>
      <p:sp>
        <p:nvSpPr>
          <p:cNvPr id="204" name="Text 201"/>
          <p:cNvSpPr/>
          <p:nvPr/>
        </p:nvSpPr>
        <p:spPr>
          <a:xfrm>
            <a:off x="10947797" y="7384040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12305109" y="7384040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/ Finance</a:t>
            </a:r>
            <a:endParaRPr lang="en-US" sz="700" dirty="0"/>
          </a:p>
        </p:txBody>
      </p:sp>
      <p:sp>
        <p:nvSpPr>
          <p:cNvPr id="206" name="Text 203"/>
          <p:cNvSpPr/>
          <p:nvPr/>
        </p:nvSpPr>
        <p:spPr>
          <a:xfrm>
            <a:off x="10947797" y="7654366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Data Mart</a:t>
            </a:r>
            <a:endParaRPr lang="en-US" sz="700" dirty="0"/>
          </a:p>
        </p:txBody>
      </p:sp>
      <p:sp>
        <p:nvSpPr>
          <p:cNvPr id="207" name="Text 204"/>
          <p:cNvSpPr/>
          <p:nvPr/>
        </p:nvSpPr>
        <p:spPr>
          <a:xfrm>
            <a:off x="12305109" y="7654366"/>
            <a:ext cx="1285875" cy="216748"/>
          </a:xfrm>
          <a:prstGeom prst="roundRect">
            <a:avLst>
              <a:gd name="adj" fmla="val 12656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Data Mart / DWH</a:t>
            </a:r>
            <a:endParaRPr lang="en-US" sz="700" dirty="0"/>
          </a:p>
        </p:txBody>
      </p:sp>
      <p:sp>
        <p:nvSpPr>
          <p:cNvPr id="208" name="Shape 205"/>
          <p:cNvSpPr/>
          <p:nvPr/>
        </p:nvSpPr>
        <p:spPr>
          <a:xfrm>
            <a:off x="10706695" y="7762740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209" name="Shape 206"/>
          <p:cNvSpPr/>
          <p:nvPr/>
        </p:nvSpPr>
        <p:spPr>
          <a:xfrm>
            <a:off x="62508" y="8688586"/>
            <a:ext cx="13599914" cy="348258"/>
          </a:xfrm>
          <a:prstGeom prst="roundRect">
            <a:avLst>
              <a:gd name="adj" fmla="val 10503"/>
            </a:avLst>
          </a:prstGeom>
          <a:solidFill>
            <a:srgbClr val="F4F6FA"/>
          </a:solidFill>
          <a:ln/>
        </p:spPr>
      </p:sp>
      <p:sp>
        <p:nvSpPr>
          <p:cNvPr id="210" name="Text 207"/>
          <p:cNvSpPr txBox="1"/>
          <p:nvPr/>
        </p:nvSpPr>
        <p:spPr>
          <a:xfrm>
            <a:off x="160734" y="8688586"/>
            <a:ext cx="55364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900" dirty="0"/>
          </a:p>
        </p:txBody>
      </p:sp>
      <p:sp>
        <p:nvSpPr>
          <p:cNvPr id="211" name="Text 208"/>
          <p:cNvSpPr/>
          <p:nvPr/>
        </p:nvSpPr>
        <p:spPr>
          <a:xfrm>
            <a:off x="750094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212" name="Text 209"/>
          <p:cNvSpPr txBox="1"/>
          <p:nvPr/>
        </p:nvSpPr>
        <p:spPr>
          <a:xfrm>
            <a:off x="1035844" y="8688586"/>
            <a:ext cx="32593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750" dirty="0"/>
          </a:p>
        </p:txBody>
      </p:sp>
      <p:sp>
        <p:nvSpPr>
          <p:cNvPr id="213" name="Text 210"/>
          <p:cNvSpPr/>
          <p:nvPr/>
        </p:nvSpPr>
        <p:spPr>
          <a:xfrm>
            <a:off x="1415355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214" name="Text 211"/>
          <p:cNvSpPr txBox="1"/>
          <p:nvPr/>
        </p:nvSpPr>
        <p:spPr>
          <a:xfrm>
            <a:off x="1701105" y="8688586"/>
            <a:ext cx="79920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agent</a:t>
            </a:r>
            <a:endParaRPr lang="en-US" sz="750" dirty="0"/>
          </a:p>
        </p:txBody>
      </p:sp>
      <p:sp>
        <p:nvSpPr>
          <p:cNvPr id="215" name="Text 212"/>
          <p:cNvSpPr/>
          <p:nvPr/>
        </p:nvSpPr>
        <p:spPr>
          <a:xfrm>
            <a:off x="2553891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216" name="Text 213"/>
          <p:cNvSpPr txBox="1"/>
          <p:nvPr/>
        </p:nvSpPr>
        <p:spPr>
          <a:xfrm>
            <a:off x="2839641" y="8688586"/>
            <a:ext cx="75188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tool</a:t>
            </a:r>
            <a:endParaRPr lang="en-US" sz="750" dirty="0"/>
          </a:p>
        </p:txBody>
      </p:sp>
      <p:sp>
        <p:nvSpPr>
          <p:cNvPr id="217" name="Text 214"/>
          <p:cNvSpPr/>
          <p:nvPr/>
        </p:nvSpPr>
        <p:spPr>
          <a:xfrm>
            <a:off x="3645098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218" name="Text 215"/>
          <p:cNvSpPr txBox="1"/>
          <p:nvPr/>
        </p:nvSpPr>
        <p:spPr>
          <a:xfrm>
            <a:off x="3930848" y="8688586"/>
            <a:ext cx="988516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write tool</a:t>
            </a:r>
            <a:endParaRPr lang="en-US" sz="750" dirty="0"/>
          </a:p>
        </p:txBody>
      </p:sp>
      <p:sp>
        <p:nvSpPr>
          <p:cNvPr id="219" name="Text 216"/>
          <p:cNvSpPr/>
          <p:nvPr/>
        </p:nvSpPr>
        <p:spPr>
          <a:xfrm>
            <a:off x="4972943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DE0E0"/>
          </a:solidFill>
          <a:ln w="9525">
            <a:solidFill>
              <a:srgbClr val="E07A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220" name="Text 217"/>
          <p:cNvSpPr txBox="1"/>
          <p:nvPr/>
        </p:nvSpPr>
        <p:spPr>
          <a:xfrm>
            <a:off x="5258693" y="8688586"/>
            <a:ext cx="240833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/ regulated tool (human approval)</a:t>
            </a:r>
            <a:endParaRPr lang="en-US" sz="750" dirty="0"/>
          </a:p>
        </p:txBody>
      </p:sp>
      <p:sp>
        <p:nvSpPr>
          <p:cNvPr id="221" name="Text 218"/>
          <p:cNvSpPr/>
          <p:nvPr/>
        </p:nvSpPr>
        <p:spPr>
          <a:xfrm>
            <a:off x="7720608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222" name="Text 219"/>
          <p:cNvSpPr txBox="1"/>
          <p:nvPr/>
        </p:nvSpPr>
        <p:spPr>
          <a:xfrm>
            <a:off x="8006358" y="8688586"/>
            <a:ext cx="79920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</a:t>
            </a:r>
            <a:endParaRPr lang="en-US" sz="750" dirty="0"/>
          </a:p>
        </p:txBody>
      </p:sp>
      <p:sp>
        <p:nvSpPr>
          <p:cNvPr id="223" name="Text 220"/>
          <p:cNvSpPr/>
          <p:nvPr/>
        </p:nvSpPr>
        <p:spPr>
          <a:xfrm>
            <a:off x="8859143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224" name="Text 221"/>
          <p:cNvSpPr txBox="1"/>
          <p:nvPr/>
        </p:nvSpPr>
        <p:spPr>
          <a:xfrm>
            <a:off x="9144893" y="8688586"/>
            <a:ext cx="84653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capability</a:t>
            </a:r>
            <a:endParaRPr lang="en-US" sz="750" dirty="0"/>
          </a:p>
        </p:txBody>
      </p:sp>
      <p:sp>
        <p:nvSpPr>
          <p:cNvPr id="225" name="Text 222"/>
          <p:cNvSpPr/>
          <p:nvPr/>
        </p:nvSpPr>
        <p:spPr>
          <a:xfrm>
            <a:off x="10045005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226" name="Text 223"/>
          <p:cNvSpPr txBox="1"/>
          <p:nvPr/>
        </p:nvSpPr>
        <p:spPr>
          <a:xfrm>
            <a:off x="10330755" y="8688586"/>
            <a:ext cx="1130498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/ data</a:t>
            </a:r>
            <a:endParaRPr lang="en-US" sz="750" dirty="0"/>
          </a:p>
        </p:txBody>
      </p:sp>
      <p:sp>
        <p:nvSpPr>
          <p:cNvPr id="227" name="Text 224"/>
          <p:cNvSpPr/>
          <p:nvPr/>
        </p:nvSpPr>
        <p:spPr>
          <a:xfrm>
            <a:off x="11514832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228" name="Text 225"/>
          <p:cNvSpPr txBox="1"/>
          <p:nvPr/>
        </p:nvSpPr>
        <p:spPr>
          <a:xfrm>
            <a:off x="11800582" y="8688586"/>
            <a:ext cx="108317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enhanced module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508" y="26789"/>
            <a:ext cx="13599914" cy="357188"/>
          </a:xfrm>
          <a:prstGeom prst="roundRect">
            <a:avLst>
              <a:gd name="adj" fmla="val 7680"/>
            </a:avLst>
          </a:prstGeom>
          <a:solidFill>
            <a:srgbClr val="0B2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508" y="26789"/>
            <a:ext cx="1359991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  Sales Advisory Agent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Skills → MCP Tools → Shared Platforms → Data &amp; Enterprise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508" y="473273"/>
            <a:ext cx="13599914" cy="759023"/>
          </a:xfrm>
          <a:prstGeom prst="roundRect">
            <a:avLst>
              <a:gd name="adj" fmla="val 4819"/>
            </a:avLst>
          </a:prstGeom>
          <a:solidFill>
            <a:srgbClr val="DCEBFB"/>
          </a:solidFill>
          <a:ln w="9525">
            <a:solidFill>
              <a:srgbClr val="A9CB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172" y="642938"/>
            <a:ext cx="410766" cy="4107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5813" y="535781"/>
            <a:ext cx="725090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Advisory Agent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85813" y="794742"/>
            <a:ext cx="725090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Application:  </a:t>
            </a:r>
            <a:pPr algn="l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Sales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85813" y="955477"/>
            <a:ext cx="823317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customer advisory: needs exploration, scenario discussion, solution / product exploration, meeting and proposal preparation, replanning when assumptions change.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9197578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97578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9197578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0072688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72688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0072688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0947797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47797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0947797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1822906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822906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1822906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2698016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698016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2698016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enhanced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62508" y="1321594"/>
            <a:ext cx="1276945" cy="250031"/>
          </a:xfrm>
          <a:prstGeom prst="roundRect">
            <a:avLst>
              <a:gd name="adj" fmla="val 10971"/>
            </a:avLst>
          </a:prstGeom>
          <a:solidFill>
            <a:srgbClr val="DCEBF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2508" y="1321594"/>
            <a:ext cx="1276945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Group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464469" y="1321594"/>
            <a:ext cx="3214688" cy="250031"/>
          </a:xfrm>
          <a:prstGeom prst="roundRect">
            <a:avLst>
              <a:gd name="adj" fmla="val 10971"/>
            </a:avLst>
          </a:prstGeom>
          <a:solidFill>
            <a:srgbClr val="F6DE9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464469" y="1321594"/>
            <a:ext cx="3214688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Skills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bounded capability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875609" y="1321594"/>
            <a:ext cx="3393281" cy="250031"/>
          </a:xfrm>
          <a:prstGeom prst="roundRect">
            <a:avLst>
              <a:gd name="adj" fmla="val 10971"/>
            </a:avLst>
          </a:prstGeom>
          <a:solidFill>
            <a:srgbClr val="B9E6C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875609" y="1321594"/>
            <a:ext cx="3393281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MCP / AI Tools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governed execution &amp; data access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8465344" y="1321594"/>
            <a:ext cx="2214563" cy="250031"/>
          </a:xfrm>
          <a:prstGeom prst="roundRect">
            <a:avLst>
              <a:gd name="adj" fmla="val 10971"/>
            </a:avLst>
          </a:prstGeom>
          <a:solidFill>
            <a:srgbClr val="B8D6F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465344" y="1321594"/>
            <a:ext cx="22145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Shared Platform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API / capability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10876359" y="1321594"/>
            <a:ext cx="2786063" cy="250031"/>
          </a:xfrm>
          <a:prstGeom prst="roundRect">
            <a:avLst>
              <a:gd name="adj" fmla="val 10971"/>
            </a:avLst>
          </a:prstGeom>
          <a:solidFill>
            <a:srgbClr val="D3C8F5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876359" y="1321594"/>
            <a:ext cx="27860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Data &amp; Enterprise Systems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existing + new / enhanced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2508" y="1643063"/>
            <a:ext cx="1276945" cy="1314450"/>
          </a:xfrm>
          <a:prstGeom prst="roundRect">
            <a:avLst>
              <a:gd name="adj" fmla="val 2148"/>
            </a:avLst>
          </a:prstGeom>
          <a:solidFill>
            <a:srgbClr val="DCEBFB"/>
          </a:solidFill>
          <a:ln w="9525">
            <a:solidFill>
              <a:srgbClr val="A9CBE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33945" y="1643063"/>
            <a:ext cx="1169789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Understanding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1464469" y="1643063"/>
            <a:ext cx="3214688" cy="1314450"/>
          </a:xfrm>
          <a:prstGeom prst="roundRect">
            <a:avLst>
              <a:gd name="adj" fmla="val 1391"/>
            </a:avLst>
          </a:prstGeom>
          <a:solidFill>
            <a:srgbClr val="FDF4DE"/>
          </a:solidFill>
          <a:ln/>
        </p:spPr>
      </p:sp>
      <p:sp>
        <p:nvSpPr>
          <p:cNvPr id="37" name="Text 34"/>
          <p:cNvSpPr/>
          <p:nvPr/>
        </p:nvSpPr>
        <p:spPr>
          <a:xfrm>
            <a:off x="1535906" y="1732359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customer-brief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107531" y="1732359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customer-insight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535906" y="2029718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customer-timeline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107531" y="2029718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relationship-summary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1535906" y="2327077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life-stage-analysis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875609" y="1643063"/>
            <a:ext cx="3393281" cy="1314450"/>
          </a:xfrm>
          <a:prstGeom prst="roundRect">
            <a:avLst>
              <a:gd name="adj" fmla="val 1391"/>
            </a:avLst>
          </a:prstGeom>
          <a:solidFill>
            <a:srgbClr val="E4F6EA"/>
          </a:solidFill>
          <a:ln/>
        </p:spPr>
      </p:sp>
      <p:sp>
        <p:nvSpPr>
          <p:cNvPr id="43" name="Text 40"/>
          <p:cNvSpPr/>
          <p:nvPr/>
        </p:nvSpPr>
        <p:spPr>
          <a:xfrm>
            <a:off x="4947047" y="1732359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get_customer_360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607969" y="1732359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get_customer_profile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947047" y="2029718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get_customer_household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607969" y="2029718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get_customer_relationships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947047" y="2327077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get_customer_interactions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607969" y="2327077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get_customer_policies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705945" y="2300288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8465344" y="1643063"/>
            <a:ext cx="2214563" cy="1314450"/>
          </a:xfrm>
          <a:prstGeom prst="roundRect">
            <a:avLst>
              <a:gd name="adj" fmla="val 1391"/>
            </a:avLst>
          </a:prstGeom>
          <a:solidFill>
            <a:srgbClr val="E3EEFB"/>
          </a:solidFill>
          <a:ln/>
        </p:spPr>
      </p:sp>
      <p:sp>
        <p:nvSpPr>
          <p:cNvPr id="51" name="Text 48"/>
          <p:cNvSpPr/>
          <p:nvPr/>
        </p:nvSpPr>
        <p:spPr>
          <a:xfrm>
            <a:off x="8536781" y="1732359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Data &amp; Semantic Platform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8536781" y="2029718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API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8536781" y="2327077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API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8536781" y="2624435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360 API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8295680" y="2300288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10876359" y="1643063"/>
            <a:ext cx="2786063" cy="1314450"/>
          </a:xfrm>
          <a:prstGeom prst="roundRect">
            <a:avLst>
              <a:gd name="adj" fmla="val 1391"/>
            </a:avLst>
          </a:prstGeom>
          <a:solidFill>
            <a:srgbClr val="F3F0FB"/>
          </a:solidFill>
          <a:ln/>
        </p:spPr>
      </p:sp>
      <p:sp>
        <p:nvSpPr>
          <p:cNvPr id="57" name="Text 54"/>
          <p:cNvSpPr/>
          <p:nvPr/>
        </p:nvSpPr>
        <p:spPr>
          <a:xfrm>
            <a:off x="10947797" y="1732359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2305109" y="1732359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 / MDM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0947797" y="2029718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Admin System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12305109" y="2029718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/ Lakehouse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10947797" y="2327077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Data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2305109" y="2327077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10706695" y="2300288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64" name="Shape 61"/>
          <p:cNvSpPr/>
          <p:nvPr/>
        </p:nvSpPr>
        <p:spPr>
          <a:xfrm>
            <a:off x="62508" y="3028950"/>
            <a:ext cx="1276945" cy="1314450"/>
          </a:xfrm>
          <a:prstGeom prst="roundRect">
            <a:avLst>
              <a:gd name="adj" fmla="val 2148"/>
            </a:avLst>
          </a:prstGeom>
          <a:solidFill>
            <a:srgbClr val="DCEBFB"/>
          </a:solidFill>
          <a:ln w="9525">
            <a:solidFill>
              <a:srgbClr val="A9CBEF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133945" y="3028950"/>
            <a:ext cx="1169789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/ Needs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skills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1464469" y="3028950"/>
            <a:ext cx="3214688" cy="1314450"/>
          </a:xfrm>
          <a:prstGeom prst="roundRect">
            <a:avLst>
              <a:gd name="adj" fmla="val 1391"/>
            </a:avLst>
          </a:prstGeom>
          <a:solidFill>
            <a:srgbClr val="FDF4DE"/>
          </a:solidFill>
          <a:ln/>
        </p:spPr>
      </p:sp>
      <p:sp>
        <p:nvSpPr>
          <p:cNvPr id="67" name="Text 64"/>
          <p:cNvSpPr/>
          <p:nvPr/>
        </p:nvSpPr>
        <p:spPr>
          <a:xfrm>
            <a:off x="1535906" y="3118247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needs-analysis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3107531" y="3118247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coverage-gap-analysis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1535906" y="3415605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protection-gap-analysis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3107531" y="3415605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education-gap-analysis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1535906" y="3712964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retirement-gap-analysis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3107531" y="3712964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affordability-analysis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1535906" y="4010323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solution-recommendation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4875609" y="3028950"/>
            <a:ext cx="3393281" cy="1314450"/>
          </a:xfrm>
          <a:prstGeom prst="roundRect">
            <a:avLst>
              <a:gd name="adj" fmla="val 1391"/>
            </a:avLst>
          </a:prstGeom>
          <a:solidFill>
            <a:srgbClr val="E4F6EA"/>
          </a:solidFill>
          <a:ln/>
        </p:spPr>
      </p:sp>
      <p:sp>
        <p:nvSpPr>
          <p:cNvPr id="75" name="Text 72"/>
          <p:cNvSpPr/>
          <p:nvPr/>
        </p:nvSpPr>
        <p:spPr>
          <a:xfrm>
            <a:off x="4947047" y="3118247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run_needs_analysis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6607969" y="3118247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calculate_protection_gap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4947047" y="3415605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calculate_education_gap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6607969" y="3415605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calculate_retirement_gap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4947047" y="3712964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calculate_affordability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6607969" y="3712964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get_customer_financial_profile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4947047" y="4010323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get_policy_coverage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4705945" y="368617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83" name="Shape 80"/>
          <p:cNvSpPr/>
          <p:nvPr/>
        </p:nvSpPr>
        <p:spPr>
          <a:xfrm>
            <a:off x="8465344" y="3028950"/>
            <a:ext cx="2214563" cy="1314450"/>
          </a:xfrm>
          <a:prstGeom prst="roundRect">
            <a:avLst>
              <a:gd name="adj" fmla="val 1391"/>
            </a:avLst>
          </a:prstGeom>
          <a:solidFill>
            <a:srgbClr val="E3EEFB"/>
          </a:solidFill>
          <a:ln/>
        </p:spPr>
      </p:sp>
      <p:sp>
        <p:nvSpPr>
          <p:cNvPr id="84" name="Text 81"/>
          <p:cNvSpPr/>
          <p:nvPr/>
        </p:nvSpPr>
        <p:spPr>
          <a:xfrm>
            <a:off x="8536781" y="3118247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&amp; NBA Platform</a:t>
            </a:r>
            <a:endParaRPr lang="en-US" sz="1050" dirty="0"/>
          </a:p>
        </p:txBody>
      </p:sp>
      <p:sp>
        <p:nvSpPr>
          <p:cNvPr id="85" name="Text 82"/>
          <p:cNvSpPr/>
          <p:nvPr/>
        </p:nvSpPr>
        <p:spPr>
          <a:xfrm>
            <a:off x="8536781" y="3415605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API</a:t>
            </a:r>
            <a:endParaRPr lang="en-US" sz="1050" dirty="0"/>
          </a:p>
        </p:txBody>
      </p:sp>
      <p:sp>
        <p:nvSpPr>
          <p:cNvPr id="86" name="Text 83"/>
          <p:cNvSpPr/>
          <p:nvPr/>
        </p:nvSpPr>
        <p:spPr>
          <a:xfrm>
            <a:off x="8536781" y="3712964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API</a:t>
            </a:r>
            <a:endParaRPr lang="en-US" sz="1050" dirty="0"/>
          </a:p>
        </p:txBody>
      </p:sp>
      <p:sp>
        <p:nvSpPr>
          <p:cNvPr id="87" name="Text 84"/>
          <p:cNvSpPr/>
          <p:nvPr/>
        </p:nvSpPr>
        <p:spPr>
          <a:xfrm>
            <a:off x="8536781" y="4010323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360 API</a:t>
            </a:r>
            <a:endParaRPr lang="en-US" sz="1050" dirty="0"/>
          </a:p>
        </p:txBody>
      </p:sp>
      <p:sp>
        <p:nvSpPr>
          <p:cNvPr id="88" name="Shape 85"/>
          <p:cNvSpPr/>
          <p:nvPr/>
        </p:nvSpPr>
        <p:spPr>
          <a:xfrm>
            <a:off x="8295680" y="368617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89" name="Shape 86"/>
          <p:cNvSpPr/>
          <p:nvPr/>
        </p:nvSpPr>
        <p:spPr>
          <a:xfrm>
            <a:off x="10876359" y="3028950"/>
            <a:ext cx="2786063" cy="1314450"/>
          </a:xfrm>
          <a:prstGeom prst="roundRect">
            <a:avLst>
              <a:gd name="adj" fmla="val 1391"/>
            </a:avLst>
          </a:prstGeom>
          <a:solidFill>
            <a:srgbClr val="F3F0FB"/>
          </a:solidFill>
          <a:ln/>
        </p:spPr>
      </p:sp>
      <p:sp>
        <p:nvSpPr>
          <p:cNvPr id="90" name="Text 87"/>
          <p:cNvSpPr/>
          <p:nvPr/>
        </p:nvSpPr>
        <p:spPr>
          <a:xfrm>
            <a:off x="10947797" y="3118247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12305109" y="3118247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 / MDM</a:t>
            </a:r>
            <a:endParaRPr lang="en-US" sz="800" dirty="0"/>
          </a:p>
        </p:txBody>
      </p:sp>
      <p:sp>
        <p:nvSpPr>
          <p:cNvPr id="92" name="Text 89"/>
          <p:cNvSpPr/>
          <p:nvPr/>
        </p:nvSpPr>
        <p:spPr>
          <a:xfrm>
            <a:off x="10947797" y="3415605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Admin System</a:t>
            </a:r>
            <a:endParaRPr lang="en-US" sz="800" dirty="0"/>
          </a:p>
        </p:txBody>
      </p:sp>
      <p:sp>
        <p:nvSpPr>
          <p:cNvPr id="93" name="Text 90"/>
          <p:cNvSpPr/>
          <p:nvPr/>
        </p:nvSpPr>
        <p:spPr>
          <a:xfrm>
            <a:off x="12305109" y="3415605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Analysis Engine</a:t>
            </a:r>
            <a:endParaRPr lang="en-US" sz="800" dirty="0"/>
          </a:p>
        </p:txBody>
      </p:sp>
      <p:sp>
        <p:nvSpPr>
          <p:cNvPr id="94" name="Text 91"/>
          <p:cNvSpPr/>
          <p:nvPr/>
        </p:nvSpPr>
        <p:spPr>
          <a:xfrm>
            <a:off x="10947797" y="3712964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800" dirty="0"/>
          </a:p>
        </p:txBody>
      </p:sp>
      <p:sp>
        <p:nvSpPr>
          <p:cNvPr id="95" name="Text 92"/>
          <p:cNvSpPr/>
          <p:nvPr/>
        </p:nvSpPr>
        <p:spPr>
          <a:xfrm>
            <a:off x="12305109" y="3712964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Models</a:t>
            </a:r>
            <a:endParaRPr lang="en-US" sz="800" dirty="0"/>
          </a:p>
        </p:txBody>
      </p:sp>
      <p:sp>
        <p:nvSpPr>
          <p:cNvPr id="96" name="Shape 93"/>
          <p:cNvSpPr/>
          <p:nvPr/>
        </p:nvSpPr>
        <p:spPr>
          <a:xfrm>
            <a:off x="10706695" y="368617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97" name="Shape 94"/>
          <p:cNvSpPr/>
          <p:nvPr/>
        </p:nvSpPr>
        <p:spPr>
          <a:xfrm>
            <a:off x="62508" y="4414838"/>
            <a:ext cx="1276945" cy="1314450"/>
          </a:xfrm>
          <a:prstGeom prst="roundRect">
            <a:avLst>
              <a:gd name="adj" fmla="val 2148"/>
            </a:avLst>
          </a:prstGeom>
          <a:solidFill>
            <a:srgbClr val="DCEBFB"/>
          </a:solidFill>
          <a:ln w="9525">
            <a:solidFill>
              <a:srgbClr val="A9CBEF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133945" y="4414838"/>
            <a:ext cx="1169789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Solution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</a:t>
            </a:r>
            <a:endParaRPr lang="en-US" sz="800" dirty="0"/>
          </a:p>
        </p:txBody>
      </p:sp>
      <p:sp>
        <p:nvSpPr>
          <p:cNvPr id="99" name="Shape 96"/>
          <p:cNvSpPr/>
          <p:nvPr/>
        </p:nvSpPr>
        <p:spPr>
          <a:xfrm>
            <a:off x="1464469" y="4414838"/>
            <a:ext cx="3214688" cy="1314450"/>
          </a:xfrm>
          <a:prstGeom prst="roundRect">
            <a:avLst>
              <a:gd name="adj" fmla="val 1391"/>
            </a:avLst>
          </a:prstGeom>
          <a:solidFill>
            <a:srgbClr val="FDF4DE"/>
          </a:solidFill>
          <a:ln/>
        </p:spPr>
      </p:sp>
      <p:sp>
        <p:nvSpPr>
          <p:cNvPr id="100" name="Text 97"/>
          <p:cNvSpPr/>
          <p:nvPr/>
        </p:nvSpPr>
        <p:spPr>
          <a:xfrm>
            <a:off x="1535906" y="4504134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product-recommendation</a:t>
            </a:r>
            <a:endParaRPr lang="en-US" sz="1000" dirty="0"/>
          </a:p>
        </p:txBody>
      </p:sp>
      <p:sp>
        <p:nvSpPr>
          <p:cNvPr id="101" name="Text 98"/>
          <p:cNvSpPr/>
          <p:nvPr/>
        </p:nvSpPr>
        <p:spPr>
          <a:xfrm>
            <a:off x="3107531" y="4504134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product-comparison</a:t>
            </a:r>
            <a:endParaRPr lang="en-US" sz="1000" dirty="0"/>
          </a:p>
        </p:txBody>
      </p:sp>
      <p:sp>
        <p:nvSpPr>
          <p:cNvPr id="102" name="Text 99"/>
          <p:cNvSpPr/>
          <p:nvPr/>
        </p:nvSpPr>
        <p:spPr>
          <a:xfrm>
            <a:off x="1535906" y="4801493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product-explanation</a:t>
            </a:r>
            <a:endParaRPr lang="en-US" sz="1000" dirty="0"/>
          </a:p>
        </p:txBody>
      </p:sp>
      <p:sp>
        <p:nvSpPr>
          <p:cNvPr id="103" name="Text 100"/>
          <p:cNvSpPr/>
          <p:nvPr/>
        </p:nvSpPr>
        <p:spPr>
          <a:xfrm>
            <a:off x="3107531" y="4801493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benefit-explanation</a:t>
            </a:r>
            <a:endParaRPr lang="en-US" sz="1000" dirty="0"/>
          </a:p>
        </p:txBody>
      </p:sp>
      <p:sp>
        <p:nvSpPr>
          <p:cNvPr id="104" name="Text 101"/>
          <p:cNvSpPr/>
          <p:nvPr/>
        </p:nvSpPr>
        <p:spPr>
          <a:xfrm>
            <a:off x="1535906" y="5098852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eligibility-analysis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4875609" y="4414838"/>
            <a:ext cx="3393281" cy="1314450"/>
          </a:xfrm>
          <a:prstGeom prst="roundRect">
            <a:avLst>
              <a:gd name="adj" fmla="val 1391"/>
            </a:avLst>
          </a:prstGeom>
          <a:solidFill>
            <a:srgbClr val="E4F6EA"/>
          </a:solidFill>
          <a:ln/>
        </p:spPr>
      </p:sp>
      <p:sp>
        <p:nvSpPr>
          <p:cNvPr id="106" name="Text 103"/>
          <p:cNvSpPr/>
          <p:nvPr/>
        </p:nvSpPr>
        <p:spPr>
          <a:xfrm>
            <a:off x="4947047" y="4504134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get_product_catalog</a:t>
            </a:r>
            <a:endParaRPr lang="en-US" sz="900" dirty="0"/>
          </a:p>
        </p:txBody>
      </p:sp>
      <p:sp>
        <p:nvSpPr>
          <p:cNvPr id="107" name="Text 104"/>
          <p:cNvSpPr/>
          <p:nvPr/>
        </p:nvSpPr>
        <p:spPr>
          <a:xfrm>
            <a:off x="6607969" y="4504134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get_product_detail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4947047" y="4801493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get_product_benefits</a:t>
            </a:r>
            <a:endParaRPr lang="en-US" sz="900" dirty="0"/>
          </a:p>
        </p:txBody>
      </p:sp>
      <p:sp>
        <p:nvSpPr>
          <p:cNvPr id="109" name="Text 106"/>
          <p:cNvSpPr/>
          <p:nvPr/>
        </p:nvSpPr>
        <p:spPr>
          <a:xfrm>
            <a:off x="6607969" y="4801493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get_product_riders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4947047" y="5098852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check_product_eligibility</a:t>
            </a:r>
            <a:endParaRPr lang="en-US" sz="900" dirty="0"/>
          </a:p>
        </p:txBody>
      </p:sp>
      <p:sp>
        <p:nvSpPr>
          <p:cNvPr id="111" name="Text 108"/>
          <p:cNvSpPr/>
          <p:nvPr/>
        </p:nvSpPr>
        <p:spPr>
          <a:xfrm>
            <a:off x="6607969" y="5098852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get_next_best_product</a:t>
            </a:r>
            <a:endParaRPr lang="en-US" sz="900" dirty="0"/>
          </a:p>
        </p:txBody>
      </p:sp>
      <p:sp>
        <p:nvSpPr>
          <p:cNvPr id="112" name="Text 109"/>
          <p:cNvSpPr/>
          <p:nvPr/>
        </p:nvSpPr>
        <p:spPr>
          <a:xfrm>
            <a:off x="4947047" y="5396210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search_knowledge</a:t>
            </a:r>
            <a:endParaRPr lang="en-US" sz="900" dirty="0"/>
          </a:p>
        </p:txBody>
      </p:sp>
      <p:sp>
        <p:nvSpPr>
          <p:cNvPr id="113" name="Shape 110"/>
          <p:cNvSpPr/>
          <p:nvPr/>
        </p:nvSpPr>
        <p:spPr>
          <a:xfrm>
            <a:off x="4705945" y="5072063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14" name="Shape 111"/>
          <p:cNvSpPr/>
          <p:nvPr/>
        </p:nvSpPr>
        <p:spPr>
          <a:xfrm>
            <a:off x="8465344" y="4414838"/>
            <a:ext cx="2214563" cy="1314450"/>
          </a:xfrm>
          <a:prstGeom prst="roundRect">
            <a:avLst>
              <a:gd name="adj" fmla="val 1391"/>
            </a:avLst>
          </a:prstGeom>
          <a:solidFill>
            <a:srgbClr val="E3EEFB"/>
          </a:solidFill>
          <a:ln/>
        </p:spPr>
      </p:sp>
      <p:sp>
        <p:nvSpPr>
          <p:cNvPr id="115" name="Text 112"/>
          <p:cNvSpPr/>
          <p:nvPr/>
        </p:nvSpPr>
        <p:spPr>
          <a:xfrm>
            <a:off x="8536781" y="4504134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&amp; NBA Platform</a:t>
            </a:r>
            <a:endParaRPr lang="en-US" sz="1050" dirty="0"/>
          </a:p>
        </p:txBody>
      </p:sp>
      <p:sp>
        <p:nvSpPr>
          <p:cNvPr id="116" name="Text 113"/>
          <p:cNvSpPr/>
          <p:nvPr/>
        </p:nvSpPr>
        <p:spPr>
          <a:xfrm>
            <a:off x="8536781" y="4801493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GenAI Platform</a:t>
            </a:r>
            <a:endParaRPr lang="en-US" sz="1050" dirty="0"/>
          </a:p>
        </p:txBody>
      </p:sp>
      <p:sp>
        <p:nvSpPr>
          <p:cNvPr id="117" name="Text 114"/>
          <p:cNvSpPr/>
          <p:nvPr/>
        </p:nvSpPr>
        <p:spPr>
          <a:xfrm>
            <a:off x="8536781" y="5098852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API</a:t>
            </a:r>
            <a:endParaRPr lang="en-US" sz="1050" dirty="0"/>
          </a:p>
        </p:txBody>
      </p:sp>
      <p:sp>
        <p:nvSpPr>
          <p:cNvPr id="118" name="Text 115"/>
          <p:cNvSpPr/>
          <p:nvPr/>
        </p:nvSpPr>
        <p:spPr>
          <a:xfrm>
            <a:off x="8536781" y="5396210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API</a:t>
            </a:r>
            <a:endParaRPr lang="en-US" sz="1050" dirty="0"/>
          </a:p>
        </p:txBody>
      </p:sp>
      <p:sp>
        <p:nvSpPr>
          <p:cNvPr id="119" name="Shape 116"/>
          <p:cNvSpPr/>
          <p:nvPr/>
        </p:nvSpPr>
        <p:spPr>
          <a:xfrm>
            <a:off x="8295680" y="5072063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20" name="Shape 117"/>
          <p:cNvSpPr/>
          <p:nvPr/>
        </p:nvSpPr>
        <p:spPr>
          <a:xfrm>
            <a:off x="10876359" y="4414838"/>
            <a:ext cx="2786063" cy="1314450"/>
          </a:xfrm>
          <a:prstGeom prst="roundRect">
            <a:avLst>
              <a:gd name="adj" fmla="val 1391"/>
            </a:avLst>
          </a:prstGeom>
          <a:solidFill>
            <a:srgbClr val="F3F0FB"/>
          </a:solidFill>
          <a:ln/>
        </p:spPr>
      </p:sp>
      <p:sp>
        <p:nvSpPr>
          <p:cNvPr id="121" name="Text 118"/>
          <p:cNvSpPr/>
          <p:nvPr/>
        </p:nvSpPr>
        <p:spPr>
          <a:xfrm>
            <a:off x="10947797" y="4504134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Master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12305109" y="4504134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947797" y="4801493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2305109" y="4801493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Router</a:t>
            </a:r>
            <a:endParaRPr lang="en-US" sz="800" dirty="0"/>
          </a:p>
        </p:txBody>
      </p:sp>
      <p:sp>
        <p:nvSpPr>
          <p:cNvPr id="125" name="Shape 122"/>
          <p:cNvSpPr/>
          <p:nvPr/>
        </p:nvSpPr>
        <p:spPr>
          <a:xfrm>
            <a:off x="10706695" y="5072063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26" name="Shape 123"/>
          <p:cNvSpPr/>
          <p:nvPr/>
        </p:nvSpPr>
        <p:spPr>
          <a:xfrm>
            <a:off x="62508" y="5800725"/>
            <a:ext cx="1276945" cy="1314450"/>
          </a:xfrm>
          <a:prstGeom prst="roundRect">
            <a:avLst>
              <a:gd name="adj" fmla="val 2148"/>
            </a:avLst>
          </a:prstGeom>
          <a:solidFill>
            <a:srgbClr val="DCEBFB"/>
          </a:solidFill>
          <a:ln w="9525">
            <a:solidFill>
              <a:srgbClr val="A9CBEF"/>
            </a:solidFill>
            <a:prstDash val="solid"/>
          </a:ln>
        </p:spPr>
      </p:sp>
      <p:sp>
        <p:nvSpPr>
          <p:cNvPr id="127" name="Text 124"/>
          <p:cNvSpPr txBox="1"/>
          <p:nvPr/>
        </p:nvSpPr>
        <p:spPr>
          <a:xfrm>
            <a:off x="133945" y="5800725"/>
            <a:ext cx="1169789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skills</a:t>
            </a:r>
            <a:endParaRPr lang="en-US" sz="800" dirty="0"/>
          </a:p>
        </p:txBody>
      </p:sp>
      <p:sp>
        <p:nvSpPr>
          <p:cNvPr id="128" name="Shape 125"/>
          <p:cNvSpPr/>
          <p:nvPr/>
        </p:nvSpPr>
        <p:spPr>
          <a:xfrm>
            <a:off x="1464469" y="5800725"/>
            <a:ext cx="3214688" cy="1314450"/>
          </a:xfrm>
          <a:prstGeom prst="roundRect">
            <a:avLst>
              <a:gd name="adj" fmla="val 1391"/>
            </a:avLst>
          </a:prstGeom>
          <a:solidFill>
            <a:srgbClr val="FDF4DE"/>
          </a:solidFill>
          <a:ln/>
        </p:spPr>
      </p:sp>
      <p:sp>
        <p:nvSpPr>
          <p:cNvPr id="129" name="Text 126"/>
          <p:cNvSpPr/>
          <p:nvPr/>
        </p:nvSpPr>
        <p:spPr>
          <a:xfrm>
            <a:off x="1535906" y="5890022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meeting-preparation</a:t>
            </a:r>
            <a:endParaRPr lang="en-US" sz="1000" dirty="0"/>
          </a:p>
        </p:txBody>
      </p:sp>
      <p:sp>
        <p:nvSpPr>
          <p:cNvPr id="130" name="Text 127"/>
          <p:cNvSpPr/>
          <p:nvPr/>
        </p:nvSpPr>
        <p:spPr>
          <a:xfrm>
            <a:off x="3107531" y="5890022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meeting-agenda</a:t>
            </a:r>
            <a:endParaRPr lang="en-US" sz="1000" dirty="0"/>
          </a:p>
        </p:txBody>
      </p:sp>
      <p:sp>
        <p:nvSpPr>
          <p:cNvPr id="131" name="Text 128"/>
          <p:cNvSpPr/>
          <p:nvPr/>
        </p:nvSpPr>
        <p:spPr>
          <a:xfrm>
            <a:off x="1535906" y="6187380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question-generation</a:t>
            </a:r>
            <a:endParaRPr lang="en-US" sz="1000" dirty="0"/>
          </a:p>
        </p:txBody>
      </p:sp>
      <p:sp>
        <p:nvSpPr>
          <p:cNvPr id="132" name="Text 129"/>
          <p:cNvSpPr/>
          <p:nvPr/>
        </p:nvSpPr>
        <p:spPr>
          <a:xfrm>
            <a:off x="3107531" y="6187380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objection-preparation</a:t>
            </a:r>
            <a:endParaRPr lang="en-US" sz="1000" dirty="0"/>
          </a:p>
        </p:txBody>
      </p:sp>
      <p:sp>
        <p:nvSpPr>
          <p:cNvPr id="133" name="Text 130"/>
          <p:cNvSpPr/>
          <p:nvPr/>
        </p:nvSpPr>
        <p:spPr>
          <a:xfrm>
            <a:off x="1535906" y="6484739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meeting-note-summary</a:t>
            </a:r>
            <a:endParaRPr lang="en-US" sz="1000" dirty="0"/>
          </a:p>
        </p:txBody>
      </p:sp>
      <p:sp>
        <p:nvSpPr>
          <p:cNvPr id="134" name="Text 131"/>
          <p:cNvSpPr/>
          <p:nvPr/>
        </p:nvSpPr>
        <p:spPr>
          <a:xfrm>
            <a:off x="3107531" y="6484739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meeting-action-extraction</a:t>
            </a:r>
            <a:endParaRPr lang="en-US" sz="1000" dirty="0"/>
          </a:p>
        </p:txBody>
      </p:sp>
      <p:sp>
        <p:nvSpPr>
          <p:cNvPr id="135" name="Text 132"/>
          <p:cNvSpPr/>
          <p:nvPr/>
        </p:nvSpPr>
        <p:spPr>
          <a:xfrm>
            <a:off x="1535906" y="6782098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meeting-followup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4875609" y="5800725"/>
            <a:ext cx="3393281" cy="1314450"/>
          </a:xfrm>
          <a:prstGeom prst="roundRect">
            <a:avLst>
              <a:gd name="adj" fmla="val 1391"/>
            </a:avLst>
          </a:prstGeom>
          <a:solidFill>
            <a:srgbClr val="E4F6EA"/>
          </a:solidFill>
          <a:ln/>
        </p:spPr>
      </p:sp>
      <p:sp>
        <p:nvSpPr>
          <p:cNvPr id="137" name="Text 134"/>
          <p:cNvSpPr/>
          <p:nvPr/>
        </p:nvSpPr>
        <p:spPr>
          <a:xfrm>
            <a:off x="4947047" y="5890022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get_customer_360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6607969" y="5890022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get_customer_interactions</a:t>
            </a:r>
            <a:endParaRPr lang="en-US" sz="900" dirty="0"/>
          </a:p>
        </p:txBody>
      </p:sp>
      <p:sp>
        <p:nvSpPr>
          <p:cNvPr id="139" name="Text 136"/>
          <p:cNvSpPr/>
          <p:nvPr/>
        </p:nvSpPr>
        <p:spPr>
          <a:xfrm>
            <a:off x="4947047" y="6187380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get_customer_opportunities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6607969" y="6187380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search_knowledge</a:t>
            </a:r>
            <a:endParaRPr lang="en-US" sz="900" dirty="0"/>
          </a:p>
        </p:txBody>
      </p:sp>
      <p:sp>
        <p:nvSpPr>
          <p:cNvPr id="141" name="Text 138"/>
          <p:cNvSpPr/>
          <p:nvPr/>
        </p:nvSpPr>
        <p:spPr>
          <a:xfrm>
            <a:off x="4947047" y="6484739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create_customer_note</a:t>
            </a:r>
            <a:endParaRPr lang="en-US" sz="900" dirty="0"/>
          </a:p>
        </p:txBody>
      </p:sp>
      <p:sp>
        <p:nvSpPr>
          <p:cNvPr id="142" name="Text 139"/>
          <p:cNvSpPr/>
          <p:nvPr/>
        </p:nvSpPr>
        <p:spPr>
          <a:xfrm>
            <a:off x="6607969" y="6484739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create_work_item</a:t>
            </a:r>
            <a:endParaRPr lang="en-US" sz="900" dirty="0"/>
          </a:p>
        </p:txBody>
      </p:sp>
      <p:sp>
        <p:nvSpPr>
          <p:cNvPr id="143" name="Text 140"/>
          <p:cNvSpPr/>
          <p:nvPr/>
        </p:nvSpPr>
        <p:spPr>
          <a:xfrm>
            <a:off x="4947047" y="6782098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tools (TBD)</a:t>
            </a:r>
            <a:endParaRPr lang="en-US" sz="900" dirty="0"/>
          </a:p>
        </p:txBody>
      </p:sp>
      <p:sp>
        <p:nvSpPr>
          <p:cNvPr id="144" name="Shape 141"/>
          <p:cNvSpPr/>
          <p:nvPr/>
        </p:nvSpPr>
        <p:spPr>
          <a:xfrm>
            <a:off x="4705945" y="6457950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45" name="Shape 142"/>
          <p:cNvSpPr/>
          <p:nvPr/>
        </p:nvSpPr>
        <p:spPr>
          <a:xfrm>
            <a:off x="8465344" y="5800725"/>
            <a:ext cx="2214563" cy="1314450"/>
          </a:xfrm>
          <a:prstGeom prst="roundRect">
            <a:avLst>
              <a:gd name="adj" fmla="val 1391"/>
            </a:avLst>
          </a:prstGeom>
          <a:solidFill>
            <a:srgbClr val="E3EEFB"/>
          </a:solidFill>
          <a:ln/>
        </p:spPr>
      </p:sp>
      <p:sp>
        <p:nvSpPr>
          <p:cNvPr id="146" name="Text 143"/>
          <p:cNvSpPr/>
          <p:nvPr/>
        </p:nvSpPr>
        <p:spPr>
          <a:xfrm>
            <a:off x="8536781" y="5890022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Data &amp; Semantic Platform</a:t>
            </a:r>
            <a:endParaRPr lang="en-US" sz="1050" dirty="0"/>
          </a:p>
        </p:txBody>
      </p:sp>
      <p:sp>
        <p:nvSpPr>
          <p:cNvPr id="147" name="Text 144"/>
          <p:cNvSpPr/>
          <p:nvPr/>
        </p:nvSpPr>
        <p:spPr>
          <a:xfrm>
            <a:off x="8536781" y="6187380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&amp; Work Platform</a:t>
            </a:r>
            <a:endParaRPr lang="en-US" sz="1050" dirty="0"/>
          </a:p>
        </p:txBody>
      </p:sp>
      <p:sp>
        <p:nvSpPr>
          <p:cNvPr id="148" name="Text 145"/>
          <p:cNvSpPr/>
          <p:nvPr/>
        </p:nvSpPr>
        <p:spPr>
          <a:xfrm>
            <a:off x="8536781" y="6484739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GenAI Platform</a:t>
            </a:r>
            <a:endParaRPr lang="en-US" sz="1050" dirty="0"/>
          </a:p>
        </p:txBody>
      </p:sp>
      <p:sp>
        <p:nvSpPr>
          <p:cNvPr id="149" name="Text 146"/>
          <p:cNvSpPr/>
          <p:nvPr/>
        </p:nvSpPr>
        <p:spPr>
          <a:xfrm>
            <a:off x="8536781" y="6782098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API</a:t>
            </a:r>
            <a:endParaRPr lang="en-US" sz="1050" dirty="0"/>
          </a:p>
        </p:txBody>
      </p:sp>
      <p:sp>
        <p:nvSpPr>
          <p:cNvPr id="150" name="Shape 147"/>
          <p:cNvSpPr/>
          <p:nvPr/>
        </p:nvSpPr>
        <p:spPr>
          <a:xfrm>
            <a:off x="8295680" y="6457950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51" name="Shape 148"/>
          <p:cNvSpPr/>
          <p:nvPr/>
        </p:nvSpPr>
        <p:spPr>
          <a:xfrm>
            <a:off x="10876359" y="5800725"/>
            <a:ext cx="2786063" cy="1314450"/>
          </a:xfrm>
          <a:prstGeom prst="roundRect">
            <a:avLst>
              <a:gd name="adj" fmla="val 1391"/>
            </a:avLst>
          </a:prstGeom>
          <a:solidFill>
            <a:srgbClr val="F3F0FB"/>
          </a:solidFill>
          <a:ln/>
        </p:spPr>
      </p:sp>
      <p:sp>
        <p:nvSpPr>
          <p:cNvPr id="152" name="Text 149"/>
          <p:cNvSpPr/>
          <p:nvPr/>
        </p:nvSpPr>
        <p:spPr>
          <a:xfrm>
            <a:off x="10947797" y="5890022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2305109" y="5890022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Data</a:t>
            </a:r>
            <a:endParaRPr lang="en-US" sz="800" dirty="0"/>
          </a:p>
        </p:txBody>
      </p:sp>
      <p:sp>
        <p:nvSpPr>
          <p:cNvPr id="154" name="Text 151"/>
          <p:cNvSpPr/>
          <p:nvPr/>
        </p:nvSpPr>
        <p:spPr>
          <a:xfrm>
            <a:off x="10947797" y="6187380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/ Outlook</a:t>
            </a:r>
            <a:endParaRPr lang="en-US" sz="800" dirty="0"/>
          </a:p>
        </p:txBody>
      </p:sp>
      <p:sp>
        <p:nvSpPr>
          <p:cNvPr id="155" name="Text 152"/>
          <p:cNvSpPr/>
          <p:nvPr/>
        </p:nvSpPr>
        <p:spPr>
          <a:xfrm>
            <a:off x="12305109" y="6187380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Service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10947797" y="6484739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Router</a:t>
            </a:r>
            <a:endParaRPr lang="en-US" sz="800" dirty="0"/>
          </a:p>
        </p:txBody>
      </p:sp>
      <p:sp>
        <p:nvSpPr>
          <p:cNvPr id="157" name="Shape 154"/>
          <p:cNvSpPr/>
          <p:nvPr/>
        </p:nvSpPr>
        <p:spPr>
          <a:xfrm>
            <a:off x="10706695" y="6457950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58" name="Shape 155"/>
          <p:cNvSpPr/>
          <p:nvPr/>
        </p:nvSpPr>
        <p:spPr>
          <a:xfrm>
            <a:off x="62508" y="7186613"/>
            <a:ext cx="1276945" cy="1314450"/>
          </a:xfrm>
          <a:prstGeom prst="roundRect">
            <a:avLst>
              <a:gd name="adj" fmla="val 2148"/>
            </a:avLst>
          </a:prstGeom>
          <a:solidFill>
            <a:srgbClr val="DCEBFB"/>
          </a:solidFill>
          <a:ln w="9525">
            <a:solidFill>
              <a:srgbClr val="A9CBEF"/>
            </a:solidFill>
            <a:prstDash val="solid"/>
          </a:ln>
        </p:spPr>
      </p:sp>
      <p:sp>
        <p:nvSpPr>
          <p:cNvPr id="159" name="Text 156"/>
          <p:cNvSpPr txBox="1"/>
          <p:nvPr/>
        </p:nvSpPr>
        <p:spPr>
          <a:xfrm>
            <a:off x="133945" y="7186613"/>
            <a:ext cx="1169789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skills</a:t>
            </a:r>
            <a:endParaRPr lang="en-US" sz="800" dirty="0"/>
          </a:p>
        </p:txBody>
      </p:sp>
      <p:sp>
        <p:nvSpPr>
          <p:cNvPr id="160" name="Shape 157"/>
          <p:cNvSpPr/>
          <p:nvPr/>
        </p:nvSpPr>
        <p:spPr>
          <a:xfrm>
            <a:off x="1464469" y="7186613"/>
            <a:ext cx="3214688" cy="1314450"/>
          </a:xfrm>
          <a:prstGeom prst="roundRect">
            <a:avLst>
              <a:gd name="adj" fmla="val 1391"/>
            </a:avLst>
          </a:prstGeom>
          <a:solidFill>
            <a:srgbClr val="FDF4DE"/>
          </a:solidFill>
          <a:ln/>
        </p:spPr>
      </p:sp>
      <p:sp>
        <p:nvSpPr>
          <p:cNvPr id="161" name="Text 158"/>
          <p:cNvSpPr/>
          <p:nvPr/>
        </p:nvSpPr>
        <p:spPr>
          <a:xfrm>
            <a:off x="1535906" y="7275909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proposal-preparation</a:t>
            </a:r>
            <a:endParaRPr lang="en-US" sz="1000" dirty="0"/>
          </a:p>
        </p:txBody>
      </p:sp>
      <p:sp>
        <p:nvSpPr>
          <p:cNvPr id="162" name="Text 159"/>
          <p:cNvSpPr/>
          <p:nvPr/>
        </p:nvSpPr>
        <p:spPr>
          <a:xfrm>
            <a:off x="3107531" y="7275909"/>
            <a:ext cx="15001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compliance-check</a:t>
            </a:r>
            <a:endParaRPr lang="en-US" sz="1000" dirty="0"/>
          </a:p>
        </p:txBody>
      </p:sp>
      <p:sp>
        <p:nvSpPr>
          <p:cNvPr id="163" name="Shape 160"/>
          <p:cNvSpPr/>
          <p:nvPr/>
        </p:nvSpPr>
        <p:spPr>
          <a:xfrm>
            <a:off x="4875609" y="7186613"/>
            <a:ext cx="3393281" cy="1314450"/>
          </a:xfrm>
          <a:prstGeom prst="roundRect">
            <a:avLst>
              <a:gd name="adj" fmla="val 1391"/>
            </a:avLst>
          </a:prstGeom>
          <a:solidFill>
            <a:srgbClr val="E4F6EA"/>
          </a:solidFill>
          <a:ln/>
        </p:spPr>
      </p:sp>
      <p:sp>
        <p:nvSpPr>
          <p:cNvPr id="164" name="Text 161"/>
          <p:cNvSpPr/>
          <p:nvPr/>
        </p:nvSpPr>
        <p:spPr>
          <a:xfrm>
            <a:off x="4947047" y="7275909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get_product_rates</a:t>
            </a:r>
            <a:endParaRPr lang="en-US" sz="900" dirty="0"/>
          </a:p>
        </p:txBody>
      </p:sp>
      <p:sp>
        <p:nvSpPr>
          <p:cNvPr id="165" name="Text 162"/>
          <p:cNvSpPr/>
          <p:nvPr/>
        </p:nvSpPr>
        <p:spPr>
          <a:xfrm>
            <a:off x="6607969" y="7275909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calculate_premium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4947047" y="7573268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generate_illustration</a:t>
            </a:r>
            <a:endParaRPr lang="en-US" sz="900" dirty="0"/>
          </a:p>
        </p:txBody>
      </p:sp>
      <p:sp>
        <p:nvSpPr>
          <p:cNvPr id="167" name="Text 164"/>
          <p:cNvSpPr/>
          <p:nvPr/>
        </p:nvSpPr>
        <p:spPr>
          <a:xfrm>
            <a:off x="6607969" y="7573268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search_knowledge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4947047" y="7870627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retrieve_evidence</a:t>
            </a:r>
            <a:endParaRPr lang="en-US" sz="900" dirty="0"/>
          </a:p>
        </p:txBody>
      </p:sp>
      <p:sp>
        <p:nvSpPr>
          <p:cNvPr id="169" name="Text 166"/>
          <p:cNvSpPr/>
          <p:nvPr/>
        </p:nvSpPr>
        <p:spPr>
          <a:xfrm>
            <a:off x="6607969" y="7870627"/>
            <a:ext cx="1589484" cy="243780"/>
          </a:xfrm>
          <a:prstGeom prst="roundRect">
            <a:avLst>
              <a:gd name="adj" fmla="val 1125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create_approval</a:t>
            </a:r>
            <a:endParaRPr lang="en-US" sz="900" dirty="0"/>
          </a:p>
        </p:txBody>
      </p:sp>
      <p:sp>
        <p:nvSpPr>
          <p:cNvPr id="170" name="Shape 167"/>
          <p:cNvSpPr/>
          <p:nvPr/>
        </p:nvSpPr>
        <p:spPr>
          <a:xfrm>
            <a:off x="4705945" y="7843838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71" name="Shape 168"/>
          <p:cNvSpPr/>
          <p:nvPr/>
        </p:nvSpPr>
        <p:spPr>
          <a:xfrm>
            <a:off x="8465344" y="7186613"/>
            <a:ext cx="2214563" cy="1314450"/>
          </a:xfrm>
          <a:prstGeom prst="roundRect">
            <a:avLst>
              <a:gd name="adj" fmla="val 1391"/>
            </a:avLst>
          </a:prstGeom>
          <a:solidFill>
            <a:srgbClr val="E3EEFB"/>
          </a:solidFill>
          <a:ln/>
        </p:spPr>
      </p:sp>
      <p:sp>
        <p:nvSpPr>
          <p:cNvPr id="172" name="Text 169"/>
          <p:cNvSpPr/>
          <p:nvPr/>
        </p:nvSpPr>
        <p:spPr>
          <a:xfrm>
            <a:off x="8536781" y="7275909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GenAI Platform</a:t>
            </a:r>
            <a:endParaRPr lang="en-US" sz="1050" dirty="0"/>
          </a:p>
        </p:txBody>
      </p:sp>
      <p:sp>
        <p:nvSpPr>
          <p:cNvPr id="173" name="Text 170"/>
          <p:cNvSpPr/>
          <p:nvPr/>
        </p:nvSpPr>
        <p:spPr>
          <a:xfrm>
            <a:off x="8536781" y="7573268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&amp; Work Platform</a:t>
            </a:r>
            <a:endParaRPr lang="en-US" sz="1050" dirty="0"/>
          </a:p>
        </p:txBody>
      </p:sp>
      <p:sp>
        <p:nvSpPr>
          <p:cNvPr id="174" name="Text 171"/>
          <p:cNvSpPr/>
          <p:nvPr/>
        </p:nvSpPr>
        <p:spPr>
          <a:xfrm>
            <a:off x="8536781" y="7870627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API</a:t>
            </a:r>
            <a:endParaRPr lang="en-US" sz="1050" dirty="0"/>
          </a:p>
        </p:txBody>
      </p:sp>
      <p:sp>
        <p:nvSpPr>
          <p:cNvPr id="175" name="Text 172"/>
          <p:cNvSpPr/>
          <p:nvPr/>
        </p:nvSpPr>
        <p:spPr>
          <a:xfrm>
            <a:off x="8536781" y="8167985"/>
            <a:ext cx="2071688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API</a:t>
            </a:r>
            <a:endParaRPr lang="en-US" sz="1050" dirty="0"/>
          </a:p>
        </p:txBody>
      </p:sp>
      <p:sp>
        <p:nvSpPr>
          <p:cNvPr id="176" name="Shape 173"/>
          <p:cNvSpPr/>
          <p:nvPr/>
        </p:nvSpPr>
        <p:spPr>
          <a:xfrm>
            <a:off x="8295680" y="7843838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77" name="Shape 174"/>
          <p:cNvSpPr/>
          <p:nvPr/>
        </p:nvSpPr>
        <p:spPr>
          <a:xfrm>
            <a:off x="10876359" y="7186613"/>
            <a:ext cx="2786063" cy="1314450"/>
          </a:xfrm>
          <a:prstGeom prst="roundRect">
            <a:avLst>
              <a:gd name="adj" fmla="val 1391"/>
            </a:avLst>
          </a:prstGeom>
          <a:solidFill>
            <a:srgbClr val="F3F0FB"/>
          </a:solidFill>
          <a:ln/>
        </p:spPr>
      </p:sp>
      <p:sp>
        <p:nvSpPr>
          <p:cNvPr id="178" name="Text 175"/>
          <p:cNvSpPr/>
          <p:nvPr/>
        </p:nvSpPr>
        <p:spPr>
          <a:xfrm>
            <a:off x="10947797" y="7275909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Engine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2305109" y="7275909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/ Rate Engine</a:t>
            </a:r>
            <a:endParaRPr lang="en-US" sz="800" dirty="0"/>
          </a:p>
        </p:txBody>
      </p:sp>
      <p:sp>
        <p:nvSpPr>
          <p:cNvPr id="180" name="Text 177"/>
          <p:cNvSpPr/>
          <p:nvPr/>
        </p:nvSpPr>
        <p:spPr>
          <a:xfrm>
            <a:off x="10947797" y="7573268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Master</a:t>
            </a:r>
            <a:endParaRPr lang="en-US" sz="800" dirty="0"/>
          </a:p>
        </p:txBody>
      </p:sp>
      <p:sp>
        <p:nvSpPr>
          <p:cNvPr id="181" name="Text 178"/>
          <p:cNvSpPr/>
          <p:nvPr/>
        </p:nvSpPr>
        <p:spPr>
          <a:xfrm>
            <a:off x="12305109" y="7573268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Service</a:t>
            </a:r>
            <a:endParaRPr lang="en-US" sz="800" dirty="0"/>
          </a:p>
        </p:txBody>
      </p:sp>
      <p:sp>
        <p:nvSpPr>
          <p:cNvPr id="182" name="Text 179"/>
          <p:cNvSpPr/>
          <p:nvPr/>
        </p:nvSpPr>
        <p:spPr>
          <a:xfrm>
            <a:off x="10947797" y="7870627"/>
            <a:ext cx="1285875" cy="243780"/>
          </a:xfrm>
          <a:prstGeom prst="roundRect">
            <a:avLst>
              <a:gd name="adj" fmla="val 1125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Router</a:t>
            </a:r>
            <a:endParaRPr lang="en-US" sz="800" dirty="0"/>
          </a:p>
        </p:txBody>
      </p:sp>
      <p:sp>
        <p:nvSpPr>
          <p:cNvPr id="183" name="Shape 180"/>
          <p:cNvSpPr/>
          <p:nvPr/>
        </p:nvSpPr>
        <p:spPr>
          <a:xfrm>
            <a:off x="10706695" y="7843838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84" name="Shape 181"/>
          <p:cNvSpPr/>
          <p:nvPr/>
        </p:nvSpPr>
        <p:spPr>
          <a:xfrm>
            <a:off x="62508" y="8688586"/>
            <a:ext cx="13599914" cy="348258"/>
          </a:xfrm>
          <a:prstGeom prst="roundRect">
            <a:avLst>
              <a:gd name="adj" fmla="val 10503"/>
            </a:avLst>
          </a:prstGeom>
          <a:solidFill>
            <a:srgbClr val="F4F6FA"/>
          </a:solidFill>
          <a:ln/>
        </p:spPr>
      </p:sp>
      <p:sp>
        <p:nvSpPr>
          <p:cNvPr id="185" name="Text 182"/>
          <p:cNvSpPr txBox="1"/>
          <p:nvPr/>
        </p:nvSpPr>
        <p:spPr>
          <a:xfrm>
            <a:off x="160734" y="8688586"/>
            <a:ext cx="55364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900" dirty="0"/>
          </a:p>
        </p:txBody>
      </p:sp>
      <p:sp>
        <p:nvSpPr>
          <p:cNvPr id="186" name="Text 183"/>
          <p:cNvSpPr/>
          <p:nvPr/>
        </p:nvSpPr>
        <p:spPr>
          <a:xfrm>
            <a:off x="750094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87" name="Text 184"/>
          <p:cNvSpPr txBox="1"/>
          <p:nvPr/>
        </p:nvSpPr>
        <p:spPr>
          <a:xfrm>
            <a:off x="1035844" y="8688586"/>
            <a:ext cx="32593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750" dirty="0"/>
          </a:p>
        </p:txBody>
      </p:sp>
      <p:sp>
        <p:nvSpPr>
          <p:cNvPr id="188" name="Text 185"/>
          <p:cNvSpPr/>
          <p:nvPr/>
        </p:nvSpPr>
        <p:spPr>
          <a:xfrm>
            <a:off x="1415355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89" name="Text 186"/>
          <p:cNvSpPr txBox="1"/>
          <p:nvPr/>
        </p:nvSpPr>
        <p:spPr>
          <a:xfrm>
            <a:off x="1701105" y="8688586"/>
            <a:ext cx="75188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tool</a:t>
            </a:r>
            <a:endParaRPr lang="en-US" sz="750" dirty="0"/>
          </a:p>
        </p:txBody>
      </p:sp>
      <p:sp>
        <p:nvSpPr>
          <p:cNvPr id="190" name="Text 187"/>
          <p:cNvSpPr/>
          <p:nvPr/>
        </p:nvSpPr>
        <p:spPr>
          <a:xfrm>
            <a:off x="2506563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91" name="Text 188"/>
          <p:cNvSpPr txBox="1"/>
          <p:nvPr/>
        </p:nvSpPr>
        <p:spPr>
          <a:xfrm>
            <a:off x="2792313" y="8688586"/>
            <a:ext cx="988516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write tool</a:t>
            </a:r>
            <a:endParaRPr lang="en-US" sz="750" dirty="0"/>
          </a:p>
        </p:txBody>
      </p:sp>
      <p:sp>
        <p:nvSpPr>
          <p:cNvPr id="192" name="Text 189"/>
          <p:cNvSpPr/>
          <p:nvPr/>
        </p:nvSpPr>
        <p:spPr>
          <a:xfrm>
            <a:off x="3834408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DE0E0"/>
          </a:solidFill>
          <a:ln w="9525">
            <a:solidFill>
              <a:srgbClr val="E07A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93" name="Text 190"/>
          <p:cNvSpPr txBox="1"/>
          <p:nvPr/>
        </p:nvSpPr>
        <p:spPr>
          <a:xfrm>
            <a:off x="4120158" y="8688586"/>
            <a:ext cx="240833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/ regulated tool (human approval)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6582073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95" name="Text 192"/>
          <p:cNvSpPr txBox="1"/>
          <p:nvPr/>
        </p:nvSpPr>
        <p:spPr>
          <a:xfrm>
            <a:off x="6867823" y="8688586"/>
            <a:ext cx="79920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</a:t>
            </a:r>
            <a:endParaRPr lang="en-US" sz="750" dirty="0"/>
          </a:p>
        </p:txBody>
      </p:sp>
      <p:sp>
        <p:nvSpPr>
          <p:cNvPr id="196" name="Text 193"/>
          <p:cNvSpPr/>
          <p:nvPr/>
        </p:nvSpPr>
        <p:spPr>
          <a:xfrm>
            <a:off x="7720608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97" name="Text 194"/>
          <p:cNvSpPr txBox="1"/>
          <p:nvPr/>
        </p:nvSpPr>
        <p:spPr>
          <a:xfrm>
            <a:off x="8006358" y="8688586"/>
            <a:ext cx="84653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capability</a:t>
            </a:r>
            <a:endParaRPr lang="en-US" sz="750" dirty="0"/>
          </a:p>
        </p:txBody>
      </p:sp>
      <p:sp>
        <p:nvSpPr>
          <p:cNvPr id="198" name="Text 195"/>
          <p:cNvSpPr/>
          <p:nvPr/>
        </p:nvSpPr>
        <p:spPr>
          <a:xfrm>
            <a:off x="8906470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99" name="Text 196"/>
          <p:cNvSpPr txBox="1"/>
          <p:nvPr/>
        </p:nvSpPr>
        <p:spPr>
          <a:xfrm>
            <a:off x="9192220" y="8688586"/>
            <a:ext cx="1130498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/ data</a:t>
            </a:r>
            <a:endParaRPr lang="en-US" sz="750" dirty="0"/>
          </a:p>
        </p:txBody>
      </p:sp>
      <p:sp>
        <p:nvSpPr>
          <p:cNvPr id="200" name="Text 197"/>
          <p:cNvSpPr/>
          <p:nvPr/>
        </p:nvSpPr>
        <p:spPr>
          <a:xfrm>
            <a:off x="10376297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201" name="Text 198"/>
          <p:cNvSpPr txBox="1"/>
          <p:nvPr/>
        </p:nvSpPr>
        <p:spPr>
          <a:xfrm>
            <a:off x="10662047" y="8688586"/>
            <a:ext cx="108317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enhanced module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508" y="26789"/>
            <a:ext cx="13599914" cy="357188"/>
          </a:xfrm>
          <a:prstGeom prst="roundRect">
            <a:avLst>
              <a:gd name="adj" fmla="val 7680"/>
            </a:avLst>
          </a:prstGeom>
          <a:solidFill>
            <a:srgbClr val="0B2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508" y="26789"/>
            <a:ext cx="1359991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  Coaching Agent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Skills → MCP Tools → Shared Platforms → Data &amp; Enterprise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508" y="473273"/>
            <a:ext cx="13599914" cy="759023"/>
          </a:xfrm>
          <a:prstGeom prst="roundRect">
            <a:avLst>
              <a:gd name="adj" fmla="val 4819"/>
            </a:avLst>
          </a:prstGeom>
          <a:solidFill>
            <a:srgbClr val="DDF5E6"/>
          </a:solidFill>
          <a:ln w="9525">
            <a:solidFill>
              <a:srgbClr val="A8DDB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172" y="642938"/>
            <a:ext cx="410766" cy="4107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5813" y="535781"/>
            <a:ext cx="725090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Agent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85813" y="794742"/>
            <a:ext cx="725090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Application:  </a:t>
            </a:r>
            <a:pPr algn="l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Growth &amp; Coaching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85813" y="955477"/>
            <a:ext cx="823317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diagnosis, goal / capability analysis, personalized coaching, improvement planning, learning / practice recommendation and progress follow-up.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9197578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97578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9197578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0072688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72688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0072688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0947797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47797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0947797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1822906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822906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1822906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2698016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698016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2698016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enhanced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62508" y="1321594"/>
            <a:ext cx="1276945" cy="250031"/>
          </a:xfrm>
          <a:prstGeom prst="roundRect">
            <a:avLst>
              <a:gd name="adj" fmla="val 10971"/>
            </a:avLst>
          </a:prstGeom>
          <a:solidFill>
            <a:srgbClr val="DDF5E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2508" y="1321594"/>
            <a:ext cx="1276945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Group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464469" y="1321594"/>
            <a:ext cx="3214688" cy="250031"/>
          </a:xfrm>
          <a:prstGeom prst="roundRect">
            <a:avLst>
              <a:gd name="adj" fmla="val 10971"/>
            </a:avLst>
          </a:prstGeom>
          <a:solidFill>
            <a:srgbClr val="F6DE9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464469" y="1321594"/>
            <a:ext cx="3214688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Skills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bounded capability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875609" y="1321594"/>
            <a:ext cx="3393281" cy="250031"/>
          </a:xfrm>
          <a:prstGeom prst="roundRect">
            <a:avLst>
              <a:gd name="adj" fmla="val 10971"/>
            </a:avLst>
          </a:prstGeom>
          <a:solidFill>
            <a:srgbClr val="B9E6C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875609" y="1321594"/>
            <a:ext cx="3393281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MCP / AI Tools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governed execution &amp; data access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8465344" y="1321594"/>
            <a:ext cx="2214563" cy="250031"/>
          </a:xfrm>
          <a:prstGeom prst="roundRect">
            <a:avLst>
              <a:gd name="adj" fmla="val 10971"/>
            </a:avLst>
          </a:prstGeom>
          <a:solidFill>
            <a:srgbClr val="B8D6F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465344" y="1321594"/>
            <a:ext cx="22145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Shared Platform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API / capability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10876359" y="1321594"/>
            <a:ext cx="2786063" cy="250031"/>
          </a:xfrm>
          <a:prstGeom prst="roundRect">
            <a:avLst>
              <a:gd name="adj" fmla="val 10971"/>
            </a:avLst>
          </a:prstGeom>
          <a:solidFill>
            <a:srgbClr val="D3C8F5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876359" y="1321594"/>
            <a:ext cx="27860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Data &amp; Enterprise Systems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existing + new / enhanced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2508" y="1643063"/>
            <a:ext cx="1276945" cy="1625203"/>
          </a:xfrm>
          <a:prstGeom prst="roundRect">
            <a:avLst>
              <a:gd name="adj" fmla="val 2148"/>
            </a:avLst>
          </a:prstGeom>
          <a:solidFill>
            <a:srgbClr val="DDF5E6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33945" y="1643063"/>
            <a:ext cx="1169789" cy="162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Insight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skills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1464469" y="1643063"/>
            <a:ext cx="3214688" cy="1625203"/>
          </a:xfrm>
          <a:prstGeom prst="roundRect">
            <a:avLst>
              <a:gd name="adj" fmla="val 1125"/>
            </a:avLst>
          </a:prstGeom>
          <a:solidFill>
            <a:srgbClr val="FDF4DE"/>
          </a:solidFill>
          <a:ln/>
        </p:spPr>
      </p:sp>
      <p:sp>
        <p:nvSpPr>
          <p:cNvPr id="37" name="Text 34"/>
          <p:cNvSpPr/>
          <p:nvPr/>
        </p:nvSpPr>
        <p:spPr>
          <a:xfrm>
            <a:off x="1535906" y="1732359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performance-summary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3107531" y="1732359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performance-diagnosis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1535906" y="2232422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goal-progress-analysis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875609" y="1643063"/>
            <a:ext cx="3393281" cy="1625203"/>
          </a:xfrm>
          <a:prstGeom prst="roundRect">
            <a:avLst>
              <a:gd name="adj" fmla="val 1125"/>
            </a:avLst>
          </a:prstGeom>
          <a:solidFill>
            <a:srgbClr val="E4F6EA"/>
          </a:solidFill>
          <a:ln/>
        </p:spPr>
      </p:sp>
      <p:sp>
        <p:nvSpPr>
          <p:cNvPr id="41" name="Text 38"/>
          <p:cNvSpPr/>
          <p:nvPr/>
        </p:nvSpPr>
        <p:spPr>
          <a:xfrm>
            <a:off x="4947047" y="1732359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get_agent_360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607969" y="1732359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get_agent_performance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947047" y="2232422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get_agent_goals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705945" y="2455664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8465344" y="1643063"/>
            <a:ext cx="2214563" cy="1625203"/>
          </a:xfrm>
          <a:prstGeom prst="roundRect">
            <a:avLst>
              <a:gd name="adj" fmla="val 1125"/>
            </a:avLst>
          </a:prstGeom>
          <a:solidFill>
            <a:srgbClr val="E3EEFB"/>
          </a:solidFill>
          <a:ln/>
        </p:spPr>
      </p:sp>
      <p:sp>
        <p:nvSpPr>
          <p:cNvPr id="46" name="Text 43"/>
          <p:cNvSpPr/>
          <p:nvPr/>
        </p:nvSpPr>
        <p:spPr>
          <a:xfrm>
            <a:off x="8536781" y="1732359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Data &amp; Semantic Platform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8536781" y="2232422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360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8536781" y="2732484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APIs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8295680" y="2455664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10876359" y="1643063"/>
            <a:ext cx="2786063" cy="1625203"/>
          </a:xfrm>
          <a:prstGeom prst="roundRect">
            <a:avLst>
              <a:gd name="adj" fmla="val 1125"/>
            </a:avLst>
          </a:prstGeom>
          <a:solidFill>
            <a:srgbClr val="F3F0FB"/>
          </a:solidFill>
          <a:ln/>
        </p:spPr>
      </p:sp>
      <p:sp>
        <p:nvSpPr>
          <p:cNvPr id="51" name="Text 48"/>
          <p:cNvSpPr/>
          <p:nvPr/>
        </p:nvSpPr>
        <p:spPr>
          <a:xfrm>
            <a:off x="10947797" y="1732359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Data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12305109" y="1732359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/ Lakehouse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10947797" y="2232422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12305109" y="2232422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360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10947797" y="2732484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Semantic Layer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10706695" y="2455664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62508" y="3339703"/>
            <a:ext cx="1276945" cy="1625203"/>
          </a:xfrm>
          <a:prstGeom prst="roundRect">
            <a:avLst>
              <a:gd name="adj" fmla="val 2148"/>
            </a:avLst>
          </a:prstGeom>
          <a:solidFill>
            <a:srgbClr val="DDF5E6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33945" y="3339703"/>
            <a:ext cx="1169789" cy="162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&amp; Pipeline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skills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1464469" y="3339703"/>
            <a:ext cx="3214688" cy="1625203"/>
          </a:xfrm>
          <a:prstGeom prst="roundRect">
            <a:avLst>
              <a:gd name="adj" fmla="val 1125"/>
            </a:avLst>
          </a:prstGeom>
          <a:solidFill>
            <a:srgbClr val="FDF4DE"/>
          </a:solidFill>
          <a:ln/>
        </p:spPr>
      </p:sp>
      <p:sp>
        <p:nvSpPr>
          <p:cNvPr id="60" name="Text 57"/>
          <p:cNvSpPr/>
          <p:nvPr/>
        </p:nvSpPr>
        <p:spPr>
          <a:xfrm>
            <a:off x="1535906" y="3429000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activity-analysis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3107531" y="3429000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conversion-analysis</a:t>
            </a:r>
            <a:endParaRPr lang="en-US" sz="1050" dirty="0"/>
          </a:p>
        </p:txBody>
      </p:sp>
      <p:sp>
        <p:nvSpPr>
          <p:cNvPr id="62" name="Text 59"/>
          <p:cNvSpPr/>
          <p:nvPr/>
        </p:nvSpPr>
        <p:spPr>
          <a:xfrm>
            <a:off x="1535906" y="3929063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pipeline-analysis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4875609" y="3339703"/>
            <a:ext cx="3393281" cy="1625203"/>
          </a:xfrm>
          <a:prstGeom prst="roundRect">
            <a:avLst>
              <a:gd name="adj" fmla="val 1125"/>
            </a:avLst>
          </a:prstGeom>
          <a:solidFill>
            <a:srgbClr val="E4F6EA"/>
          </a:solidFill>
          <a:ln/>
        </p:spPr>
      </p:sp>
      <p:sp>
        <p:nvSpPr>
          <p:cNvPr id="64" name="Text 61"/>
          <p:cNvSpPr/>
          <p:nvPr/>
        </p:nvSpPr>
        <p:spPr>
          <a:xfrm>
            <a:off x="4947047" y="3429000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get_sales_activity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6607969" y="3429000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get_conversion_metrics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4947047" y="3929063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get_pipeline_metrics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4705945" y="415230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68" name="Shape 65"/>
          <p:cNvSpPr/>
          <p:nvPr/>
        </p:nvSpPr>
        <p:spPr>
          <a:xfrm>
            <a:off x="8465344" y="3339703"/>
            <a:ext cx="2214563" cy="1625203"/>
          </a:xfrm>
          <a:prstGeom prst="roundRect">
            <a:avLst>
              <a:gd name="adj" fmla="val 1125"/>
            </a:avLst>
          </a:prstGeom>
          <a:solidFill>
            <a:srgbClr val="E3EEFB"/>
          </a:solidFill>
          <a:ln/>
        </p:spPr>
      </p:sp>
      <p:sp>
        <p:nvSpPr>
          <p:cNvPr id="69" name="Text 66"/>
          <p:cNvSpPr/>
          <p:nvPr/>
        </p:nvSpPr>
        <p:spPr>
          <a:xfrm>
            <a:off x="8536781" y="3429000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Data &amp; Semantic Platform</a:t>
            </a:r>
            <a:endParaRPr lang="en-US" sz="950" dirty="0"/>
          </a:p>
        </p:txBody>
      </p:sp>
      <p:sp>
        <p:nvSpPr>
          <p:cNvPr id="70" name="Text 67"/>
          <p:cNvSpPr/>
          <p:nvPr/>
        </p:nvSpPr>
        <p:spPr>
          <a:xfrm>
            <a:off x="8536781" y="3929063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APIs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8295680" y="415230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72" name="Shape 69"/>
          <p:cNvSpPr/>
          <p:nvPr/>
        </p:nvSpPr>
        <p:spPr>
          <a:xfrm>
            <a:off x="10876359" y="3339703"/>
            <a:ext cx="2786063" cy="1625203"/>
          </a:xfrm>
          <a:prstGeom prst="roundRect">
            <a:avLst>
              <a:gd name="adj" fmla="val 1125"/>
            </a:avLst>
          </a:prstGeom>
          <a:solidFill>
            <a:srgbClr val="F3F0FB"/>
          </a:solidFill>
          <a:ln/>
        </p:spPr>
      </p:sp>
      <p:sp>
        <p:nvSpPr>
          <p:cNvPr id="73" name="Text 70"/>
          <p:cNvSpPr/>
          <p:nvPr/>
        </p:nvSpPr>
        <p:spPr>
          <a:xfrm>
            <a:off x="10947797" y="3429000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12305109" y="3429000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Data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10947797" y="3929063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/ Lakehouse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12305109" y="3929063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Semantic Layer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10706695" y="415230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78" name="Shape 75"/>
          <p:cNvSpPr/>
          <p:nvPr/>
        </p:nvSpPr>
        <p:spPr>
          <a:xfrm>
            <a:off x="62508" y="5036344"/>
            <a:ext cx="1276945" cy="1625203"/>
          </a:xfrm>
          <a:prstGeom prst="roundRect">
            <a:avLst>
              <a:gd name="adj" fmla="val 2148"/>
            </a:avLst>
          </a:prstGeom>
          <a:solidFill>
            <a:srgbClr val="DDF5E6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33945" y="5036344"/>
            <a:ext cx="1169789" cy="162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&amp; Coaching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skills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1464469" y="5036344"/>
            <a:ext cx="3214688" cy="1625203"/>
          </a:xfrm>
          <a:prstGeom prst="roundRect">
            <a:avLst>
              <a:gd name="adj" fmla="val 1125"/>
            </a:avLst>
          </a:prstGeom>
          <a:solidFill>
            <a:srgbClr val="FDF4DE"/>
          </a:solidFill>
          <a:ln/>
        </p:spPr>
      </p:sp>
      <p:sp>
        <p:nvSpPr>
          <p:cNvPr id="81" name="Text 78"/>
          <p:cNvSpPr/>
          <p:nvPr/>
        </p:nvSpPr>
        <p:spPr>
          <a:xfrm>
            <a:off x="1535906" y="5125641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capability-assessment</a:t>
            </a:r>
            <a:endParaRPr lang="en-US" sz="1050" dirty="0"/>
          </a:p>
        </p:txBody>
      </p:sp>
      <p:sp>
        <p:nvSpPr>
          <p:cNvPr id="82" name="Text 79"/>
          <p:cNvSpPr/>
          <p:nvPr/>
        </p:nvSpPr>
        <p:spPr>
          <a:xfrm>
            <a:off x="3107531" y="5125641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coaching-recommendation</a:t>
            </a:r>
            <a:endParaRPr lang="en-US" sz="1050" dirty="0"/>
          </a:p>
        </p:txBody>
      </p:sp>
      <p:sp>
        <p:nvSpPr>
          <p:cNvPr id="83" name="Shape 80"/>
          <p:cNvSpPr/>
          <p:nvPr/>
        </p:nvSpPr>
        <p:spPr>
          <a:xfrm>
            <a:off x="4875609" y="5036344"/>
            <a:ext cx="3393281" cy="1625203"/>
          </a:xfrm>
          <a:prstGeom prst="roundRect">
            <a:avLst>
              <a:gd name="adj" fmla="val 1125"/>
            </a:avLst>
          </a:prstGeom>
          <a:solidFill>
            <a:srgbClr val="E4F6EA"/>
          </a:solidFill>
          <a:ln/>
        </p:spPr>
      </p:sp>
      <p:sp>
        <p:nvSpPr>
          <p:cNvPr id="84" name="Text 81"/>
          <p:cNvSpPr/>
          <p:nvPr/>
        </p:nvSpPr>
        <p:spPr>
          <a:xfrm>
            <a:off x="4947047" y="5125641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get_competency_profile</a:t>
            </a:r>
            <a:endParaRPr lang="en-US" sz="1000" dirty="0"/>
          </a:p>
        </p:txBody>
      </p:sp>
      <p:sp>
        <p:nvSpPr>
          <p:cNvPr id="85" name="Text 82"/>
          <p:cNvSpPr/>
          <p:nvPr/>
        </p:nvSpPr>
        <p:spPr>
          <a:xfrm>
            <a:off x="6607969" y="5125641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get_learning_history</a:t>
            </a:r>
            <a:endParaRPr lang="en-US" sz="1000" dirty="0"/>
          </a:p>
        </p:txBody>
      </p:sp>
      <p:sp>
        <p:nvSpPr>
          <p:cNvPr id="86" name="Text 83"/>
          <p:cNvSpPr/>
          <p:nvPr/>
        </p:nvSpPr>
        <p:spPr>
          <a:xfrm>
            <a:off x="4947047" y="5625703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create_coaching_task</a:t>
            </a:r>
            <a:endParaRPr lang="en-US" sz="1000" dirty="0"/>
          </a:p>
        </p:txBody>
      </p:sp>
      <p:sp>
        <p:nvSpPr>
          <p:cNvPr id="87" name="Text 84"/>
          <p:cNvSpPr/>
          <p:nvPr/>
        </p:nvSpPr>
        <p:spPr>
          <a:xfrm>
            <a:off x="6607969" y="5625703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search_knowledge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4705945" y="584894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89" name="Shape 86"/>
          <p:cNvSpPr/>
          <p:nvPr/>
        </p:nvSpPr>
        <p:spPr>
          <a:xfrm>
            <a:off x="8465344" y="5036344"/>
            <a:ext cx="2214563" cy="1625203"/>
          </a:xfrm>
          <a:prstGeom prst="roundRect">
            <a:avLst>
              <a:gd name="adj" fmla="val 1125"/>
            </a:avLst>
          </a:prstGeom>
          <a:solidFill>
            <a:srgbClr val="E3EEFB"/>
          </a:solidFill>
          <a:ln/>
        </p:spPr>
      </p:sp>
      <p:sp>
        <p:nvSpPr>
          <p:cNvPr id="90" name="Text 87"/>
          <p:cNvSpPr/>
          <p:nvPr/>
        </p:nvSpPr>
        <p:spPr>
          <a:xfrm>
            <a:off x="8536781" y="5125641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&amp; Learning Platform</a:t>
            </a:r>
            <a:endParaRPr lang="en-US" sz="950" dirty="0"/>
          </a:p>
        </p:txBody>
      </p:sp>
      <p:sp>
        <p:nvSpPr>
          <p:cNvPr id="91" name="Text 88"/>
          <p:cNvSpPr/>
          <p:nvPr/>
        </p:nvSpPr>
        <p:spPr>
          <a:xfrm>
            <a:off x="8536781" y="5625703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Model · Coaching Plan</a:t>
            </a:r>
            <a:endParaRPr lang="en-US" sz="950" dirty="0"/>
          </a:p>
        </p:txBody>
      </p:sp>
      <p:sp>
        <p:nvSpPr>
          <p:cNvPr id="92" name="Text 89"/>
          <p:cNvSpPr/>
          <p:nvPr/>
        </p:nvSpPr>
        <p:spPr>
          <a:xfrm>
            <a:off x="8536781" y="6125766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GenAI Platform</a:t>
            </a:r>
            <a:endParaRPr lang="en-US" sz="950" dirty="0"/>
          </a:p>
        </p:txBody>
      </p:sp>
      <p:sp>
        <p:nvSpPr>
          <p:cNvPr id="93" name="Shape 90"/>
          <p:cNvSpPr/>
          <p:nvPr/>
        </p:nvSpPr>
        <p:spPr>
          <a:xfrm>
            <a:off x="8295680" y="584894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94" name="Shape 91"/>
          <p:cNvSpPr/>
          <p:nvPr/>
        </p:nvSpPr>
        <p:spPr>
          <a:xfrm>
            <a:off x="10876359" y="5036344"/>
            <a:ext cx="2786063" cy="1625203"/>
          </a:xfrm>
          <a:prstGeom prst="roundRect">
            <a:avLst>
              <a:gd name="adj" fmla="val 1125"/>
            </a:avLst>
          </a:prstGeom>
          <a:solidFill>
            <a:srgbClr val="F3F0FB"/>
          </a:solidFill>
          <a:ln/>
        </p:spPr>
      </p:sp>
      <p:sp>
        <p:nvSpPr>
          <p:cNvPr id="95" name="Text 92"/>
          <p:cNvSpPr/>
          <p:nvPr/>
        </p:nvSpPr>
        <p:spPr>
          <a:xfrm>
            <a:off x="10947797" y="5125641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</a:t>
            </a:r>
            <a:endParaRPr lang="en-US" sz="750" dirty="0"/>
          </a:p>
        </p:txBody>
      </p:sp>
      <p:sp>
        <p:nvSpPr>
          <p:cNvPr id="96" name="Text 93"/>
          <p:cNvSpPr/>
          <p:nvPr/>
        </p:nvSpPr>
        <p:spPr>
          <a:xfrm>
            <a:off x="12305109" y="5125641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Learning</a:t>
            </a:r>
            <a:endParaRPr lang="en-US" sz="750" dirty="0"/>
          </a:p>
        </p:txBody>
      </p:sp>
      <p:sp>
        <p:nvSpPr>
          <p:cNvPr id="97" name="Text 94"/>
          <p:cNvSpPr/>
          <p:nvPr/>
        </p:nvSpPr>
        <p:spPr>
          <a:xfrm>
            <a:off x="10947797" y="5625703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Platform</a:t>
            </a:r>
            <a:endParaRPr lang="en-US" sz="750" dirty="0"/>
          </a:p>
        </p:txBody>
      </p:sp>
      <p:sp>
        <p:nvSpPr>
          <p:cNvPr id="98" name="Text 95"/>
          <p:cNvSpPr/>
          <p:nvPr/>
        </p:nvSpPr>
        <p:spPr>
          <a:xfrm>
            <a:off x="12305109" y="5625703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Model</a:t>
            </a:r>
            <a:endParaRPr lang="en-US" sz="750" dirty="0"/>
          </a:p>
        </p:txBody>
      </p:sp>
      <p:sp>
        <p:nvSpPr>
          <p:cNvPr id="99" name="Text 96"/>
          <p:cNvSpPr/>
          <p:nvPr/>
        </p:nvSpPr>
        <p:spPr>
          <a:xfrm>
            <a:off x="10947797" y="6125766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Router</a:t>
            </a:r>
            <a:endParaRPr lang="en-US" sz="750" dirty="0"/>
          </a:p>
        </p:txBody>
      </p:sp>
      <p:sp>
        <p:nvSpPr>
          <p:cNvPr id="100" name="Shape 97"/>
          <p:cNvSpPr/>
          <p:nvPr/>
        </p:nvSpPr>
        <p:spPr>
          <a:xfrm>
            <a:off x="10706695" y="584894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01" name="Shape 98"/>
          <p:cNvSpPr/>
          <p:nvPr/>
        </p:nvSpPr>
        <p:spPr>
          <a:xfrm>
            <a:off x="62508" y="6732984"/>
            <a:ext cx="1276945" cy="1625203"/>
          </a:xfrm>
          <a:prstGeom prst="roundRect">
            <a:avLst>
              <a:gd name="adj" fmla="val 2148"/>
            </a:avLst>
          </a:prstGeom>
          <a:solidFill>
            <a:srgbClr val="DDF5E6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133945" y="6732984"/>
            <a:ext cx="1169789" cy="162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Improvement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skills</a:t>
            </a:r>
            <a:endParaRPr lang="en-US" sz="800" dirty="0"/>
          </a:p>
        </p:txBody>
      </p:sp>
      <p:sp>
        <p:nvSpPr>
          <p:cNvPr id="103" name="Shape 100"/>
          <p:cNvSpPr/>
          <p:nvPr/>
        </p:nvSpPr>
        <p:spPr>
          <a:xfrm>
            <a:off x="1464469" y="6732984"/>
            <a:ext cx="3214688" cy="1625203"/>
          </a:xfrm>
          <a:prstGeom prst="roundRect">
            <a:avLst>
              <a:gd name="adj" fmla="val 1125"/>
            </a:avLst>
          </a:prstGeom>
          <a:solidFill>
            <a:srgbClr val="FDF4DE"/>
          </a:solidFill>
          <a:ln/>
        </p:spPr>
      </p:sp>
      <p:sp>
        <p:nvSpPr>
          <p:cNvPr id="104" name="Text 101"/>
          <p:cNvSpPr/>
          <p:nvPr/>
        </p:nvSpPr>
        <p:spPr>
          <a:xfrm>
            <a:off x="1535906" y="6822281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learning-recommendation</a:t>
            </a:r>
            <a:endParaRPr lang="en-US" sz="1050" dirty="0"/>
          </a:p>
        </p:txBody>
      </p:sp>
      <p:sp>
        <p:nvSpPr>
          <p:cNvPr id="105" name="Text 102"/>
          <p:cNvSpPr/>
          <p:nvPr/>
        </p:nvSpPr>
        <p:spPr>
          <a:xfrm>
            <a:off x="3107531" y="6822281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practice-recommendation</a:t>
            </a:r>
            <a:endParaRPr lang="en-US" sz="1050" dirty="0"/>
          </a:p>
        </p:txBody>
      </p:sp>
      <p:sp>
        <p:nvSpPr>
          <p:cNvPr id="106" name="Text 103"/>
          <p:cNvSpPr/>
          <p:nvPr/>
        </p:nvSpPr>
        <p:spPr>
          <a:xfrm>
            <a:off x="1535906" y="7322344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improvement-plan</a:t>
            </a:r>
            <a:endParaRPr lang="en-US" sz="1050" dirty="0"/>
          </a:p>
        </p:txBody>
      </p:sp>
      <p:sp>
        <p:nvSpPr>
          <p:cNvPr id="107" name="Text 104"/>
          <p:cNvSpPr/>
          <p:nvPr/>
        </p:nvSpPr>
        <p:spPr>
          <a:xfrm>
            <a:off x="3107531" y="7322344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progress-tracking</a:t>
            </a:r>
            <a:endParaRPr lang="en-US" sz="1050" dirty="0"/>
          </a:p>
        </p:txBody>
      </p:sp>
      <p:sp>
        <p:nvSpPr>
          <p:cNvPr id="108" name="Shape 105"/>
          <p:cNvSpPr/>
          <p:nvPr/>
        </p:nvSpPr>
        <p:spPr>
          <a:xfrm>
            <a:off x="4875609" y="6732984"/>
            <a:ext cx="3393281" cy="1625203"/>
          </a:xfrm>
          <a:prstGeom prst="roundRect">
            <a:avLst>
              <a:gd name="adj" fmla="val 1125"/>
            </a:avLst>
          </a:prstGeom>
          <a:solidFill>
            <a:srgbClr val="E4F6EA"/>
          </a:solidFill>
          <a:ln/>
        </p:spPr>
      </p:sp>
      <p:sp>
        <p:nvSpPr>
          <p:cNvPr id="109" name="Text 106"/>
          <p:cNvSpPr/>
          <p:nvPr/>
        </p:nvSpPr>
        <p:spPr>
          <a:xfrm>
            <a:off x="4947047" y="6822281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get_learning_history</a:t>
            </a:r>
            <a:endParaRPr lang="en-US" sz="1000" dirty="0"/>
          </a:p>
        </p:txBody>
      </p:sp>
      <p:sp>
        <p:nvSpPr>
          <p:cNvPr id="110" name="Text 107"/>
          <p:cNvSpPr/>
          <p:nvPr/>
        </p:nvSpPr>
        <p:spPr>
          <a:xfrm>
            <a:off x="6607969" y="6822281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create_improvement_plan</a:t>
            </a:r>
            <a:endParaRPr lang="en-US" sz="1000" dirty="0"/>
          </a:p>
        </p:txBody>
      </p:sp>
      <p:sp>
        <p:nvSpPr>
          <p:cNvPr id="111" name="Text 108"/>
          <p:cNvSpPr/>
          <p:nvPr/>
        </p:nvSpPr>
        <p:spPr>
          <a:xfrm>
            <a:off x="4947047" y="7322344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create_learning_assignment</a:t>
            </a:r>
            <a:endParaRPr lang="en-US" sz="1000" dirty="0"/>
          </a:p>
        </p:txBody>
      </p:sp>
      <p:sp>
        <p:nvSpPr>
          <p:cNvPr id="112" name="Text 109"/>
          <p:cNvSpPr/>
          <p:nvPr/>
        </p:nvSpPr>
        <p:spPr>
          <a:xfrm>
            <a:off x="6607969" y="7322344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update_agent_progress</a:t>
            </a:r>
            <a:endParaRPr lang="en-US" sz="1000" dirty="0"/>
          </a:p>
        </p:txBody>
      </p:sp>
      <p:sp>
        <p:nvSpPr>
          <p:cNvPr id="113" name="Shape 110"/>
          <p:cNvSpPr/>
          <p:nvPr/>
        </p:nvSpPr>
        <p:spPr>
          <a:xfrm>
            <a:off x="4705945" y="7545586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14" name="Shape 111"/>
          <p:cNvSpPr/>
          <p:nvPr/>
        </p:nvSpPr>
        <p:spPr>
          <a:xfrm>
            <a:off x="8465344" y="6732984"/>
            <a:ext cx="2214563" cy="1625203"/>
          </a:xfrm>
          <a:prstGeom prst="roundRect">
            <a:avLst>
              <a:gd name="adj" fmla="val 1125"/>
            </a:avLst>
          </a:prstGeom>
          <a:solidFill>
            <a:srgbClr val="E3EEFB"/>
          </a:solidFill>
          <a:ln/>
        </p:spPr>
      </p:sp>
      <p:sp>
        <p:nvSpPr>
          <p:cNvPr id="115" name="Text 112"/>
          <p:cNvSpPr/>
          <p:nvPr/>
        </p:nvSpPr>
        <p:spPr>
          <a:xfrm>
            <a:off x="8536781" y="6822281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&amp; Learning Platform</a:t>
            </a:r>
            <a:endParaRPr lang="en-US" sz="950" dirty="0"/>
          </a:p>
        </p:txBody>
      </p:sp>
      <p:sp>
        <p:nvSpPr>
          <p:cNvPr id="116" name="Text 113"/>
          <p:cNvSpPr/>
          <p:nvPr/>
        </p:nvSpPr>
        <p:spPr>
          <a:xfrm>
            <a:off x="8536781" y="7322344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Plan · Learning Reco.</a:t>
            </a:r>
            <a:endParaRPr lang="en-US" sz="950" dirty="0"/>
          </a:p>
        </p:txBody>
      </p:sp>
      <p:sp>
        <p:nvSpPr>
          <p:cNvPr id="117" name="Text 114"/>
          <p:cNvSpPr/>
          <p:nvPr/>
        </p:nvSpPr>
        <p:spPr>
          <a:xfrm>
            <a:off x="8536781" y="7822406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8295680" y="7545586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19" name="Shape 116"/>
          <p:cNvSpPr/>
          <p:nvPr/>
        </p:nvSpPr>
        <p:spPr>
          <a:xfrm>
            <a:off x="10876359" y="6732984"/>
            <a:ext cx="2786063" cy="1625203"/>
          </a:xfrm>
          <a:prstGeom prst="roundRect">
            <a:avLst>
              <a:gd name="adj" fmla="val 1125"/>
            </a:avLst>
          </a:prstGeom>
          <a:solidFill>
            <a:srgbClr val="F3F0FB"/>
          </a:solidFill>
          <a:ln/>
        </p:spPr>
      </p:sp>
      <p:sp>
        <p:nvSpPr>
          <p:cNvPr id="120" name="Text 117"/>
          <p:cNvSpPr/>
          <p:nvPr/>
        </p:nvSpPr>
        <p:spPr>
          <a:xfrm>
            <a:off x="10947797" y="6822281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</a:t>
            </a:r>
            <a:endParaRPr lang="en-US" sz="750" dirty="0"/>
          </a:p>
        </p:txBody>
      </p:sp>
      <p:sp>
        <p:nvSpPr>
          <p:cNvPr id="121" name="Text 118"/>
          <p:cNvSpPr/>
          <p:nvPr/>
        </p:nvSpPr>
        <p:spPr>
          <a:xfrm>
            <a:off x="12305109" y="6822281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Learning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10947797" y="7322344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Platform</a:t>
            </a:r>
            <a:endParaRPr lang="en-US" sz="750" dirty="0"/>
          </a:p>
        </p:txBody>
      </p:sp>
      <p:sp>
        <p:nvSpPr>
          <p:cNvPr id="123" name="Text 120"/>
          <p:cNvSpPr/>
          <p:nvPr/>
        </p:nvSpPr>
        <p:spPr>
          <a:xfrm>
            <a:off x="12305109" y="7322344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Plan Mgmt</a:t>
            </a:r>
            <a:endParaRPr lang="en-US" sz="750" dirty="0"/>
          </a:p>
        </p:txBody>
      </p:sp>
      <p:sp>
        <p:nvSpPr>
          <p:cNvPr id="124" name="Shape 121"/>
          <p:cNvSpPr/>
          <p:nvPr/>
        </p:nvSpPr>
        <p:spPr>
          <a:xfrm>
            <a:off x="10706695" y="7545586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25" name="Shape 122"/>
          <p:cNvSpPr/>
          <p:nvPr/>
        </p:nvSpPr>
        <p:spPr>
          <a:xfrm>
            <a:off x="62508" y="8688586"/>
            <a:ext cx="13599914" cy="348258"/>
          </a:xfrm>
          <a:prstGeom prst="roundRect">
            <a:avLst>
              <a:gd name="adj" fmla="val 10503"/>
            </a:avLst>
          </a:prstGeom>
          <a:solidFill>
            <a:srgbClr val="F4F6FA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160734" y="8688586"/>
            <a:ext cx="55364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750094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28" name="Text 125"/>
          <p:cNvSpPr txBox="1"/>
          <p:nvPr/>
        </p:nvSpPr>
        <p:spPr>
          <a:xfrm>
            <a:off x="1035844" y="8688586"/>
            <a:ext cx="32593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750" dirty="0"/>
          </a:p>
        </p:txBody>
      </p:sp>
      <p:sp>
        <p:nvSpPr>
          <p:cNvPr id="129" name="Text 126"/>
          <p:cNvSpPr/>
          <p:nvPr/>
        </p:nvSpPr>
        <p:spPr>
          <a:xfrm>
            <a:off x="1415355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30" name="Text 127"/>
          <p:cNvSpPr txBox="1"/>
          <p:nvPr/>
        </p:nvSpPr>
        <p:spPr>
          <a:xfrm>
            <a:off x="1701105" y="8688586"/>
            <a:ext cx="75188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tool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2506563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32" name="Text 129"/>
          <p:cNvSpPr txBox="1"/>
          <p:nvPr/>
        </p:nvSpPr>
        <p:spPr>
          <a:xfrm>
            <a:off x="2792313" y="8688586"/>
            <a:ext cx="988516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write tool</a:t>
            </a:r>
            <a:endParaRPr lang="en-US" sz="750" dirty="0"/>
          </a:p>
        </p:txBody>
      </p:sp>
      <p:sp>
        <p:nvSpPr>
          <p:cNvPr id="133" name="Text 130"/>
          <p:cNvSpPr/>
          <p:nvPr/>
        </p:nvSpPr>
        <p:spPr>
          <a:xfrm>
            <a:off x="3834408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DE0E0"/>
          </a:solidFill>
          <a:ln w="9525">
            <a:solidFill>
              <a:srgbClr val="E07A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34" name="Text 131"/>
          <p:cNvSpPr txBox="1"/>
          <p:nvPr/>
        </p:nvSpPr>
        <p:spPr>
          <a:xfrm>
            <a:off x="4120158" y="8688586"/>
            <a:ext cx="240833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/ regulated tool (human approval)</a:t>
            </a:r>
            <a:endParaRPr lang="en-US" sz="750" dirty="0"/>
          </a:p>
        </p:txBody>
      </p:sp>
      <p:sp>
        <p:nvSpPr>
          <p:cNvPr id="135" name="Text 132"/>
          <p:cNvSpPr/>
          <p:nvPr/>
        </p:nvSpPr>
        <p:spPr>
          <a:xfrm>
            <a:off x="6582073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36" name="Text 133"/>
          <p:cNvSpPr txBox="1"/>
          <p:nvPr/>
        </p:nvSpPr>
        <p:spPr>
          <a:xfrm>
            <a:off x="6867823" y="8688586"/>
            <a:ext cx="79920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</a:t>
            </a:r>
            <a:endParaRPr lang="en-US" sz="750" dirty="0"/>
          </a:p>
        </p:txBody>
      </p:sp>
      <p:sp>
        <p:nvSpPr>
          <p:cNvPr id="137" name="Text 134"/>
          <p:cNvSpPr/>
          <p:nvPr/>
        </p:nvSpPr>
        <p:spPr>
          <a:xfrm>
            <a:off x="7720608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38" name="Text 135"/>
          <p:cNvSpPr txBox="1"/>
          <p:nvPr/>
        </p:nvSpPr>
        <p:spPr>
          <a:xfrm>
            <a:off x="8006358" y="8688586"/>
            <a:ext cx="84653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capability</a:t>
            </a:r>
            <a:endParaRPr lang="en-US" sz="750" dirty="0"/>
          </a:p>
        </p:txBody>
      </p:sp>
      <p:sp>
        <p:nvSpPr>
          <p:cNvPr id="139" name="Text 136"/>
          <p:cNvSpPr/>
          <p:nvPr/>
        </p:nvSpPr>
        <p:spPr>
          <a:xfrm>
            <a:off x="8906470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40" name="Text 137"/>
          <p:cNvSpPr txBox="1"/>
          <p:nvPr/>
        </p:nvSpPr>
        <p:spPr>
          <a:xfrm>
            <a:off x="9192220" y="8688586"/>
            <a:ext cx="1130498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/ data</a:t>
            </a:r>
            <a:endParaRPr lang="en-US" sz="750" dirty="0"/>
          </a:p>
        </p:txBody>
      </p:sp>
      <p:sp>
        <p:nvSpPr>
          <p:cNvPr id="141" name="Text 138"/>
          <p:cNvSpPr/>
          <p:nvPr/>
        </p:nvSpPr>
        <p:spPr>
          <a:xfrm>
            <a:off x="10376297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42" name="Text 139"/>
          <p:cNvSpPr txBox="1"/>
          <p:nvPr/>
        </p:nvSpPr>
        <p:spPr>
          <a:xfrm>
            <a:off x="10662047" y="8688586"/>
            <a:ext cx="108317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enhanced module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508" y="26789"/>
            <a:ext cx="13599914" cy="357188"/>
          </a:xfrm>
          <a:prstGeom prst="roundRect">
            <a:avLst>
              <a:gd name="adj" fmla="val 7680"/>
            </a:avLst>
          </a:prstGeom>
          <a:solidFill>
            <a:srgbClr val="0B2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508" y="26789"/>
            <a:ext cx="1359991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  Role Play Agent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Skills → MCP Tools → Shared Platforms → Data &amp; Enterprise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508" y="473273"/>
            <a:ext cx="13599914" cy="759023"/>
          </a:xfrm>
          <a:prstGeom prst="roundRect">
            <a:avLst>
              <a:gd name="adj" fmla="val 4819"/>
            </a:avLst>
          </a:prstGeom>
          <a:solidFill>
            <a:srgbClr val="DDF5E6"/>
          </a:solidFill>
          <a:ln w="9525">
            <a:solidFill>
              <a:srgbClr val="A8DDB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172" y="642938"/>
            <a:ext cx="410766" cy="4107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5813" y="535781"/>
            <a:ext cx="725090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 Agent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85813" y="794742"/>
            <a:ext cx="725090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Application:  </a:t>
            </a:r>
            <a:pPr algn="l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Growth &amp; Coaching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85813" y="955477"/>
            <a:ext cx="823317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customer simulation, objection-handling practice, customer persona simulation, performance evaluation, coaching feedback and practice recommendation.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9197578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97578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9197578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0072688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72688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0072688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0947797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47797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0947797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1822906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822906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1822906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2698016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698016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9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2698016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enhanced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62508" y="1321594"/>
            <a:ext cx="1276945" cy="250031"/>
          </a:xfrm>
          <a:prstGeom prst="roundRect">
            <a:avLst>
              <a:gd name="adj" fmla="val 10971"/>
            </a:avLst>
          </a:prstGeom>
          <a:solidFill>
            <a:srgbClr val="DDF5E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2508" y="1321594"/>
            <a:ext cx="1276945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Group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464469" y="1321594"/>
            <a:ext cx="3214688" cy="250031"/>
          </a:xfrm>
          <a:prstGeom prst="roundRect">
            <a:avLst>
              <a:gd name="adj" fmla="val 10971"/>
            </a:avLst>
          </a:prstGeom>
          <a:solidFill>
            <a:srgbClr val="F6DE9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464469" y="1321594"/>
            <a:ext cx="3214688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Skills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bounded capability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875609" y="1321594"/>
            <a:ext cx="3393281" cy="250031"/>
          </a:xfrm>
          <a:prstGeom prst="roundRect">
            <a:avLst>
              <a:gd name="adj" fmla="val 10971"/>
            </a:avLst>
          </a:prstGeom>
          <a:solidFill>
            <a:srgbClr val="B9E6C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875609" y="1321594"/>
            <a:ext cx="3393281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MCP / AI Tools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governed execution &amp; data access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8465344" y="1321594"/>
            <a:ext cx="2214563" cy="250031"/>
          </a:xfrm>
          <a:prstGeom prst="roundRect">
            <a:avLst>
              <a:gd name="adj" fmla="val 10971"/>
            </a:avLst>
          </a:prstGeom>
          <a:solidFill>
            <a:srgbClr val="B8D6F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465344" y="1321594"/>
            <a:ext cx="22145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Shared Platform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API / capability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10876359" y="1321594"/>
            <a:ext cx="2786063" cy="250031"/>
          </a:xfrm>
          <a:prstGeom prst="roundRect">
            <a:avLst>
              <a:gd name="adj" fmla="val 10971"/>
            </a:avLst>
          </a:prstGeom>
          <a:solidFill>
            <a:srgbClr val="D3C8F5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876359" y="1321594"/>
            <a:ext cx="27860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Data &amp; Enterprise Systems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existing + new / enhanced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2508" y="1643063"/>
            <a:ext cx="1276945" cy="2015362"/>
          </a:xfrm>
          <a:prstGeom prst="roundRect">
            <a:avLst>
              <a:gd name="adj" fmla="val 2148"/>
            </a:avLst>
          </a:prstGeom>
          <a:solidFill>
            <a:srgbClr val="DDF5E6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33945" y="1643063"/>
            <a:ext cx="1169789" cy="2015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Setup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skills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1464469" y="1643063"/>
            <a:ext cx="3214688" cy="2015362"/>
          </a:xfrm>
          <a:prstGeom prst="roundRect">
            <a:avLst>
              <a:gd name="adj" fmla="val 907"/>
            </a:avLst>
          </a:prstGeom>
          <a:solidFill>
            <a:srgbClr val="FDF4DE"/>
          </a:solidFill>
          <a:ln/>
        </p:spPr>
      </p:sp>
      <p:sp>
        <p:nvSpPr>
          <p:cNvPr id="37" name="Text 34"/>
          <p:cNvSpPr/>
          <p:nvPr/>
        </p:nvSpPr>
        <p:spPr>
          <a:xfrm>
            <a:off x="1535906" y="1732359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scenario-generation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107531" y="1732359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customer-persona-generation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535906" y="2204946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objection-generation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875609" y="1643063"/>
            <a:ext cx="3393281" cy="2015362"/>
          </a:xfrm>
          <a:prstGeom prst="roundRect">
            <a:avLst>
              <a:gd name="adj" fmla="val 907"/>
            </a:avLst>
          </a:prstGeom>
          <a:solidFill>
            <a:srgbClr val="E4F6EA"/>
          </a:solidFill>
          <a:ln/>
        </p:spPr>
      </p:sp>
      <p:sp>
        <p:nvSpPr>
          <p:cNvPr id="41" name="Text 38"/>
          <p:cNvSpPr/>
          <p:nvPr/>
        </p:nvSpPr>
        <p:spPr>
          <a:xfrm>
            <a:off x="4947047" y="1732359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get_roleplay_scenario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607969" y="1732359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get_product_detail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947047" y="2204946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get_approved_sales_content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705945" y="2650743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8465344" y="1643063"/>
            <a:ext cx="2214563" cy="2015362"/>
          </a:xfrm>
          <a:prstGeom prst="roundRect">
            <a:avLst>
              <a:gd name="adj" fmla="val 907"/>
            </a:avLst>
          </a:prstGeom>
          <a:solidFill>
            <a:srgbClr val="E3EEFB"/>
          </a:solidFill>
          <a:ln/>
        </p:spPr>
      </p:sp>
      <p:sp>
        <p:nvSpPr>
          <p:cNvPr id="46" name="Text 43"/>
          <p:cNvSpPr/>
          <p:nvPr/>
        </p:nvSpPr>
        <p:spPr>
          <a:xfrm>
            <a:off x="8536781" y="1732359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&amp; Learning Platform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8536781" y="2204946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 Scenarios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8536781" y="2677532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GenAI Platform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8536781" y="3150119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API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8295680" y="2650743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10876359" y="1643063"/>
            <a:ext cx="2786063" cy="2015362"/>
          </a:xfrm>
          <a:prstGeom prst="roundRect">
            <a:avLst>
              <a:gd name="adj" fmla="val 907"/>
            </a:avLst>
          </a:prstGeom>
          <a:solidFill>
            <a:srgbClr val="F3F0FB"/>
          </a:solidFill>
          <a:ln/>
        </p:spPr>
      </p:sp>
      <p:sp>
        <p:nvSpPr>
          <p:cNvPr id="52" name="Text 49"/>
          <p:cNvSpPr/>
          <p:nvPr/>
        </p:nvSpPr>
        <p:spPr>
          <a:xfrm>
            <a:off x="10947797" y="1732359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System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12305109" y="1732359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10947797" y="2204946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Platform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12305109" y="2204946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Router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10706695" y="2650743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62508" y="3729862"/>
            <a:ext cx="1276945" cy="1542775"/>
          </a:xfrm>
          <a:prstGeom prst="roundRect">
            <a:avLst>
              <a:gd name="adj" fmla="val 2148"/>
            </a:avLst>
          </a:prstGeom>
          <a:solidFill>
            <a:srgbClr val="DDF5E6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33945" y="3729862"/>
            <a:ext cx="1169789" cy="1542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skill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1464469" y="3729862"/>
            <a:ext cx="3214688" cy="1542775"/>
          </a:xfrm>
          <a:prstGeom prst="roundRect">
            <a:avLst>
              <a:gd name="adj" fmla="val 1185"/>
            </a:avLst>
          </a:prstGeom>
          <a:solidFill>
            <a:srgbClr val="FDF4DE"/>
          </a:solidFill>
          <a:ln/>
        </p:spPr>
      </p:sp>
      <p:sp>
        <p:nvSpPr>
          <p:cNvPr id="60" name="Text 57"/>
          <p:cNvSpPr/>
          <p:nvPr/>
        </p:nvSpPr>
        <p:spPr>
          <a:xfrm>
            <a:off x="1535906" y="3819159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roleplay-simulation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4875609" y="3729862"/>
            <a:ext cx="3393281" cy="1542775"/>
          </a:xfrm>
          <a:prstGeom prst="roundRect">
            <a:avLst>
              <a:gd name="adj" fmla="val 1185"/>
            </a:avLst>
          </a:prstGeom>
          <a:solidFill>
            <a:srgbClr val="E4F6EA"/>
          </a:solidFill>
          <a:ln/>
        </p:spPr>
      </p:sp>
      <p:sp>
        <p:nvSpPr>
          <p:cNvPr id="62" name="Text 59"/>
          <p:cNvSpPr/>
          <p:nvPr/>
        </p:nvSpPr>
        <p:spPr>
          <a:xfrm>
            <a:off x="4947047" y="3819159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get_roleplay_scenario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6607969" y="3819159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get_approved_sales_content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4947047" y="4291745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save_roleplay_session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4705945" y="4501249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66" name="Shape 63"/>
          <p:cNvSpPr/>
          <p:nvPr/>
        </p:nvSpPr>
        <p:spPr>
          <a:xfrm>
            <a:off x="8465344" y="3729862"/>
            <a:ext cx="2214563" cy="1542775"/>
          </a:xfrm>
          <a:prstGeom prst="roundRect">
            <a:avLst>
              <a:gd name="adj" fmla="val 1185"/>
            </a:avLst>
          </a:prstGeom>
          <a:solidFill>
            <a:srgbClr val="E3EEFB"/>
          </a:solidFill>
          <a:ln/>
        </p:spPr>
      </p:sp>
      <p:sp>
        <p:nvSpPr>
          <p:cNvPr id="67" name="Text 64"/>
          <p:cNvSpPr/>
          <p:nvPr/>
        </p:nvSpPr>
        <p:spPr>
          <a:xfrm>
            <a:off x="8536781" y="3819159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Runtime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8536781" y="4291745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050" dirty="0"/>
          </a:p>
        </p:txBody>
      </p:sp>
      <p:sp>
        <p:nvSpPr>
          <p:cNvPr id="69" name="Text 66"/>
          <p:cNvSpPr/>
          <p:nvPr/>
        </p:nvSpPr>
        <p:spPr>
          <a:xfrm>
            <a:off x="8536781" y="4764332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&amp; Learning Platform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8295680" y="4501249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71" name="Shape 68"/>
          <p:cNvSpPr/>
          <p:nvPr/>
        </p:nvSpPr>
        <p:spPr>
          <a:xfrm>
            <a:off x="10876359" y="3729862"/>
            <a:ext cx="2786063" cy="1542775"/>
          </a:xfrm>
          <a:prstGeom prst="roundRect">
            <a:avLst>
              <a:gd name="adj" fmla="val 1185"/>
            </a:avLst>
          </a:prstGeom>
          <a:solidFill>
            <a:srgbClr val="F3F0FB"/>
          </a:solidFill>
          <a:ln/>
        </p:spPr>
      </p:sp>
      <p:sp>
        <p:nvSpPr>
          <p:cNvPr id="72" name="Text 69"/>
          <p:cNvSpPr/>
          <p:nvPr/>
        </p:nvSpPr>
        <p:spPr>
          <a:xfrm>
            <a:off x="10947797" y="3819159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12305109" y="3819159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10947797" y="4291745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Platform</a:t>
            </a:r>
            <a:endParaRPr lang="en-US" sz="750" dirty="0"/>
          </a:p>
        </p:txBody>
      </p:sp>
      <p:sp>
        <p:nvSpPr>
          <p:cNvPr id="75" name="Shape 72"/>
          <p:cNvSpPr/>
          <p:nvPr/>
        </p:nvSpPr>
        <p:spPr>
          <a:xfrm>
            <a:off x="10706695" y="4501249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76" name="Shape 73"/>
          <p:cNvSpPr/>
          <p:nvPr/>
        </p:nvSpPr>
        <p:spPr>
          <a:xfrm>
            <a:off x="62508" y="5344075"/>
            <a:ext cx="1276945" cy="1542775"/>
          </a:xfrm>
          <a:prstGeom prst="roundRect">
            <a:avLst>
              <a:gd name="adj" fmla="val 2148"/>
            </a:avLst>
          </a:prstGeom>
          <a:solidFill>
            <a:srgbClr val="DDF5E6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133945" y="5344075"/>
            <a:ext cx="1169789" cy="1542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Scoring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skills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1464469" y="5344075"/>
            <a:ext cx="3214688" cy="1542775"/>
          </a:xfrm>
          <a:prstGeom prst="roundRect">
            <a:avLst>
              <a:gd name="adj" fmla="val 1185"/>
            </a:avLst>
          </a:prstGeom>
          <a:solidFill>
            <a:srgbClr val="FDF4DE"/>
          </a:solidFill>
          <a:ln/>
        </p:spPr>
      </p:sp>
      <p:sp>
        <p:nvSpPr>
          <p:cNvPr id="79" name="Text 76"/>
          <p:cNvSpPr/>
          <p:nvPr/>
        </p:nvSpPr>
        <p:spPr>
          <a:xfrm>
            <a:off x="1535906" y="5433371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conversation-evaluation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3107531" y="5433371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performance-scoring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4875609" y="5344075"/>
            <a:ext cx="3393281" cy="1542775"/>
          </a:xfrm>
          <a:prstGeom prst="roundRect">
            <a:avLst>
              <a:gd name="adj" fmla="val 1185"/>
            </a:avLst>
          </a:prstGeom>
          <a:solidFill>
            <a:srgbClr val="E4F6EA"/>
          </a:solidFill>
          <a:ln/>
        </p:spPr>
      </p:sp>
      <p:sp>
        <p:nvSpPr>
          <p:cNvPr id="82" name="Text 79"/>
          <p:cNvSpPr/>
          <p:nvPr/>
        </p:nvSpPr>
        <p:spPr>
          <a:xfrm>
            <a:off x="4947047" y="5433371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get_competency_model</a:t>
            </a:r>
            <a:endParaRPr lang="en-US" sz="1000" dirty="0"/>
          </a:p>
        </p:txBody>
      </p:sp>
      <p:sp>
        <p:nvSpPr>
          <p:cNvPr id="83" name="Text 80"/>
          <p:cNvSpPr/>
          <p:nvPr/>
        </p:nvSpPr>
        <p:spPr>
          <a:xfrm>
            <a:off x="6607969" y="5433371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save_roleplay_score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05945" y="6115462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85" name="Shape 82"/>
          <p:cNvSpPr/>
          <p:nvPr/>
        </p:nvSpPr>
        <p:spPr>
          <a:xfrm>
            <a:off x="8465344" y="5344075"/>
            <a:ext cx="2214563" cy="1542775"/>
          </a:xfrm>
          <a:prstGeom prst="roundRect">
            <a:avLst>
              <a:gd name="adj" fmla="val 1185"/>
            </a:avLst>
          </a:prstGeom>
          <a:solidFill>
            <a:srgbClr val="E3EEFB"/>
          </a:solidFill>
          <a:ln/>
        </p:spPr>
      </p:sp>
      <p:sp>
        <p:nvSpPr>
          <p:cNvPr id="86" name="Text 83"/>
          <p:cNvSpPr/>
          <p:nvPr/>
        </p:nvSpPr>
        <p:spPr>
          <a:xfrm>
            <a:off x="8536781" y="5433371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&amp; Learning Platform</a:t>
            </a:r>
            <a:endParaRPr lang="en-US" sz="1050" dirty="0"/>
          </a:p>
        </p:txBody>
      </p:sp>
      <p:sp>
        <p:nvSpPr>
          <p:cNvPr id="87" name="Text 84"/>
          <p:cNvSpPr/>
          <p:nvPr/>
        </p:nvSpPr>
        <p:spPr>
          <a:xfrm>
            <a:off x="8536781" y="5905958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Model</a:t>
            </a:r>
            <a:endParaRPr lang="en-US" sz="1050" dirty="0"/>
          </a:p>
        </p:txBody>
      </p:sp>
      <p:sp>
        <p:nvSpPr>
          <p:cNvPr id="88" name="Text 85"/>
          <p:cNvSpPr/>
          <p:nvPr/>
        </p:nvSpPr>
        <p:spPr>
          <a:xfrm>
            <a:off x="8536781" y="6378544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 Results</a:t>
            </a:r>
            <a:endParaRPr lang="en-US" sz="1050" dirty="0"/>
          </a:p>
        </p:txBody>
      </p:sp>
      <p:sp>
        <p:nvSpPr>
          <p:cNvPr id="89" name="Shape 86"/>
          <p:cNvSpPr/>
          <p:nvPr/>
        </p:nvSpPr>
        <p:spPr>
          <a:xfrm>
            <a:off x="8295680" y="6115462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90" name="Shape 87"/>
          <p:cNvSpPr/>
          <p:nvPr/>
        </p:nvSpPr>
        <p:spPr>
          <a:xfrm>
            <a:off x="10876359" y="5344075"/>
            <a:ext cx="2786063" cy="1542775"/>
          </a:xfrm>
          <a:prstGeom prst="roundRect">
            <a:avLst>
              <a:gd name="adj" fmla="val 1185"/>
            </a:avLst>
          </a:prstGeom>
          <a:solidFill>
            <a:srgbClr val="F3F0FB"/>
          </a:solidFill>
          <a:ln/>
        </p:spPr>
      </p:sp>
      <p:sp>
        <p:nvSpPr>
          <p:cNvPr id="91" name="Text 88"/>
          <p:cNvSpPr/>
          <p:nvPr/>
        </p:nvSpPr>
        <p:spPr>
          <a:xfrm>
            <a:off x="10947797" y="5433371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Data</a:t>
            </a:r>
            <a:endParaRPr lang="en-US" sz="750" dirty="0"/>
          </a:p>
        </p:txBody>
      </p:sp>
      <p:sp>
        <p:nvSpPr>
          <p:cNvPr id="92" name="Text 89"/>
          <p:cNvSpPr/>
          <p:nvPr/>
        </p:nvSpPr>
        <p:spPr>
          <a:xfrm>
            <a:off x="12305109" y="5433371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</a:t>
            </a:r>
            <a:endParaRPr lang="en-US" sz="750" dirty="0"/>
          </a:p>
        </p:txBody>
      </p:sp>
      <p:sp>
        <p:nvSpPr>
          <p:cNvPr id="93" name="Text 90"/>
          <p:cNvSpPr/>
          <p:nvPr/>
        </p:nvSpPr>
        <p:spPr>
          <a:xfrm>
            <a:off x="10947797" y="5905958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Model</a:t>
            </a:r>
            <a:endParaRPr lang="en-US" sz="750" dirty="0"/>
          </a:p>
        </p:txBody>
      </p:sp>
      <p:sp>
        <p:nvSpPr>
          <p:cNvPr id="94" name="Text 91"/>
          <p:cNvSpPr/>
          <p:nvPr/>
        </p:nvSpPr>
        <p:spPr>
          <a:xfrm>
            <a:off x="12305109" y="5905958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Platform</a:t>
            </a:r>
            <a:endParaRPr lang="en-US" sz="750" dirty="0"/>
          </a:p>
        </p:txBody>
      </p:sp>
      <p:sp>
        <p:nvSpPr>
          <p:cNvPr id="95" name="Shape 92"/>
          <p:cNvSpPr/>
          <p:nvPr/>
        </p:nvSpPr>
        <p:spPr>
          <a:xfrm>
            <a:off x="10706695" y="6115462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96" name="Shape 93"/>
          <p:cNvSpPr/>
          <p:nvPr/>
        </p:nvSpPr>
        <p:spPr>
          <a:xfrm>
            <a:off x="62508" y="6958287"/>
            <a:ext cx="1276945" cy="1542775"/>
          </a:xfrm>
          <a:prstGeom prst="roundRect">
            <a:avLst>
              <a:gd name="adj" fmla="val 2148"/>
            </a:avLst>
          </a:prstGeom>
          <a:solidFill>
            <a:srgbClr val="DDF5E6"/>
          </a:solidFill>
          <a:ln w="9525">
            <a:solidFill>
              <a:srgbClr val="A8DDB9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133945" y="6958287"/>
            <a:ext cx="1169789" cy="1542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Practice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skills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1464469" y="6958287"/>
            <a:ext cx="3214688" cy="1542775"/>
          </a:xfrm>
          <a:prstGeom prst="roundRect">
            <a:avLst>
              <a:gd name="adj" fmla="val 1185"/>
            </a:avLst>
          </a:prstGeom>
          <a:solidFill>
            <a:srgbClr val="FDF4DE"/>
          </a:solidFill>
          <a:ln/>
        </p:spPr>
      </p:sp>
      <p:sp>
        <p:nvSpPr>
          <p:cNvPr id="99" name="Text 96"/>
          <p:cNvSpPr/>
          <p:nvPr/>
        </p:nvSpPr>
        <p:spPr>
          <a:xfrm>
            <a:off x="1535906" y="7047584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feedback-coaching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107531" y="7047584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practice-recommendation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4875609" y="6958287"/>
            <a:ext cx="3393281" cy="1542775"/>
          </a:xfrm>
          <a:prstGeom prst="roundRect">
            <a:avLst>
              <a:gd name="adj" fmla="val 1185"/>
            </a:avLst>
          </a:prstGeom>
          <a:solidFill>
            <a:srgbClr val="E4F6EA"/>
          </a:solidFill>
          <a:ln/>
        </p:spPr>
      </p:sp>
      <p:sp>
        <p:nvSpPr>
          <p:cNvPr id="102" name="Text 99"/>
          <p:cNvSpPr/>
          <p:nvPr/>
        </p:nvSpPr>
        <p:spPr>
          <a:xfrm>
            <a:off x="4947047" y="7047584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get_competency_model</a:t>
            </a:r>
            <a:endParaRPr lang="en-US" sz="1000" dirty="0"/>
          </a:p>
        </p:txBody>
      </p:sp>
      <p:sp>
        <p:nvSpPr>
          <p:cNvPr id="103" name="Text 100"/>
          <p:cNvSpPr/>
          <p:nvPr/>
        </p:nvSpPr>
        <p:spPr>
          <a:xfrm>
            <a:off x="6607969" y="7047584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create_learning_assignment</a:t>
            </a:r>
            <a:endParaRPr lang="en-US" sz="1000" dirty="0"/>
          </a:p>
        </p:txBody>
      </p:sp>
      <p:sp>
        <p:nvSpPr>
          <p:cNvPr id="104" name="Text 101"/>
          <p:cNvSpPr/>
          <p:nvPr/>
        </p:nvSpPr>
        <p:spPr>
          <a:xfrm>
            <a:off x="4947047" y="7520171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update_agent_progress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4705945" y="772967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06" name="Shape 103"/>
          <p:cNvSpPr/>
          <p:nvPr/>
        </p:nvSpPr>
        <p:spPr>
          <a:xfrm>
            <a:off x="8465344" y="6958287"/>
            <a:ext cx="2214563" cy="1542775"/>
          </a:xfrm>
          <a:prstGeom prst="roundRect">
            <a:avLst>
              <a:gd name="adj" fmla="val 1185"/>
            </a:avLst>
          </a:prstGeom>
          <a:solidFill>
            <a:srgbClr val="E3EEFB"/>
          </a:solidFill>
          <a:ln/>
        </p:spPr>
      </p:sp>
      <p:sp>
        <p:nvSpPr>
          <p:cNvPr id="107" name="Text 104"/>
          <p:cNvSpPr/>
          <p:nvPr/>
        </p:nvSpPr>
        <p:spPr>
          <a:xfrm>
            <a:off x="8536781" y="7047584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&amp; Learning Platform</a:t>
            </a:r>
            <a:endParaRPr lang="en-US" sz="1050" dirty="0"/>
          </a:p>
        </p:txBody>
      </p:sp>
      <p:sp>
        <p:nvSpPr>
          <p:cNvPr id="108" name="Text 105"/>
          <p:cNvSpPr/>
          <p:nvPr/>
        </p:nvSpPr>
        <p:spPr>
          <a:xfrm>
            <a:off x="8536781" y="7520171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Recommendation</a:t>
            </a:r>
            <a:endParaRPr lang="en-US" sz="1050" dirty="0"/>
          </a:p>
        </p:txBody>
      </p:sp>
      <p:sp>
        <p:nvSpPr>
          <p:cNvPr id="109" name="Text 106"/>
          <p:cNvSpPr/>
          <p:nvPr/>
        </p:nvSpPr>
        <p:spPr>
          <a:xfrm>
            <a:off x="8536781" y="7992757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</a:t>
            </a:r>
            <a:endParaRPr lang="en-US" sz="1050" dirty="0"/>
          </a:p>
        </p:txBody>
      </p:sp>
      <p:sp>
        <p:nvSpPr>
          <p:cNvPr id="110" name="Shape 107"/>
          <p:cNvSpPr/>
          <p:nvPr/>
        </p:nvSpPr>
        <p:spPr>
          <a:xfrm>
            <a:off x="8295680" y="772967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11" name="Shape 108"/>
          <p:cNvSpPr/>
          <p:nvPr/>
        </p:nvSpPr>
        <p:spPr>
          <a:xfrm>
            <a:off x="10876359" y="6958287"/>
            <a:ext cx="2786063" cy="1542775"/>
          </a:xfrm>
          <a:prstGeom prst="roundRect">
            <a:avLst>
              <a:gd name="adj" fmla="val 1185"/>
            </a:avLst>
          </a:prstGeom>
          <a:solidFill>
            <a:srgbClr val="F3F0FB"/>
          </a:solidFill>
          <a:ln/>
        </p:spPr>
      </p:sp>
      <p:sp>
        <p:nvSpPr>
          <p:cNvPr id="112" name="Text 109"/>
          <p:cNvSpPr/>
          <p:nvPr/>
        </p:nvSpPr>
        <p:spPr>
          <a:xfrm>
            <a:off x="10947797" y="7047584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12305109" y="7047584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Data</a:t>
            </a:r>
            <a:endParaRPr lang="en-US" sz="750" dirty="0"/>
          </a:p>
        </p:txBody>
      </p:sp>
      <p:sp>
        <p:nvSpPr>
          <p:cNvPr id="114" name="Text 111"/>
          <p:cNvSpPr/>
          <p:nvPr/>
        </p:nvSpPr>
        <p:spPr>
          <a:xfrm>
            <a:off x="10947797" y="7520171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Platform</a:t>
            </a:r>
            <a:endParaRPr lang="en-US" sz="750" dirty="0"/>
          </a:p>
        </p:txBody>
      </p:sp>
      <p:sp>
        <p:nvSpPr>
          <p:cNvPr id="115" name="Shape 112"/>
          <p:cNvSpPr/>
          <p:nvPr/>
        </p:nvSpPr>
        <p:spPr>
          <a:xfrm>
            <a:off x="10706695" y="772967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16" name="Shape 113"/>
          <p:cNvSpPr/>
          <p:nvPr/>
        </p:nvSpPr>
        <p:spPr>
          <a:xfrm>
            <a:off x="62508" y="8688586"/>
            <a:ext cx="13599914" cy="348258"/>
          </a:xfrm>
          <a:prstGeom prst="roundRect">
            <a:avLst>
              <a:gd name="adj" fmla="val 10503"/>
            </a:avLst>
          </a:prstGeom>
          <a:solidFill>
            <a:srgbClr val="F4F6FA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160734" y="8688586"/>
            <a:ext cx="55364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750094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19" name="Text 116"/>
          <p:cNvSpPr txBox="1"/>
          <p:nvPr/>
        </p:nvSpPr>
        <p:spPr>
          <a:xfrm>
            <a:off x="1035844" y="8688586"/>
            <a:ext cx="32593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750" dirty="0"/>
          </a:p>
        </p:txBody>
      </p:sp>
      <p:sp>
        <p:nvSpPr>
          <p:cNvPr id="120" name="Text 117"/>
          <p:cNvSpPr/>
          <p:nvPr/>
        </p:nvSpPr>
        <p:spPr>
          <a:xfrm>
            <a:off x="1415355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21" name="Text 118"/>
          <p:cNvSpPr txBox="1"/>
          <p:nvPr/>
        </p:nvSpPr>
        <p:spPr>
          <a:xfrm>
            <a:off x="1701105" y="8688586"/>
            <a:ext cx="75188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tool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2506563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23" name="Text 120"/>
          <p:cNvSpPr txBox="1"/>
          <p:nvPr/>
        </p:nvSpPr>
        <p:spPr>
          <a:xfrm>
            <a:off x="2792313" y="8688586"/>
            <a:ext cx="988516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write tool</a:t>
            </a:r>
            <a:endParaRPr lang="en-US" sz="750" dirty="0"/>
          </a:p>
        </p:txBody>
      </p:sp>
      <p:sp>
        <p:nvSpPr>
          <p:cNvPr id="124" name="Text 121"/>
          <p:cNvSpPr/>
          <p:nvPr/>
        </p:nvSpPr>
        <p:spPr>
          <a:xfrm>
            <a:off x="3834408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DE0E0"/>
          </a:solidFill>
          <a:ln w="9525">
            <a:solidFill>
              <a:srgbClr val="E07A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25" name="Text 122"/>
          <p:cNvSpPr txBox="1"/>
          <p:nvPr/>
        </p:nvSpPr>
        <p:spPr>
          <a:xfrm>
            <a:off x="4120158" y="8688586"/>
            <a:ext cx="240833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/ regulated tool (human approval)</a:t>
            </a:r>
            <a:endParaRPr lang="en-US" sz="750" dirty="0"/>
          </a:p>
        </p:txBody>
      </p:sp>
      <p:sp>
        <p:nvSpPr>
          <p:cNvPr id="126" name="Text 123"/>
          <p:cNvSpPr/>
          <p:nvPr/>
        </p:nvSpPr>
        <p:spPr>
          <a:xfrm>
            <a:off x="6582073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27" name="Text 124"/>
          <p:cNvSpPr txBox="1"/>
          <p:nvPr/>
        </p:nvSpPr>
        <p:spPr>
          <a:xfrm>
            <a:off x="6867823" y="8688586"/>
            <a:ext cx="79920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</a:t>
            </a:r>
            <a:endParaRPr lang="en-US" sz="750" dirty="0"/>
          </a:p>
        </p:txBody>
      </p:sp>
      <p:sp>
        <p:nvSpPr>
          <p:cNvPr id="128" name="Text 125"/>
          <p:cNvSpPr/>
          <p:nvPr/>
        </p:nvSpPr>
        <p:spPr>
          <a:xfrm>
            <a:off x="7720608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29" name="Text 126"/>
          <p:cNvSpPr txBox="1"/>
          <p:nvPr/>
        </p:nvSpPr>
        <p:spPr>
          <a:xfrm>
            <a:off x="8006358" y="8688586"/>
            <a:ext cx="84653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capability</a:t>
            </a:r>
            <a:endParaRPr lang="en-US" sz="750" dirty="0"/>
          </a:p>
        </p:txBody>
      </p:sp>
      <p:sp>
        <p:nvSpPr>
          <p:cNvPr id="130" name="Text 127"/>
          <p:cNvSpPr/>
          <p:nvPr/>
        </p:nvSpPr>
        <p:spPr>
          <a:xfrm>
            <a:off x="8906470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31" name="Text 128"/>
          <p:cNvSpPr txBox="1"/>
          <p:nvPr/>
        </p:nvSpPr>
        <p:spPr>
          <a:xfrm>
            <a:off x="9192220" y="8688586"/>
            <a:ext cx="1130498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/ data</a:t>
            </a:r>
            <a:endParaRPr lang="en-US" sz="750" dirty="0"/>
          </a:p>
        </p:txBody>
      </p:sp>
      <p:sp>
        <p:nvSpPr>
          <p:cNvPr id="132" name="Text 129"/>
          <p:cNvSpPr/>
          <p:nvPr/>
        </p:nvSpPr>
        <p:spPr>
          <a:xfrm>
            <a:off x="10376297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33" name="Text 130"/>
          <p:cNvSpPr txBox="1"/>
          <p:nvPr/>
        </p:nvSpPr>
        <p:spPr>
          <a:xfrm>
            <a:off x="10662047" y="8688586"/>
            <a:ext cx="108317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enhanced module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508" y="26789"/>
            <a:ext cx="13599914" cy="357188"/>
          </a:xfrm>
          <a:prstGeom prst="roundRect">
            <a:avLst>
              <a:gd name="adj" fmla="val 7680"/>
            </a:avLst>
          </a:prstGeom>
          <a:solidFill>
            <a:srgbClr val="0B2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508" y="26789"/>
            <a:ext cx="1359991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 Leader Coaching Agent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Skills → MCP Tools → Shared Platforms → Data &amp; Enterprise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508" y="473273"/>
            <a:ext cx="13599914" cy="759023"/>
          </a:xfrm>
          <a:prstGeom prst="roundRect">
            <a:avLst>
              <a:gd name="adj" fmla="val 4819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172" y="642938"/>
            <a:ext cx="410766" cy="4107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5813" y="535781"/>
            <a:ext cx="725090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Coaching Agent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85813" y="794742"/>
            <a:ext cx="725090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Application:  </a:t>
            </a:r>
            <a:pPr algn="l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&amp; Recruitment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85813" y="955477"/>
            <a:ext cx="823317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analysis, agent risk analysis, coaching prioritization, team next best action, individual agent diagnosis and leader coaching preparation.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9197578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97578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9197578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0072688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72688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0072688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0947797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47797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0947797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1822906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822906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1822906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2698016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698016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2698016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enhanced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62508" y="1321594"/>
            <a:ext cx="1276945" cy="250031"/>
          </a:xfrm>
          <a:prstGeom prst="roundRect">
            <a:avLst>
              <a:gd name="adj" fmla="val 10971"/>
            </a:avLst>
          </a:prstGeom>
          <a:solidFill>
            <a:srgbClr val="E6E0F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2508" y="1321594"/>
            <a:ext cx="1276945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Group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464469" y="1321594"/>
            <a:ext cx="3214688" cy="250031"/>
          </a:xfrm>
          <a:prstGeom prst="roundRect">
            <a:avLst>
              <a:gd name="adj" fmla="val 10971"/>
            </a:avLst>
          </a:prstGeom>
          <a:solidFill>
            <a:srgbClr val="F6DE9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464469" y="1321594"/>
            <a:ext cx="3214688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Skills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bounded capability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875609" y="1321594"/>
            <a:ext cx="3393281" cy="250031"/>
          </a:xfrm>
          <a:prstGeom prst="roundRect">
            <a:avLst>
              <a:gd name="adj" fmla="val 10971"/>
            </a:avLst>
          </a:prstGeom>
          <a:solidFill>
            <a:srgbClr val="B9E6C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875609" y="1321594"/>
            <a:ext cx="3393281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MCP / AI Tools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governed execution &amp; data access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8465344" y="1321594"/>
            <a:ext cx="2214563" cy="250031"/>
          </a:xfrm>
          <a:prstGeom prst="roundRect">
            <a:avLst>
              <a:gd name="adj" fmla="val 10971"/>
            </a:avLst>
          </a:prstGeom>
          <a:solidFill>
            <a:srgbClr val="B8D6F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465344" y="1321594"/>
            <a:ext cx="22145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Shared Platform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API / capability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10876359" y="1321594"/>
            <a:ext cx="2786063" cy="250031"/>
          </a:xfrm>
          <a:prstGeom prst="roundRect">
            <a:avLst>
              <a:gd name="adj" fmla="val 10971"/>
            </a:avLst>
          </a:prstGeom>
          <a:solidFill>
            <a:srgbClr val="D3C8F5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876359" y="1321594"/>
            <a:ext cx="27860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Data &amp; Enterprise Systems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existing + new / enhanced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2508" y="1643063"/>
            <a:ext cx="1276945" cy="1542775"/>
          </a:xfrm>
          <a:prstGeom prst="roundRect">
            <a:avLst>
              <a:gd name="adj" fmla="val 2148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33945" y="1643063"/>
            <a:ext cx="1169789" cy="1542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Overview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skills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1464469" y="1643063"/>
            <a:ext cx="3214688" cy="1542775"/>
          </a:xfrm>
          <a:prstGeom prst="roundRect">
            <a:avLst>
              <a:gd name="adj" fmla="val 1185"/>
            </a:avLst>
          </a:prstGeom>
          <a:solidFill>
            <a:srgbClr val="FDF4DE"/>
          </a:solidFill>
          <a:ln/>
        </p:spPr>
      </p:sp>
      <p:sp>
        <p:nvSpPr>
          <p:cNvPr id="37" name="Text 34"/>
          <p:cNvSpPr/>
          <p:nvPr/>
        </p:nvSpPr>
        <p:spPr>
          <a:xfrm>
            <a:off x="1535906" y="1732359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team-brief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3107531" y="1732359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team-performance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1535906" y="2204946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team-capacity-analysis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4875609" y="1643063"/>
            <a:ext cx="3393281" cy="1542775"/>
          </a:xfrm>
          <a:prstGeom prst="roundRect">
            <a:avLst>
              <a:gd name="adj" fmla="val 1185"/>
            </a:avLst>
          </a:prstGeom>
          <a:solidFill>
            <a:srgbClr val="E4F6EA"/>
          </a:solidFill>
          <a:ln/>
        </p:spPr>
      </p:sp>
      <p:sp>
        <p:nvSpPr>
          <p:cNvPr id="41" name="Text 38"/>
          <p:cNvSpPr/>
          <p:nvPr/>
        </p:nvSpPr>
        <p:spPr>
          <a:xfrm>
            <a:off x="4947047" y="1732359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get_team_360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607969" y="1732359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get_team_performance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705945" y="2414450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8465344" y="1643063"/>
            <a:ext cx="2214563" cy="1542775"/>
          </a:xfrm>
          <a:prstGeom prst="roundRect">
            <a:avLst>
              <a:gd name="adj" fmla="val 1185"/>
            </a:avLst>
          </a:prstGeom>
          <a:solidFill>
            <a:srgbClr val="E3EEFB"/>
          </a:solidFill>
          <a:ln/>
        </p:spPr>
      </p:sp>
      <p:sp>
        <p:nvSpPr>
          <p:cNvPr id="45" name="Text 42"/>
          <p:cNvSpPr/>
          <p:nvPr/>
        </p:nvSpPr>
        <p:spPr>
          <a:xfrm>
            <a:off x="8536781" y="1732359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Data &amp; Semantic Platform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8536781" y="2204946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360 · Agent 360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95680" y="2414450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10876359" y="1643063"/>
            <a:ext cx="2786063" cy="1542775"/>
          </a:xfrm>
          <a:prstGeom prst="roundRect">
            <a:avLst>
              <a:gd name="adj" fmla="val 1185"/>
            </a:avLst>
          </a:prstGeom>
          <a:solidFill>
            <a:srgbClr val="F3F0FB"/>
          </a:solidFill>
          <a:ln/>
        </p:spPr>
      </p:sp>
      <p:sp>
        <p:nvSpPr>
          <p:cNvPr id="49" name="Text 46"/>
          <p:cNvSpPr/>
          <p:nvPr/>
        </p:nvSpPr>
        <p:spPr>
          <a:xfrm>
            <a:off x="10947797" y="1732359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System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12305109" y="1732359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Sales Data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0947797" y="2204946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/ Lakehouse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2305109" y="2204946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360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10706695" y="2414450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62508" y="3257275"/>
            <a:ext cx="1276945" cy="1542775"/>
          </a:xfrm>
          <a:prstGeom prst="roundRect">
            <a:avLst>
              <a:gd name="adj" fmla="val 2148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33945" y="3257275"/>
            <a:ext cx="1169789" cy="1542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Ranking &amp; Risk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skills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1464469" y="3257275"/>
            <a:ext cx="3214688" cy="1542775"/>
          </a:xfrm>
          <a:prstGeom prst="roundRect">
            <a:avLst>
              <a:gd name="adj" fmla="val 1185"/>
            </a:avLst>
          </a:prstGeom>
          <a:solidFill>
            <a:srgbClr val="FDF4DE"/>
          </a:solidFill>
          <a:ln/>
        </p:spPr>
      </p:sp>
      <p:sp>
        <p:nvSpPr>
          <p:cNvPr id="57" name="Text 54"/>
          <p:cNvSpPr/>
          <p:nvPr/>
        </p:nvSpPr>
        <p:spPr>
          <a:xfrm>
            <a:off x="1535906" y="3346572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agent-ranking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3107531" y="3346572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agent-risk-detection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535906" y="3819159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agent-intervention-recommendation</a:t>
            </a:r>
            <a:endParaRPr lang="en-US" sz="700" dirty="0"/>
          </a:p>
        </p:txBody>
      </p:sp>
      <p:sp>
        <p:nvSpPr>
          <p:cNvPr id="60" name="Shape 57"/>
          <p:cNvSpPr/>
          <p:nvPr/>
        </p:nvSpPr>
        <p:spPr>
          <a:xfrm>
            <a:off x="4875609" y="3257275"/>
            <a:ext cx="3393281" cy="1542775"/>
          </a:xfrm>
          <a:prstGeom prst="roundRect">
            <a:avLst>
              <a:gd name="adj" fmla="val 1185"/>
            </a:avLst>
          </a:prstGeom>
          <a:solidFill>
            <a:srgbClr val="E4F6EA"/>
          </a:solidFill>
          <a:ln/>
        </p:spPr>
      </p:sp>
      <p:sp>
        <p:nvSpPr>
          <p:cNvPr id="61" name="Text 58"/>
          <p:cNvSpPr/>
          <p:nvPr/>
        </p:nvSpPr>
        <p:spPr>
          <a:xfrm>
            <a:off x="4947047" y="3346572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get_agent_risk_scores</a:t>
            </a:r>
            <a:endParaRPr lang="en-US" sz="1050" dirty="0"/>
          </a:p>
        </p:txBody>
      </p:sp>
      <p:sp>
        <p:nvSpPr>
          <p:cNvPr id="62" name="Text 59"/>
          <p:cNvSpPr/>
          <p:nvPr/>
        </p:nvSpPr>
        <p:spPr>
          <a:xfrm>
            <a:off x="6607969" y="3346572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get_agent_performance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4947047" y="3819159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get_agent_pipeline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4705945" y="4028663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65" name="Shape 62"/>
          <p:cNvSpPr/>
          <p:nvPr/>
        </p:nvSpPr>
        <p:spPr>
          <a:xfrm>
            <a:off x="8465344" y="3257275"/>
            <a:ext cx="2214563" cy="1542775"/>
          </a:xfrm>
          <a:prstGeom prst="roundRect">
            <a:avLst>
              <a:gd name="adj" fmla="val 1185"/>
            </a:avLst>
          </a:prstGeom>
          <a:solidFill>
            <a:srgbClr val="E3EEFB"/>
          </a:solidFill>
          <a:ln/>
        </p:spPr>
      </p:sp>
      <p:sp>
        <p:nvSpPr>
          <p:cNvPr id="66" name="Text 63"/>
          <p:cNvSpPr/>
          <p:nvPr/>
        </p:nvSpPr>
        <p:spPr>
          <a:xfrm>
            <a:off x="8536781" y="3346572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&amp; NBA Platform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8536781" y="3819159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Risk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8536781" y="4291745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Data &amp; Semantic Platform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8295680" y="4028663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70" name="Shape 67"/>
          <p:cNvSpPr/>
          <p:nvPr/>
        </p:nvSpPr>
        <p:spPr>
          <a:xfrm>
            <a:off x="10876359" y="3257275"/>
            <a:ext cx="2786063" cy="1542775"/>
          </a:xfrm>
          <a:prstGeom prst="roundRect">
            <a:avLst>
              <a:gd name="adj" fmla="val 1185"/>
            </a:avLst>
          </a:prstGeom>
          <a:solidFill>
            <a:srgbClr val="F3F0FB"/>
          </a:solidFill>
          <a:ln/>
        </p:spPr>
      </p:sp>
      <p:sp>
        <p:nvSpPr>
          <p:cNvPr id="71" name="Text 68"/>
          <p:cNvSpPr/>
          <p:nvPr/>
        </p:nvSpPr>
        <p:spPr>
          <a:xfrm>
            <a:off x="10947797" y="3346572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System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12305109" y="3346572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Sales Data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10947797" y="3819159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Risk Scoring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12305109" y="3819159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360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10706695" y="4028663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76" name="Shape 73"/>
          <p:cNvSpPr/>
          <p:nvPr/>
        </p:nvSpPr>
        <p:spPr>
          <a:xfrm>
            <a:off x="62508" y="4871488"/>
            <a:ext cx="1276945" cy="1542775"/>
          </a:xfrm>
          <a:prstGeom prst="roundRect">
            <a:avLst>
              <a:gd name="adj" fmla="val 2148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133945" y="4871488"/>
            <a:ext cx="1169789" cy="1542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Next Best Action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skill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1464469" y="4871488"/>
            <a:ext cx="3214688" cy="1542775"/>
          </a:xfrm>
          <a:prstGeom prst="roundRect">
            <a:avLst>
              <a:gd name="adj" fmla="val 1185"/>
            </a:avLst>
          </a:prstGeom>
          <a:solidFill>
            <a:srgbClr val="FDF4DE"/>
          </a:solidFill>
          <a:ln/>
        </p:spPr>
      </p:sp>
      <p:sp>
        <p:nvSpPr>
          <p:cNvPr id="79" name="Text 76"/>
          <p:cNvSpPr/>
          <p:nvPr/>
        </p:nvSpPr>
        <p:spPr>
          <a:xfrm>
            <a:off x="1535906" y="4960785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team-nba</a:t>
            </a:r>
            <a:endParaRPr lang="en-US" sz="700" dirty="0"/>
          </a:p>
        </p:txBody>
      </p:sp>
      <p:sp>
        <p:nvSpPr>
          <p:cNvPr id="80" name="Shape 77"/>
          <p:cNvSpPr/>
          <p:nvPr/>
        </p:nvSpPr>
        <p:spPr>
          <a:xfrm>
            <a:off x="4875609" y="4871488"/>
            <a:ext cx="3393281" cy="1542775"/>
          </a:xfrm>
          <a:prstGeom prst="roundRect">
            <a:avLst>
              <a:gd name="adj" fmla="val 1185"/>
            </a:avLst>
          </a:prstGeom>
          <a:solidFill>
            <a:srgbClr val="E4F6EA"/>
          </a:solidFill>
          <a:ln/>
        </p:spPr>
      </p:sp>
      <p:sp>
        <p:nvSpPr>
          <p:cNvPr id="81" name="Text 78"/>
          <p:cNvSpPr/>
          <p:nvPr/>
        </p:nvSpPr>
        <p:spPr>
          <a:xfrm>
            <a:off x="4947047" y="4960785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get_team_nba</a:t>
            </a:r>
            <a:endParaRPr lang="en-US" sz="1050" dirty="0"/>
          </a:p>
        </p:txBody>
      </p:sp>
      <p:sp>
        <p:nvSpPr>
          <p:cNvPr id="82" name="Text 79"/>
          <p:cNvSpPr/>
          <p:nvPr/>
        </p:nvSpPr>
        <p:spPr>
          <a:xfrm>
            <a:off x="6607969" y="4960785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create_leader_followup</a:t>
            </a:r>
            <a:endParaRPr lang="en-US" sz="1050" dirty="0"/>
          </a:p>
        </p:txBody>
      </p:sp>
      <p:sp>
        <p:nvSpPr>
          <p:cNvPr id="83" name="Shape 80"/>
          <p:cNvSpPr/>
          <p:nvPr/>
        </p:nvSpPr>
        <p:spPr>
          <a:xfrm>
            <a:off x="4705945" y="5642876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84" name="Shape 81"/>
          <p:cNvSpPr/>
          <p:nvPr/>
        </p:nvSpPr>
        <p:spPr>
          <a:xfrm>
            <a:off x="8465344" y="4871488"/>
            <a:ext cx="2214563" cy="1542775"/>
          </a:xfrm>
          <a:prstGeom prst="roundRect">
            <a:avLst>
              <a:gd name="adj" fmla="val 1185"/>
            </a:avLst>
          </a:prstGeom>
          <a:solidFill>
            <a:srgbClr val="E3EEFB"/>
          </a:solidFill>
          <a:ln/>
        </p:spPr>
      </p:sp>
      <p:sp>
        <p:nvSpPr>
          <p:cNvPr id="85" name="Text 82"/>
          <p:cNvSpPr/>
          <p:nvPr/>
        </p:nvSpPr>
        <p:spPr>
          <a:xfrm>
            <a:off x="8536781" y="4960785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&amp; NBA Platform</a:t>
            </a:r>
            <a:endParaRPr lang="en-US" sz="1050" dirty="0"/>
          </a:p>
        </p:txBody>
      </p:sp>
      <p:sp>
        <p:nvSpPr>
          <p:cNvPr id="86" name="Text 83"/>
          <p:cNvSpPr/>
          <p:nvPr/>
        </p:nvSpPr>
        <p:spPr>
          <a:xfrm>
            <a:off x="8536781" y="5433371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NBA</a:t>
            </a:r>
            <a:endParaRPr lang="en-US" sz="1050" dirty="0"/>
          </a:p>
        </p:txBody>
      </p:sp>
      <p:sp>
        <p:nvSpPr>
          <p:cNvPr id="87" name="Text 84"/>
          <p:cNvSpPr/>
          <p:nvPr/>
        </p:nvSpPr>
        <p:spPr>
          <a:xfrm>
            <a:off x="8536781" y="5905958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&amp; Work Platform</a:t>
            </a:r>
            <a:endParaRPr lang="en-US" sz="1050" dirty="0"/>
          </a:p>
        </p:txBody>
      </p:sp>
      <p:sp>
        <p:nvSpPr>
          <p:cNvPr id="88" name="Shape 85"/>
          <p:cNvSpPr/>
          <p:nvPr/>
        </p:nvSpPr>
        <p:spPr>
          <a:xfrm>
            <a:off x="8295680" y="5642876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89" name="Shape 86"/>
          <p:cNvSpPr/>
          <p:nvPr/>
        </p:nvSpPr>
        <p:spPr>
          <a:xfrm>
            <a:off x="10876359" y="4871488"/>
            <a:ext cx="2786063" cy="1542775"/>
          </a:xfrm>
          <a:prstGeom prst="roundRect">
            <a:avLst>
              <a:gd name="adj" fmla="val 1185"/>
            </a:avLst>
          </a:prstGeom>
          <a:solidFill>
            <a:srgbClr val="F3F0FB"/>
          </a:solidFill>
          <a:ln/>
        </p:spPr>
      </p:sp>
      <p:sp>
        <p:nvSpPr>
          <p:cNvPr id="90" name="Text 87"/>
          <p:cNvSpPr/>
          <p:nvPr/>
        </p:nvSpPr>
        <p:spPr>
          <a:xfrm>
            <a:off x="10947797" y="4960785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NBA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12305109" y="4960785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Engine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10947797" y="5433371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Service</a:t>
            </a:r>
            <a:endParaRPr lang="en-US" sz="700" dirty="0"/>
          </a:p>
        </p:txBody>
      </p:sp>
      <p:sp>
        <p:nvSpPr>
          <p:cNvPr id="93" name="Shape 90"/>
          <p:cNvSpPr/>
          <p:nvPr/>
        </p:nvSpPr>
        <p:spPr>
          <a:xfrm>
            <a:off x="10706695" y="5642876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94" name="Shape 91"/>
          <p:cNvSpPr/>
          <p:nvPr/>
        </p:nvSpPr>
        <p:spPr>
          <a:xfrm>
            <a:off x="62508" y="6485701"/>
            <a:ext cx="1276945" cy="2015362"/>
          </a:xfrm>
          <a:prstGeom prst="roundRect">
            <a:avLst>
              <a:gd name="adj" fmla="val 2148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133945" y="6485701"/>
            <a:ext cx="1169789" cy="2015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Diagnosis &amp; Leader Coaching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skills</a:t>
            </a:r>
            <a:endParaRPr lang="en-US" sz="800" dirty="0"/>
          </a:p>
        </p:txBody>
      </p:sp>
      <p:sp>
        <p:nvSpPr>
          <p:cNvPr id="96" name="Shape 93"/>
          <p:cNvSpPr/>
          <p:nvPr/>
        </p:nvSpPr>
        <p:spPr>
          <a:xfrm>
            <a:off x="1464469" y="6485701"/>
            <a:ext cx="3214688" cy="2015362"/>
          </a:xfrm>
          <a:prstGeom prst="roundRect">
            <a:avLst>
              <a:gd name="adj" fmla="val 907"/>
            </a:avLst>
          </a:prstGeom>
          <a:solidFill>
            <a:srgbClr val="FDF4DE"/>
          </a:solidFill>
          <a:ln/>
        </p:spPr>
      </p:sp>
      <p:sp>
        <p:nvSpPr>
          <p:cNvPr id="97" name="Text 94"/>
          <p:cNvSpPr/>
          <p:nvPr/>
        </p:nvSpPr>
        <p:spPr>
          <a:xfrm>
            <a:off x="1535906" y="6574998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agent-performance-diagnosis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3107531" y="6574998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leader-coaching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1535906" y="7047584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coaching-session-preparation</a:t>
            </a:r>
            <a:endParaRPr lang="en-US" sz="700" dirty="0"/>
          </a:p>
        </p:txBody>
      </p:sp>
      <p:sp>
        <p:nvSpPr>
          <p:cNvPr id="100" name="Shape 97"/>
          <p:cNvSpPr/>
          <p:nvPr/>
        </p:nvSpPr>
        <p:spPr>
          <a:xfrm>
            <a:off x="4875609" y="6485701"/>
            <a:ext cx="3393281" cy="2015362"/>
          </a:xfrm>
          <a:prstGeom prst="roundRect">
            <a:avLst>
              <a:gd name="adj" fmla="val 907"/>
            </a:avLst>
          </a:prstGeom>
          <a:solidFill>
            <a:srgbClr val="E4F6EA"/>
          </a:solidFill>
          <a:ln/>
        </p:spPr>
      </p:sp>
      <p:sp>
        <p:nvSpPr>
          <p:cNvPr id="101" name="Text 98"/>
          <p:cNvSpPr/>
          <p:nvPr/>
        </p:nvSpPr>
        <p:spPr>
          <a:xfrm>
            <a:off x="4947047" y="6574998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get_agent_360</a:t>
            </a:r>
            <a:endParaRPr lang="en-US" sz="1050" dirty="0"/>
          </a:p>
        </p:txBody>
      </p:sp>
      <p:sp>
        <p:nvSpPr>
          <p:cNvPr id="102" name="Text 99"/>
          <p:cNvSpPr/>
          <p:nvPr/>
        </p:nvSpPr>
        <p:spPr>
          <a:xfrm>
            <a:off x="6607969" y="6574998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get_agent_performance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4947047" y="7047584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get_agent_goals</a:t>
            </a:r>
            <a:endParaRPr lang="en-US" sz="1050" dirty="0"/>
          </a:p>
        </p:txBody>
      </p:sp>
      <p:sp>
        <p:nvSpPr>
          <p:cNvPr id="104" name="Text 101"/>
          <p:cNvSpPr/>
          <p:nvPr/>
        </p:nvSpPr>
        <p:spPr>
          <a:xfrm>
            <a:off x="6607969" y="7047584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create_coaching_task</a:t>
            </a:r>
            <a:endParaRPr lang="en-US" sz="1050" dirty="0"/>
          </a:p>
        </p:txBody>
      </p:sp>
      <p:sp>
        <p:nvSpPr>
          <p:cNvPr id="105" name="Shape 102"/>
          <p:cNvSpPr/>
          <p:nvPr/>
        </p:nvSpPr>
        <p:spPr>
          <a:xfrm>
            <a:off x="4705945" y="7493382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06" name="Shape 103"/>
          <p:cNvSpPr/>
          <p:nvPr/>
        </p:nvSpPr>
        <p:spPr>
          <a:xfrm>
            <a:off x="8465344" y="6485701"/>
            <a:ext cx="2214563" cy="2015362"/>
          </a:xfrm>
          <a:prstGeom prst="roundRect">
            <a:avLst>
              <a:gd name="adj" fmla="val 907"/>
            </a:avLst>
          </a:prstGeom>
          <a:solidFill>
            <a:srgbClr val="E3EEFB"/>
          </a:solidFill>
          <a:ln/>
        </p:spPr>
      </p:sp>
      <p:sp>
        <p:nvSpPr>
          <p:cNvPr id="107" name="Text 104"/>
          <p:cNvSpPr/>
          <p:nvPr/>
        </p:nvSpPr>
        <p:spPr>
          <a:xfrm>
            <a:off x="8536781" y="6574998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Data &amp; Semantic Platform</a:t>
            </a:r>
            <a:endParaRPr lang="en-US" sz="1050" dirty="0"/>
          </a:p>
        </p:txBody>
      </p:sp>
      <p:sp>
        <p:nvSpPr>
          <p:cNvPr id="108" name="Text 105"/>
          <p:cNvSpPr/>
          <p:nvPr/>
        </p:nvSpPr>
        <p:spPr>
          <a:xfrm>
            <a:off x="8536781" y="7047584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360</a:t>
            </a:r>
            <a:endParaRPr lang="en-US" sz="1050" dirty="0"/>
          </a:p>
        </p:txBody>
      </p:sp>
      <p:sp>
        <p:nvSpPr>
          <p:cNvPr id="109" name="Text 106"/>
          <p:cNvSpPr/>
          <p:nvPr/>
        </p:nvSpPr>
        <p:spPr>
          <a:xfrm>
            <a:off x="8536781" y="7520171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&amp; Learning Platform</a:t>
            </a:r>
            <a:endParaRPr lang="en-US" sz="1050" dirty="0"/>
          </a:p>
        </p:txBody>
      </p:sp>
      <p:sp>
        <p:nvSpPr>
          <p:cNvPr id="110" name="Text 107"/>
          <p:cNvSpPr/>
          <p:nvPr/>
        </p:nvSpPr>
        <p:spPr>
          <a:xfrm>
            <a:off x="8536781" y="7992757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Plan</a:t>
            </a:r>
            <a:endParaRPr lang="en-US" sz="1050" dirty="0"/>
          </a:p>
        </p:txBody>
      </p:sp>
      <p:sp>
        <p:nvSpPr>
          <p:cNvPr id="111" name="Shape 108"/>
          <p:cNvSpPr/>
          <p:nvPr/>
        </p:nvSpPr>
        <p:spPr>
          <a:xfrm>
            <a:off x="8295680" y="7493382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12" name="Shape 109"/>
          <p:cNvSpPr/>
          <p:nvPr/>
        </p:nvSpPr>
        <p:spPr>
          <a:xfrm>
            <a:off x="10876359" y="6485701"/>
            <a:ext cx="2786063" cy="2015362"/>
          </a:xfrm>
          <a:prstGeom prst="roundRect">
            <a:avLst>
              <a:gd name="adj" fmla="val 907"/>
            </a:avLst>
          </a:prstGeom>
          <a:solidFill>
            <a:srgbClr val="F3F0FB"/>
          </a:solidFill>
          <a:ln/>
        </p:spPr>
      </p:sp>
      <p:sp>
        <p:nvSpPr>
          <p:cNvPr id="113" name="Text 110"/>
          <p:cNvSpPr/>
          <p:nvPr/>
        </p:nvSpPr>
        <p:spPr>
          <a:xfrm>
            <a:off x="10947797" y="6574998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System</a:t>
            </a:r>
            <a:endParaRPr lang="en-US" sz="700" dirty="0"/>
          </a:p>
        </p:txBody>
      </p:sp>
      <p:sp>
        <p:nvSpPr>
          <p:cNvPr id="114" name="Text 111"/>
          <p:cNvSpPr/>
          <p:nvPr/>
        </p:nvSpPr>
        <p:spPr>
          <a:xfrm>
            <a:off x="12305109" y="6574998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Sales Data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10947797" y="7047584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360</a:t>
            </a:r>
            <a:endParaRPr lang="en-US" sz="700" dirty="0"/>
          </a:p>
        </p:txBody>
      </p:sp>
      <p:sp>
        <p:nvSpPr>
          <p:cNvPr id="116" name="Text 113"/>
          <p:cNvSpPr/>
          <p:nvPr/>
        </p:nvSpPr>
        <p:spPr>
          <a:xfrm>
            <a:off x="12305109" y="7047584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Platform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10947797" y="7520171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Coaching Workspace</a:t>
            </a:r>
            <a:endParaRPr lang="en-US" sz="700" dirty="0"/>
          </a:p>
        </p:txBody>
      </p:sp>
      <p:sp>
        <p:nvSpPr>
          <p:cNvPr id="118" name="Shape 115"/>
          <p:cNvSpPr/>
          <p:nvPr/>
        </p:nvSpPr>
        <p:spPr>
          <a:xfrm>
            <a:off x="10706695" y="7493382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19" name="Shape 116"/>
          <p:cNvSpPr/>
          <p:nvPr/>
        </p:nvSpPr>
        <p:spPr>
          <a:xfrm>
            <a:off x="62508" y="8688586"/>
            <a:ext cx="13599914" cy="348258"/>
          </a:xfrm>
          <a:prstGeom prst="roundRect">
            <a:avLst>
              <a:gd name="adj" fmla="val 10503"/>
            </a:avLst>
          </a:prstGeom>
          <a:solidFill>
            <a:srgbClr val="F4F6FA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160734" y="8688586"/>
            <a:ext cx="55364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750094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22" name="Text 119"/>
          <p:cNvSpPr txBox="1"/>
          <p:nvPr/>
        </p:nvSpPr>
        <p:spPr>
          <a:xfrm>
            <a:off x="1035844" y="8688586"/>
            <a:ext cx="32593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750" dirty="0"/>
          </a:p>
        </p:txBody>
      </p:sp>
      <p:sp>
        <p:nvSpPr>
          <p:cNvPr id="123" name="Text 120"/>
          <p:cNvSpPr/>
          <p:nvPr/>
        </p:nvSpPr>
        <p:spPr>
          <a:xfrm>
            <a:off x="1415355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24" name="Text 121"/>
          <p:cNvSpPr txBox="1"/>
          <p:nvPr/>
        </p:nvSpPr>
        <p:spPr>
          <a:xfrm>
            <a:off x="1701105" y="8688586"/>
            <a:ext cx="75188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tool</a:t>
            </a:r>
            <a:endParaRPr lang="en-US" sz="750" dirty="0"/>
          </a:p>
        </p:txBody>
      </p:sp>
      <p:sp>
        <p:nvSpPr>
          <p:cNvPr id="125" name="Text 122"/>
          <p:cNvSpPr/>
          <p:nvPr/>
        </p:nvSpPr>
        <p:spPr>
          <a:xfrm>
            <a:off x="2506563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26" name="Text 123"/>
          <p:cNvSpPr txBox="1"/>
          <p:nvPr/>
        </p:nvSpPr>
        <p:spPr>
          <a:xfrm>
            <a:off x="2792313" y="8688586"/>
            <a:ext cx="988516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write tool</a:t>
            </a:r>
            <a:endParaRPr lang="en-US" sz="750" dirty="0"/>
          </a:p>
        </p:txBody>
      </p:sp>
      <p:sp>
        <p:nvSpPr>
          <p:cNvPr id="127" name="Text 124"/>
          <p:cNvSpPr/>
          <p:nvPr/>
        </p:nvSpPr>
        <p:spPr>
          <a:xfrm>
            <a:off x="3834408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DE0E0"/>
          </a:solidFill>
          <a:ln w="9525">
            <a:solidFill>
              <a:srgbClr val="E07A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28" name="Text 125"/>
          <p:cNvSpPr txBox="1"/>
          <p:nvPr/>
        </p:nvSpPr>
        <p:spPr>
          <a:xfrm>
            <a:off x="4120158" y="8688586"/>
            <a:ext cx="240833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/ regulated tool (human approval)</a:t>
            </a:r>
            <a:endParaRPr lang="en-US" sz="750" dirty="0"/>
          </a:p>
        </p:txBody>
      </p:sp>
      <p:sp>
        <p:nvSpPr>
          <p:cNvPr id="129" name="Text 126"/>
          <p:cNvSpPr/>
          <p:nvPr/>
        </p:nvSpPr>
        <p:spPr>
          <a:xfrm>
            <a:off x="6582073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30" name="Text 127"/>
          <p:cNvSpPr txBox="1"/>
          <p:nvPr/>
        </p:nvSpPr>
        <p:spPr>
          <a:xfrm>
            <a:off x="6867823" y="8688586"/>
            <a:ext cx="79920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7720608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32" name="Text 129"/>
          <p:cNvSpPr txBox="1"/>
          <p:nvPr/>
        </p:nvSpPr>
        <p:spPr>
          <a:xfrm>
            <a:off x="8006358" y="8688586"/>
            <a:ext cx="84653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capability</a:t>
            </a:r>
            <a:endParaRPr lang="en-US" sz="750" dirty="0"/>
          </a:p>
        </p:txBody>
      </p:sp>
      <p:sp>
        <p:nvSpPr>
          <p:cNvPr id="133" name="Text 130"/>
          <p:cNvSpPr/>
          <p:nvPr/>
        </p:nvSpPr>
        <p:spPr>
          <a:xfrm>
            <a:off x="8906470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34" name="Text 131"/>
          <p:cNvSpPr txBox="1"/>
          <p:nvPr/>
        </p:nvSpPr>
        <p:spPr>
          <a:xfrm>
            <a:off x="9192220" y="8688586"/>
            <a:ext cx="1130498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/ data</a:t>
            </a:r>
            <a:endParaRPr lang="en-US" sz="750" dirty="0"/>
          </a:p>
        </p:txBody>
      </p:sp>
      <p:sp>
        <p:nvSpPr>
          <p:cNvPr id="135" name="Text 132"/>
          <p:cNvSpPr/>
          <p:nvPr/>
        </p:nvSpPr>
        <p:spPr>
          <a:xfrm>
            <a:off x="10376297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36" name="Text 133"/>
          <p:cNvSpPr txBox="1"/>
          <p:nvPr/>
        </p:nvSpPr>
        <p:spPr>
          <a:xfrm>
            <a:off x="10662047" y="8688586"/>
            <a:ext cx="108317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enhanced module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508" y="26789"/>
            <a:ext cx="13599914" cy="357188"/>
          </a:xfrm>
          <a:prstGeom prst="roundRect">
            <a:avLst>
              <a:gd name="adj" fmla="val 7680"/>
            </a:avLst>
          </a:prstGeom>
          <a:solidFill>
            <a:srgbClr val="0B2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508" y="26789"/>
            <a:ext cx="1359991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  Recruitment Agent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Skills → MCP Tools → Shared Platforms → Data &amp; Enterprise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508" y="473273"/>
            <a:ext cx="13599914" cy="759023"/>
          </a:xfrm>
          <a:prstGeom prst="roundRect">
            <a:avLst>
              <a:gd name="adj" fmla="val 4819"/>
            </a:avLst>
          </a:prstGeom>
          <a:solidFill>
            <a:srgbClr val="FCE1E8"/>
          </a:solidFill>
          <a:ln w="9525">
            <a:solidFill>
              <a:srgbClr val="F2B3C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172" y="642938"/>
            <a:ext cx="410766" cy="4107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5813" y="535781"/>
            <a:ext cx="725090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Agent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85813" y="794742"/>
            <a:ext cx="725090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Application:  </a:t>
            </a:r>
            <a:pPr algn="l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&amp; Recruitment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85813" y="955477"/>
            <a:ext cx="823317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pipeline analysis, candidate understanding / assessment, interview preparation, recruitment coaching, follow-up and onboarding support.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9197578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F2B3C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97578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9197578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0072688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F2B3C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72688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0072688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0947797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F2B3C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47797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0947797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1822906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F2B3C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822906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1822906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2698016" y="562570"/>
            <a:ext cx="803672" cy="580430"/>
          </a:xfrm>
          <a:prstGeom prst="roundRect">
            <a:avLst>
              <a:gd name="adj" fmla="val 6302"/>
            </a:avLst>
          </a:prstGeom>
          <a:solidFill>
            <a:srgbClr val="FFFFFF"/>
          </a:solidFill>
          <a:ln w="9525">
            <a:solidFill>
              <a:srgbClr val="F2B3C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698016" y="589359"/>
            <a:ext cx="80367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2698016" y="910828"/>
            <a:ext cx="80367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enhanced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62508" y="1321594"/>
            <a:ext cx="1276945" cy="250031"/>
          </a:xfrm>
          <a:prstGeom prst="roundRect">
            <a:avLst>
              <a:gd name="adj" fmla="val 10971"/>
            </a:avLst>
          </a:prstGeom>
          <a:solidFill>
            <a:srgbClr val="FCE1E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2508" y="1321594"/>
            <a:ext cx="1276945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Group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464469" y="1321594"/>
            <a:ext cx="3214688" cy="250031"/>
          </a:xfrm>
          <a:prstGeom prst="roundRect">
            <a:avLst>
              <a:gd name="adj" fmla="val 10971"/>
            </a:avLst>
          </a:prstGeom>
          <a:solidFill>
            <a:srgbClr val="F6DE9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464469" y="1321594"/>
            <a:ext cx="3214688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Skills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bounded capability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875609" y="1321594"/>
            <a:ext cx="3393281" cy="250031"/>
          </a:xfrm>
          <a:prstGeom prst="roundRect">
            <a:avLst>
              <a:gd name="adj" fmla="val 10971"/>
            </a:avLst>
          </a:prstGeom>
          <a:solidFill>
            <a:srgbClr val="B9E6C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875609" y="1321594"/>
            <a:ext cx="3393281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MCP / AI Tools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governed execution &amp; data access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8465344" y="1321594"/>
            <a:ext cx="2214563" cy="250031"/>
          </a:xfrm>
          <a:prstGeom prst="roundRect">
            <a:avLst>
              <a:gd name="adj" fmla="val 10971"/>
            </a:avLst>
          </a:prstGeom>
          <a:solidFill>
            <a:srgbClr val="B8D6F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465344" y="1321594"/>
            <a:ext cx="22145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Shared Platform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API / capability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10876359" y="1321594"/>
            <a:ext cx="2786063" cy="250031"/>
          </a:xfrm>
          <a:prstGeom prst="roundRect">
            <a:avLst>
              <a:gd name="adj" fmla="val 10971"/>
            </a:avLst>
          </a:prstGeom>
          <a:solidFill>
            <a:srgbClr val="D3C8F5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876359" y="1321594"/>
            <a:ext cx="27860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Data &amp; Enterprise Systems</a:t>
            </a:r>
            <a:pPr algn="ctr" indent="0" marL="0">
              <a:buNone/>
            </a:pPr>
            <a:r>
              <a:rPr lang="en-US" sz="7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existing + new / enhanced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2508" y="1643063"/>
            <a:ext cx="1276945" cy="1625203"/>
          </a:xfrm>
          <a:prstGeom prst="roundRect">
            <a:avLst>
              <a:gd name="adj" fmla="val 2148"/>
            </a:avLst>
          </a:prstGeom>
          <a:solidFill>
            <a:srgbClr val="FCE1E8"/>
          </a:solidFill>
          <a:ln w="9525">
            <a:solidFill>
              <a:srgbClr val="F2B3C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33945" y="1643063"/>
            <a:ext cx="1169789" cy="162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Ranking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skills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1464469" y="1643063"/>
            <a:ext cx="3214688" cy="1625203"/>
          </a:xfrm>
          <a:prstGeom prst="roundRect">
            <a:avLst>
              <a:gd name="adj" fmla="val 1125"/>
            </a:avLst>
          </a:prstGeom>
          <a:solidFill>
            <a:srgbClr val="FDF4DE"/>
          </a:solidFill>
          <a:ln/>
        </p:spPr>
      </p:sp>
      <p:sp>
        <p:nvSpPr>
          <p:cNvPr id="37" name="Text 34"/>
          <p:cNvSpPr/>
          <p:nvPr/>
        </p:nvSpPr>
        <p:spPr>
          <a:xfrm>
            <a:off x="1535906" y="1732359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recruitment-pipeline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3107531" y="1732359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candidate-ranking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1535906" y="2232422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recruitment-recommendation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4875609" y="1643063"/>
            <a:ext cx="3393281" cy="1625203"/>
          </a:xfrm>
          <a:prstGeom prst="roundRect">
            <a:avLst>
              <a:gd name="adj" fmla="val 1125"/>
            </a:avLst>
          </a:prstGeom>
          <a:solidFill>
            <a:srgbClr val="E4F6EA"/>
          </a:solidFill>
          <a:ln/>
        </p:spPr>
      </p:sp>
      <p:sp>
        <p:nvSpPr>
          <p:cNvPr id="41" name="Text 38"/>
          <p:cNvSpPr/>
          <p:nvPr/>
        </p:nvSpPr>
        <p:spPr>
          <a:xfrm>
            <a:off x="4947047" y="1732359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get_recruitment_pipeline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607969" y="1732359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get_candidate_activity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947047" y="2232422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get_candidate_assessment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705945" y="2455664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8465344" y="1643063"/>
            <a:ext cx="2214563" cy="1625203"/>
          </a:xfrm>
          <a:prstGeom prst="roundRect">
            <a:avLst>
              <a:gd name="adj" fmla="val 1125"/>
            </a:avLst>
          </a:prstGeom>
          <a:solidFill>
            <a:srgbClr val="E3EEFB"/>
          </a:solidFill>
          <a:ln/>
        </p:spPr>
      </p:sp>
      <p:sp>
        <p:nvSpPr>
          <p:cNvPr id="46" name="Text 43"/>
          <p:cNvSpPr/>
          <p:nvPr/>
        </p:nvSpPr>
        <p:spPr>
          <a:xfrm>
            <a:off x="8536781" y="1732359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&amp; NBA Platform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8536781" y="2232422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Assessment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8536781" y="2732484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Data &amp; Semantic Platform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295680" y="2455664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10876359" y="1643063"/>
            <a:ext cx="2786063" cy="1625203"/>
          </a:xfrm>
          <a:prstGeom prst="roundRect">
            <a:avLst>
              <a:gd name="adj" fmla="val 1125"/>
            </a:avLst>
          </a:prstGeom>
          <a:solidFill>
            <a:srgbClr val="F3F0FB"/>
          </a:solidFill>
          <a:ln/>
        </p:spPr>
      </p:sp>
      <p:sp>
        <p:nvSpPr>
          <p:cNvPr id="51" name="Text 48"/>
          <p:cNvSpPr/>
          <p:nvPr/>
        </p:nvSpPr>
        <p:spPr>
          <a:xfrm>
            <a:off x="10947797" y="1732359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System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12305109" y="1732359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CRM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10947797" y="2232422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Database</a:t>
            </a:r>
            <a:endParaRPr lang="en-US" sz="650" dirty="0"/>
          </a:p>
        </p:txBody>
      </p:sp>
      <p:sp>
        <p:nvSpPr>
          <p:cNvPr id="54" name="Text 51"/>
          <p:cNvSpPr/>
          <p:nvPr/>
        </p:nvSpPr>
        <p:spPr>
          <a:xfrm>
            <a:off x="12305109" y="2232422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Decisioning</a:t>
            </a:r>
            <a:endParaRPr lang="en-US" sz="650" dirty="0"/>
          </a:p>
        </p:txBody>
      </p:sp>
      <p:sp>
        <p:nvSpPr>
          <p:cNvPr id="55" name="Shape 52"/>
          <p:cNvSpPr/>
          <p:nvPr/>
        </p:nvSpPr>
        <p:spPr>
          <a:xfrm>
            <a:off x="10706695" y="2455664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62508" y="3339703"/>
            <a:ext cx="1276945" cy="1625203"/>
          </a:xfrm>
          <a:prstGeom prst="roundRect">
            <a:avLst>
              <a:gd name="adj" fmla="val 2148"/>
            </a:avLst>
          </a:prstGeom>
          <a:solidFill>
            <a:srgbClr val="FCE1E8"/>
          </a:solidFill>
          <a:ln w="9525">
            <a:solidFill>
              <a:srgbClr val="F2B3C3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33945" y="3339703"/>
            <a:ext cx="1169789" cy="162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Understanding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skills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1464469" y="3339703"/>
            <a:ext cx="3214688" cy="1625203"/>
          </a:xfrm>
          <a:prstGeom prst="roundRect">
            <a:avLst>
              <a:gd name="adj" fmla="val 1125"/>
            </a:avLst>
          </a:prstGeom>
          <a:solidFill>
            <a:srgbClr val="FDF4DE"/>
          </a:solidFill>
          <a:ln/>
        </p:spPr>
      </p:sp>
      <p:sp>
        <p:nvSpPr>
          <p:cNvPr id="59" name="Text 56"/>
          <p:cNvSpPr/>
          <p:nvPr/>
        </p:nvSpPr>
        <p:spPr>
          <a:xfrm>
            <a:off x="1535906" y="3429000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candidate-summary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3107531" y="3429000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candidate-assessment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4875609" y="3339703"/>
            <a:ext cx="3393281" cy="1625203"/>
          </a:xfrm>
          <a:prstGeom prst="roundRect">
            <a:avLst>
              <a:gd name="adj" fmla="val 1125"/>
            </a:avLst>
          </a:prstGeom>
          <a:solidFill>
            <a:srgbClr val="E4F6EA"/>
          </a:solidFill>
          <a:ln/>
        </p:spPr>
      </p:sp>
      <p:sp>
        <p:nvSpPr>
          <p:cNvPr id="62" name="Text 59"/>
          <p:cNvSpPr/>
          <p:nvPr/>
        </p:nvSpPr>
        <p:spPr>
          <a:xfrm>
            <a:off x="4947047" y="3429000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get_candidate_360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6607969" y="3429000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get_candidate_profile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4947047" y="3929063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get_candidate_assessment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4705945" y="415230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66" name="Shape 63"/>
          <p:cNvSpPr/>
          <p:nvPr/>
        </p:nvSpPr>
        <p:spPr>
          <a:xfrm>
            <a:off x="8465344" y="3339703"/>
            <a:ext cx="2214563" cy="1625203"/>
          </a:xfrm>
          <a:prstGeom prst="roundRect">
            <a:avLst>
              <a:gd name="adj" fmla="val 1125"/>
            </a:avLst>
          </a:prstGeom>
          <a:solidFill>
            <a:srgbClr val="E3EEFB"/>
          </a:solidFill>
          <a:ln/>
        </p:spPr>
      </p:sp>
      <p:sp>
        <p:nvSpPr>
          <p:cNvPr id="67" name="Text 64"/>
          <p:cNvSpPr/>
          <p:nvPr/>
        </p:nvSpPr>
        <p:spPr>
          <a:xfrm>
            <a:off x="8536781" y="3429000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Data &amp; Semantic Platform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8536781" y="3929063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360</a:t>
            </a:r>
            <a:endParaRPr lang="en-US" sz="1050" dirty="0"/>
          </a:p>
        </p:txBody>
      </p:sp>
      <p:sp>
        <p:nvSpPr>
          <p:cNvPr id="69" name="Text 66"/>
          <p:cNvSpPr/>
          <p:nvPr/>
        </p:nvSpPr>
        <p:spPr>
          <a:xfrm>
            <a:off x="8536781" y="4429125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&amp; NBA Platform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8295680" y="415230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71" name="Shape 68"/>
          <p:cNvSpPr/>
          <p:nvPr/>
        </p:nvSpPr>
        <p:spPr>
          <a:xfrm>
            <a:off x="10876359" y="3339703"/>
            <a:ext cx="2786063" cy="1625203"/>
          </a:xfrm>
          <a:prstGeom prst="roundRect">
            <a:avLst>
              <a:gd name="adj" fmla="val 1125"/>
            </a:avLst>
          </a:prstGeom>
          <a:solidFill>
            <a:srgbClr val="F3F0FB"/>
          </a:solidFill>
          <a:ln/>
        </p:spPr>
      </p:sp>
      <p:sp>
        <p:nvSpPr>
          <p:cNvPr id="72" name="Text 69"/>
          <p:cNvSpPr/>
          <p:nvPr/>
        </p:nvSpPr>
        <p:spPr>
          <a:xfrm>
            <a:off x="10947797" y="3429000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Database</a:t>
            </a:r>
            <a:endParaRPr lang="en-US" sz="650" dirty="0"/>
          </a:p>
        </p:txBody>
      </p:sp>
      <p:sp>
        <p:nvSpPr>
          <p:cNvPr id="73" name="Text 70"/>
          <p:cNvSpPr/>
          <p:nvPr/>
        </p:nvSpPr>
        <p:spPr>
          <a:xfrm>
            <a:off x="12305109" y="3429000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Platform</a:t>
            </a:r>
            <a:endParaRPr lang="en-US" sz="650" dirty="0"/>
          </a:p>
        </p:txBody>
      </p:sp>
      <p:sp>
        <p:nvSpPr>
          <p:cNvPr id="74" name="Text 71"/>
          <p:cNvSpPr/>
          <p:nvPr/>
        </p:nvSpPr>
        <p:spPr>
          <a:xfrm>
            <a:off x="10947797" y="3929063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System</a:t>
            </a:r>
            <a:endParaRPr lang="en-US" sz="650" dirty="0"/>
          </a:p>
        </p:txBody>
      </p:sp>
      <p:sp>
        <p:nvSpPr>
          <p:cNvPr id="75" name="Text 72"/>
          <p:cNvSpPr/>
          <p:nvPr/>
        </p:nvSpPr>
        <p:spPr>
          <a:xfrm>
            <a:off x="12305109" y="3929063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360</a:t>
            </a:r>
            <a:endParaRPr lang="en-US" sz="650" dirty="0"/>
          </a:p>
        </p:txBody>
      </p:sp>
      <p:sp>
        <p:nvSpPr>
          <p:cNvPr id="76" name="Text 73"/>
          <p:cNvSpPr/>
          <p:nvPr/>
        </p:nvSpPr>
        <p:spPr>
          <a:xfrm>
            <a:off x="10947797" y="4429125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Semantic Layer</a:t>
            </a:r>
            <a:endParaRPr lang="en-US" sz="650" dirty="0"/>
          </a:p>
        </p:txBody>
      </p:sp>
      <p:sp>
        <p:nvSpPr>
          <p:cNvPr id="77" name="Shape 74"/>
          <p:cNvSpPr/>
          <p:nvPr/>
        </p:nvSpPr>
        <p:spPr>
          <a:xfrm>
            <a:off x="10706695" y="415230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78" name="Shape 75"/>
          <p:cNvSpPr/>
          <p:nvPr/>
        </p:nvSpPr>
        <p:spPr>
          <a:xfrm>
            <a:off x="62508" y="5036344"/>
            <a:ext cx="1276945" cy="1625203"/>
          </a:xfrm>
          <a:prstGeom prst="roundRect">
            <a:avLst>
              <a:gd name="adj" fmla="val 2148"/>
            </a:avLst>
          </a:prstGeom>
          <a:solidFill>
            <a:srgbClr val="FCE1E8"/>
          </a:solidFill>
          <a:ln w="9525">
            <a:solidFill>
              <a:srgbClr val="F2B3C3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33945" y="5036344"/>
            <a:ext cx="1169789" cy="162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skills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1464469" y="5036344"/>
            <a:ext cx="3214688" cy="1625203"/>
          </a:xfrm>
          <a:prstGeom prst="roundRect">
            <a:avLst>
              <a:gd name="adj" fmla="val 1125"/>
            </a:avLst>
          </a:prstGeom>
          <a:solidFill>
            <a:srgbClr val="FDF4DE"/>
          </a:solidFill>
          <a:ln/>
        </p:spPr>
      </p:sp>
      <p:sp>
        <p:nvSpPr>
          <p:cNvPr id="81" name="Text 78"/>
          <p:cNvSpPr/>
          <p:nvPr/>
        </p:nvSpPr>
        <p:spPr>
          <a:xfrm>
            <a:off x="1535906" y="5125641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candidate-interview-preparation</a:t>
            </a:r>
            <a:endParaRPr lang="en-US" sz="750" dirty="0"/>
          </a:p>
        </p:txBody>
      </p:sp>
      <p:sp>
        <p:nvSpPr>
          <p:cNvPr id="82" name="Text 79"/>
          <p:cNvSpPr/>
          <p:nvPr/>
        </p:nvSpPr>
        <p:spPr>
          <a:xfrm>
            <a:off x="3107531" y="5125641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candidate-interview-simulation</a:t>
            </a:r>
            <a:endParaRPr lang="en-US" sz="750" dirty="0"/>
          </a:p>
        </p:txBody>
      </p:sp>
      <p:sp>
        <p:nvSpPr>
          <p:cNvPr id="83" name="Shape 80"/>
          <p:cNvSpPr/>
          <p:nvPr/>
        </p:nvSpPr>
        <p:spPr>
          <a:xfrm>
            <a:off x="4875609" y="5036344"/>
            <a:ext cx="3393281" cy="1625203"/>
          </a:xfrm>
          <a:prstGeom prst="roundRect">
            <a:avLst>
              <a:gd name="adj" fmla="val 1125"/>
            </a:avLst>
          </a:prstGeom>
          <a:solidFill>
            <a:srgbClr val="E4F6EA"/>
          </a:solidFill>
          <a:ln/>
        </p:spPr>
      </p:sp>
      <p:sp>
        <p:nvSpPr>
          <p:cNvPr id="84" name="Text 81"/>
          <p:cNvSpPr/>
          <p:nvPr/>
        </p:nvSpPr>
        <p:spPr>
          <a:xfrm>
            <a:off x="4947047" y="5125641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get_candidate_profile</a:t>
            </a:r>
            <a:endParaRPr lang="en-US" sz="950" dirty="0"/>
          </a:p>
        </p:txBody>
      </p:sp>
      <p:sp>
        <p:nvSpPr>
          <p:cNvPr id="85" name="Text 82"/>
          <p:cNvSpPr/>
          <p:nvPr/>
        </p:nvSpPr>
        <p:spPr>
          <a:xfrm>
            <a:off x="6607969" y="5125641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get_candidate_assessment</a:t>
            </a:r>
            <a:endParaRPr lang="en-US" sz="950" dirty="0"/>
          </a:p>
        </p:txBody>
      </p:sp>
      <p:sp>
        <p:nvSpPr>
          <p:cNvPr id="86" name="Text 83"/>
          <p:cNvSpPr/>
          <p:nvPr/>
        </p:nvSpPr>
        <p:spPr>
          <a:xfrm>
            <a:off x="4947047" y="5625703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schedule_candidate_interview</a:t>
            </a:r>
            <a:endParaRPr lang="en-US" sz="950" dirty="0"/>
          </a:p>
        </p:txBody>
      </p:sp>
      <p:sp>
        <p:nvSpPr>
          <p:cNvPr id="87" name="Text 84"/>
          <p:cNvSpPr/>
          <p:nvPr/>
        </p:nvSpPr>
        <p:spPr>
          <a:xfrm>
            <a:off x="6607969" y="5625703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search_knowledge</a:t>
            </a:r>
            <a:endParaRPr lang="en-US" sz="950" dirty="0"/>
          </a:p>
        </p:txBody>
      </p:sp>
      <p:sp>
        <p:nvSpPr>
          <p:cNvPr id="88" name="Shape 85"/>
          <p:cNvSpPr/>
          <p:nvPr/>
        </p:nvSpPr>
        <p:spPr>
          <a:xfrm>
            <a:off x="4705945" y="584894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89" name="Shape 86"/>
          <p:cNvSpPr/>
          <p:nvPr/>
        </p:nvSpPr>
        <p:spPr>
          <a:xfrm>
            <a:off x="8465344" y="5036344"/>
            <a:ext cx="2214563" cy="1625203"/>
          </a:xfrm>
          <a:prstGeom prst="roundRect">
            <a:avLst>
              <a:gd name="adj" fmla="val 1125"/>
            </a:avLst>
          </a:prstGeom>
          <a:solidFill>
            <a:srgbClr val="E3EEFB"/>
          </a:solidFill>
          <a:ln/>
        </p:spPr>
      </p:sp>
      <p:sp>
        <p:nvSpPr>
          <p:cNvPr id="90" name="Text 87"/>
          <p:cNvSpPr/>
          <p:nvPr/>
        </p:nvSpPr>
        <p:spPr>
          <a:xfrm>
            <a:off x="8536781" y="5125641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GenAI Platform</a:t>
            </a:r>
            <a:endParaRPr lang="en-US" sz="1050" dirty="0"/>
          </a:p>
        </p:txBody>
      </p:sp>
      <p:sp>
        <p:nvSpPr>
          <p:cNvPr id="91" name="Text 88"/>
          <p:cNvSpPr/>
          <p:nvPr/>
        </p:nvSpPr>
        <p:spPr>
          <a:xfrm>
            <a:off x="8536781" y="5625703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Data &amp; Semantic Platform</a:t>
            </a:r>
            <a:endParaRPr lang="en-US" sz="1050" dirty="0"/>
          </a:p>
        </p:txBody>
      </p:sp>
      <p:sp>
        <p:nvSpPr>
          <p:cNvPr id="92" name="Text 89"/>
          <p:cNvSpPr/>
          <p:nvPr/>
        </p:nvSpPr>
        <p:spPr>
          <a:xfrm>
            <a:off x="8536781" y="6125766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360</a:t>
            </a:r>
            <a:endParaRPr lang="en-US" sz="1050" dirty="0"/>
          </a:p>
        </p:txBody>
      </p:sp>
      <p:sp>
        <p:nvSpPr>
          <p:cNvPr id="93" name="Shape 90"/>
          <p:cNvSpPr/>
          <p:nvPr/>
        </p:nvSpPr>
        <p:spPr>
          <a:xfrm>
            <a:off x="8295680" y="584894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94" name="Shape 91"/>
          <p:cNvSpPr/>
          <p:nvPr/>
        </p:nvSpPr>
        <p:spPr>
          <a:xfrm>
            <a:off x="10876359" y="5036344"/>
            <a:ext cx="2786063" cy="1625203"/>
          </a:xfrm>
          <a:prstGeom prst="roundRect">
            <a:avLst>
              <a:gd name="adj" fmla="val 1125"/>
            </a:avLst>
          </a:prstGeom>
          <a:solidFill>
            <a:srgbClr val="F3F0FB"/>
          </a:solidFill>
          <a:ln/>
        </p:spPr>
      </p:sp>
      <p:sp>
        <p:nvSpPr>
          <p:cNvPr id="95" name="Text 92"/>
          <p:cNvSpPr/>
          <p:nvPr/>
        </p:nvSpPr>
        <p:spPr>
          <a:xfrm>
            <a:off x="10947797" y="5125641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(M365)</a:t>
            </a:r>
            <a:endParaRPr lang="en-US" sz="650" dirty="0"/>
          </a:p>
        </p:txBody>
      </p:sp>
      <p:sp>
        <p:nvSpPr>
          <p:cNvPr id="96" name="Text 93"/>
          <p:cNvSpPr/>
          <p:nvPr/>
        </p:nvSpPr>
        <p:spPr>
          <a:xfrm>
            <a:off x="12305109" y="5125641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Platform</a:t>
            </a:r>
            <a:endParaRPr lang="en-US" sz="650" dirty="0"/>
          </a:p>
        </p:txBody>
      </p:sp>
      <p:sp>
        <p:nvSpPr>
          <p:cNvPr id="97" name="Text 94"/>
          <p:cNvSpPr/>
          <p:nvPr/>
        </p:nvSpPr>
        <p:spPr>
          <a:xfrm>
            <a:off x="10947797" y="5625703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Router</a:t>
            </a:r>
            <a:endParaRPr lang="en-US" sz="650" dirty="0"/>
          </a:p>
        </p:txBody>
      </p:sp>
      <p:sp>
        <p:nvSpPr>
          <p:cNvPr id="98" name="Shape 95"/>
          <p:cNvSpPr/>
          <p:nvPr/>
        </p:nvSpPr>
        <p:spPr>
          <a:xfrm>
            <a:off x="10706695" y="5848945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99" name="Shape 96"/>
          <p:cNvSpPr/>
          <p:nvPr/>
        </p:nvSpPr>
        <p:spPr>
          <a:xfrm>
            <a:off x="62508" y="6732984"/>
            <a:ext cx="1276945" cy="1625203"/>
          </a:xfrm>
          <a:prstGeom prst="roundRect">
            <a:avLst>
              <a:gd name="adj" fmla="val 2148"/>
            </a:avLst>
          </a:prstGeom>
          <a:solidFill>
            <a:srgbClr val="FCE1E8"/>
          </a:solidFill>
          <a:ln w="9525">
            <a:solidFill>
              <a:srgbClr val="F2B3C3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133945" y="6732984"/>
            <a:ext cx="1169789" cy="162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&amp; Onboarding</a:t>
            </a:r>
            <a:endParaRPr lang="en-US" sz="8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skills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1464469" y="6732984"/>
            <a:ext cx="3214688" cy="1625203"/>
          </a:xfrm>
          <a:prstGeom prst="roundRect">
            <a:avLst>
              <a:gd name="adj" fmla="val 1125"/>
            </a:avLst>
          </a:prstGeom>
          <a:solidFill>
            <a:srgbClr val="FDF4DE"/>
          </a:solidFill>
          <a:ln/>
        </p:spPr>
      </p:sp>
      <p:sp>
        <p:nvSpPr>
          <p:cNvPr id="102" name="Text 99"/>
          <p:cNvSpPr/>
          <p:nvPr/>
        </p:nvSpPr>
        <p:spPr>
          <a:xfrm>
            <a:off x="1535906" y="6822281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recruitment-followup</a:t>
            </a:r>
            <a:endParaRPr lang="en-US" sz="750" dirty="0"/>
          </a:p>
        </p:txBody>
      </p:sp>
      <p:sp>
        <p:nvSpPr>
          <p:cNvPr id="103" name="Text 100"/>
          <p:cNvSpPr/>
          <p:nvPr/>
        </p:nvSpPr>
        <p:spPr>
          <a:xfrm>
            <a:off x="3107531" y="6822281"/>
            <a:ext cx="15001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candidate-onboarding-support</a:t>
            </a:r>
            <a:endParaRPr lang="en-US" sz="750" dirty="0"/>
          </a:p>
        </p:txBody>
      </p:sp>
      <p:sp>
        <p:nvSpPr>
          <p:cNvPr id="104" name="Shape 101"/>
          <p:cNvSpPr/>
          <p:nvPr/>
        </p:nvSpPr>
        <p:spPr>
          <a:xfrm>
            <a:off x="4875609" y="6732984"/>
            <a:ext cx="3393281" cy="1625203"/>
          </a:xfrm>
          <a:prstGeom prst="roundRect">
            <a:avLst>
              <a:gd name="adj" fmla="val 1125"/>
            </a:avLst>
          </a:prstGeom>
          <a:solidFill>
            <a:srgbClr val="E4F6EA"/>
          </a:solidFill>
          <a:ln/>
        </p:spPr>
      </p:sp>
      <p:sp>
        <p:nvSpPr>
          <p:cNvPr id="105" name="Text 102"/>
          <p:cNvSpPr/>
          <p:nvPr/>
        </p:nvSpPr>
        <p:spPr>
          <a:xfrm>
            <a:off x="4947047" y="6822281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create_recruitment_followup</a:t>
            </a:r>
            <a:endParaRPr lang="en-US" sz="950" dirty="0"/>
          </a:p>
        </p:txBody>
      </p:sp>
      <p:sp>
        <p:nvSpPr>
          <p:cNvPr id="106" name="Text 103"/>
          <p:cNvSpPr/>
          <p:nvPr/>
        </p:nvSpPr>
        <p:spPr>
          <a:xfrm>
            <a:off x="6607969" y="6822281"/>
            <a:ext cx="1589484" cy="321469"/>
          </a:xfrm>
          <a:prstGeom prst="roundRect">
            <a:avLst>
              <a:gd name="adj" fmla="val 8533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create_onboarding_task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4705945" y="7545586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08" name="Shape 105"/>
          <p:cNvSpPr/>
          <p:nvPr/>
        </p:nvSpPr>
        <p:spPr>
          <a:xfrm>
            <a:off x="8465344" y="6732984"/>
            <a:ext cx="2214563" cy="1625203"/>
          </a:xfrm>
          <a:prstGeom prst="roundRect">
            <a:avLst>
              <a:gd name="adj" fmla="val 1125"/>
            </a:avLst>
          </a:prstGeom>
          <a:solidFill>
            <a:srgbClr val="E3EEFB"/>
          </a:solidFill>
          <a:ln/>
        </p:spPr>
      </p:sp>
      <p:sp>
        <p:nvSpPr>
          <p:cNvPr id="109" name="Text 106"/>
          <p:cNvSpPr/>
          <p:nvPr/>
        </p:nvSpPr>
        <p:spPr>
          <a:xfrm>
            <a:off x="8536781" y="6822281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&amp; Work Platform</a:t>
            </a:r>
            <a:endParaRPr lang="en-US" sz="1050" dirty="0"/>
          </a:p>
        </p:txBody>
      </p:sp>
      <p:sp>
        <p:nvSpPr>
          <p:cNvPr id="110" name="Text 107"/>
          <p:cNvSpPr/>
          <p:nvPr/>
        </p:nvSpPr>
        <p:spPr>
          <a:xfrm>
            <a:off x="8536781" y="7322344"/>
            <a:ext cx="2071688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</a:t>
            </a:r>
            <a:endParaRPr lang="en-US" sz="1050" dirty="0"/>
          </a:p>
        </p:txBody>
      </p:sp>
      <p:sp>
        <p:nvSpPr>
          <p:cNvPr id="111" name="Shape 108"/>
          <p:cNvSpPr/>
          <p:nvPr/>
        </p:nvSpPr>
        <p:spPr>
          <a:xfrm>
            <a:off x="8295680" y="7545586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12" name="Shape 109"/>
          <p:cNvSpPr/>
          <p:nvPr/>
        </p:nvSpPr>
        <p:spPr>
          <a:xfrm>
            <a:off x="10876359" y="6732984"/>
            <a:ext cx="2786063" cy="1625203"/>
          </a:xfrm>
          <a:prstGeom prst="roundRect">
            <a:avLst>
              <a:gd name="adj" fmla="val 1125"/>
            </a:avLst>
          </a:prstGeom>
          <a:solidFill>
            <a:srgbClr val="F3F0FB"/>
          </a:solidFill>
          <a:ln/>
        </p:spPr>
      </p:sp>
      <p:sp>
        <p:nvSpPr>
          <p:cNvPr id="113" name="Text 110"/>
          <p:cNvSpPr/>
          <p:nvPr/>
        </p:nvSpPr>
        <p:spPr>
          <a:xfrm>
            <a:off x="10947797" y="6822281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Onboarding</a:t>
            </a:r>
            <a:endParaRPr lang="en-US" sz="650" dirty="0"/>
          </a:p>
        </p:txBody>
      </p:sp>
      <p:sp>
        <p:nvSpPr>
          <p:cNvPr id="114" name="Text 111"/>
          <p:cNvSpPr/>
          <p:nvPr/>
        </p:nvSpPr>
        <p:spPr>
          <a:xfrm>
            <a:off x="12305109" y="6822281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CRM</a:t>
            </a:r>
            <a:endParaRPr lang="en-US" sz="650" dirty="0"/>
          </a:p>
        </p:txBody>
      </p:sp>
      <p:sp>
        <p:nvSpPr>
          <p:cNvPr id="115" name="Text 112"/>
          <p:cNvSpPr/>
          <p:nvPr/>
        </p:nvSpPr>
        <p:spPr>
          <a:xfrm>
            <a:off x="10947797" y="7322344"/>
            <a:ext cx="1285875" cy="321469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Service</a:t>
            </a:r>
            <a:endParaRPr lang="en-US" sz="650" dirty="0"/>
          </a:p>
        </p:txBody>
      </p:sp>
      <p:sp>
        <p:nvSpPr>
          <p:cNvPr id="116" name="Shape 113"/>
          <p:cNvSpPr/>
          <p:nvPr/>
        </p:nvSpPr>
        <p:spPr>
          <a:xfrm>
            <a:off x="10706695" y="7545586"/>
            <a:ext cx="142875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17" name="Shape 114"/>
          <p:cNvSpPr/>
          <p:nvPr/>
        </p:nvSpPr>
        <p:spPr>
          <a:xfrm>
            <a:off x="62508" y="8688586"/>
            <a:ext cx="13599914" cy="348258"/>
          </a:xfrm>
          <a:prstGeom prst="roundRect">
            <a:avLst>
              <a:gd name="adj" fmla="val 10503"/>
            </a:avLst>
          </a:prstGeom>
          <a:solidFill>
            <a:srgbClr val="F4F6FA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160734" y="8688586"/>
            <a:ext cx="55364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900" dirty="0"/>
          </a:p>
        </p:txBody>
      </p:sp>
      <p:sp>
        <p:nvSpPr>
          <p:cNvPr id="119" name="Text 116"/>
          <p:cNvSpPr/>
          <p:nvPr/>
        </p:nvSpPr>
        <p:spPr>
          <a:xfrm>
            <a:off x="750094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20" name="Text 117"/>
          <p:cNvSpPr txBox="1"/>
          <p:nvPr/>
        </p:nvSpPr>
        <p:spPr>
          <a:xfrm>
            <a:off x="1035844" y="8688586"/>
            <a:ext cx="32593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750" dirty="0"/>
          </a:p>
        </p:txBody>
      </p:sp>
      <p:sp>
        <p:nvSpPr>
          <p:cNvPr id="121" name="Text 118"/>
          <p:cNvSpPr/>
          <p:nvPr/>
        </p:nvSpPr>
        <p:spPr>
          <a:xfrm>
            <a:off x="1415355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22" name="Text 119"/>
          <p:cNvSpPr txBox="1"/>
          <p:nvPr/>
        </p:nvSpPr>
        <p:spPr>
          <a:xfrm>
            <a:off x="1701105" y="8688586"/>
            <a:ext cx="75188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tool</a:t>
            </a:r>
            <a:endParaRPr lang="en-US" sz="750" dirty="0"/>
          </a:p>
        </p:txBody>
      </p:sp>
      <p:sp>
        <p:nvSpPr>
          <p:cNvPr id="123" name="Text 120"/>
          <p:cNvSpPr/>
          <p:nvPr/>
        </p:nvSpPr>
        <p:spPr>
          <a:xfrm>
            <a:off x="2506563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1CC"/>
          </a:solidFill>
          <a:ln w="9525">
            <a:solidFill>
              <a:srgbClr val="E0A93B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24" name="Text 121"/>
          <p:cNvSpPr txBox="1"/>
          <p:nvPr/>
        </p:nvSpPr>
        <p:spPr>
          <a:xfrm>
            <a:off x="2792313" y="8688586"/>
            <a:ext cx="988516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write tool</a:t>
            </a:r>
            <a:endParaRPr lang="en-US" sz="750" dirty="0"/>
          </a:p>
        </p:txBody>
      </p:sp>
      <p:sp>
        <p:nvSpPr>
          <p:cNvPr id="125" name="Text 122"/>
          <p:cNvSpPr/>
          <p:nvPr/>
        </p:nvSpPr>
        <p:spPr>
          <a:xfrm>
            <a:off x="3834408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DE0E0"/>
          </a:solidFill>
          <a:ln w="9525">
            <a:solidFill>
              <a:srgbClr val="E07A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26" name="Text 123"/>
          <p:cNvSpPr txBox="1"/>
          <p:nvPr/>
        </p:nvSpPr>
        <p:spPr>
          <a:xfrm>
            <a:off x="4120158" y="8688586"/>
            <a:ext cx="240833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/ regulated tool (human approval)</a:t>
            </a:r>
            <a:endParaRPr lang="en-US" sz="750" dirty="0"/>
          </a:p>
        </p:txBody>
      </p:sp>
      <p:sp>
        <p:nvSpPr>
          <p:cNvPr id="127" name="Text 124"/>
          <p:cNvSpPr/>
          <p:nvPr/>
        </p:nvSpPr>
        <p:spPr>
          <a:xfrm>
            <a:off x="6582073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1F5FBF"/>
          </a:solidFill>
          <a:ln/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28" name="Text 125"/>
          <p:cNvSpPr txBox="1"/>
          <p:nvPr/>
        </p:nvSpPr>
        <p:spPr>
          <a:xfrm>
            <a:off x="6867823" y="8688586"/>
            <a:ext cx="799207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</a:t>
            </a:r>
            <a:endParaRPr lang="en-US" sz="750" dirty="0"/>
          </a:p>
        </p:txBody>
      </p:sp>
      <p:sp>
        <p:nvSpPr>
          <p:cNvPr id="129" name="Text 126"/>
          <p:cNvSpPr/>
          <p:nvPr/>
        </p:nvSpPr>
        <p:spPr>
          <a:xfrm>
            <a:off x="7720608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30" name="Text 127"/>
          <p:cNvSpPr txBox="1"/>
          <p:nvPr/>
        </p:nvSpPr>
        <p:spPr>
          <a:xfrm>
            <a:off x="8006358" y="8688586"/>
            <a:ext cx="84653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capability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8906470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32" name="Text 129"/>
          <p:cNvSpPr txBox="1"/>
          <p:nvPr/>
        </p:nvSpPr>
        <p:spPr>
          <a:xfrm>
            <a:off x="9192220" y="8688586"/>
            <a:ext cx="1130498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/ data</a:t>
            </a:r>
            <a:endParaRPr lang="en-US" sz="750" dirty="0"/>
          </a:p>
        </p:txBody>
      </p:sp>
      <p:sp>
        <p:nvSpPr>
          <p:cNvPr id="133" name="Text 130"/>
          <p:cNvSpPr/>
          <p:nvPr/>
        </p:nvSpPr>
        <p:spPr>
          <a:xfrm>
            <a:off x="10376297" y="8786813"/>
            <a:ext cx="232172" cy="1428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600" dirty="0"/>
          </a:p>
        </p:txBody>
      </p:sp>
      <p:sp>
        <p:nvSpPr>
          <p:cNvPr id="134" name="Text 131"/>
          <p:cNvSpPr txBox="1"/>
          <p:nvPr/>
        </p:nvSpPr>
        <p:spPr>
          <a:xfrm>
            <a:off x="10662047" y="8688586"/>
            <a:ext cx="108317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enhanced module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508" y="26789"/>
            <a:ext cx="13599914" cy="357188"/>
          </a:xfrm>
          <a:prstGeom prst="roundRect">
            <a:avLst>
              <a:gd name="adj" fmla="val 7680"/>
            </a:avLst>
          </a:prstGeom>
          <a:solidFill>
            <a:srgbClr val="0B2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508" y="26789"/>
            <a:ext cx="1359991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How to Build One Slice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Agent and Skill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508" y="473273"/>
            <a:ext cx="13599914" cy="508992"/>
          </a:xfrm>
          <a:prstGeom prst="roundRect">
            <a:avLst>
              <a:gd name="adj" fmla="val 7186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8594" y="473273"/>
            <a:ext cx="1339453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vertical slice: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562695" y="598289"/>
            <a:ext cx="1696641" cy="267891"/>
          </a:xfrm>
          <a:prstGeom prst="roundRect">
            <a:avLst>
              <a:gd name="adj" fmla="val 10240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Advisory Agent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26977" y="562570"/>
            <a:ext cx="1768078" cy="339328"/>
          </a:xfrm>
          <a:prstGeom prst="roundRect">
            <a:avLst>
              <a:gd name="adj" fmla="val 10779"/>
            </a:avLst>
          </a:prstGeom>
          <a:ln w="22225">
            <a:solidFill>
              <a:srgbClr val="0B2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0773" y="732234"/>
            <a:ext cx="267891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670102" y="598289"/>
            <a:ext cx="1696641" cy="267891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needs-analysis  (Skill)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34383" y="562570"/>
            <a:ext cx="1768078" cy="339328"/>
          </a:xfrm>
          <a:prstGeom prst="roundRect">
            <a:avLst>
              <a:gd name="adj" fmla="val 10779"/>
            </a:avLst>
          </a:prstGeom>
          <a:ln w="22225">
            <a:solidFill>
              <a:srgbClr val="0B2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8180" y="732234"/>
            <a:ext cx="267891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777508" y="598289"/>
            <a:ext cx="2500313" cy="267891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calculate_protection_gap  (MCP Tool)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349258" y="732234"/>
            <a:ext cx="267891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688586" y="598289"/>
            <a:ext cx="1339453" cy="267891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099477" y="732234"/>
            <a:ext cx="267891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438805" y="598289"/>
            <a:ext cx="2053828" cy="267891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Analysis Engine  (new)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2903398" y="473273"/>
            <a:ext cx="687586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outlined =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508" y="8688586"/>
            <a:ext cx="13599914" cy="348258"/>
          </a:xfrm>
          <a:prstGeom prst="roundRect">
            <a:avLst>
              <a:gd name="adj" fmla="val 10503"/>
            </a:avLst>
          </a:prstGeom>
          <a:solidFill>
            <a:srgbClr val="F4F6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78594" y="8688586"/>
            <a:ext cx="1339453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example. Field names and file formats depend on the agent framework and MCP implementation you choose; the split of responsibilities is what carries over.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508" y="1071563"/>
            <a:ext cx="6741914" cy="303609"/>
          </a:xfrm>
          <a:prstGeom prst="roundRect">
            <a:avLst>
              <a:gd name="adj" fmla="val 9035"/>
            </a:avLst>
          </a:prstGeom>
          <a:solidFill>
            <a:srgbClr val="D3C8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87523" y="1071563"/>
            <a:ext cx="654546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Agent</a:t>
            </a:r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 system prompt plus a small config: role, boundaries, which Skills it may load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508" y="1428750"/>
            <a:ext cx="6741914" cy="1107281"/>
          </a:xfrm>
          <a:prstGeom prst="roundRect">
            <a:avLst>
              <a:gd name="adj" fmla="val 1239"/>
            </a:avLst>
          </a:prstGeom>
          <a:solidFill>
            <a:srgbClr val="F7F8FA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9664" y="1500188"/>
            <a:ext cx="6527602" cy="9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 config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agent_id: sales-advisory-agent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owner: Customer &amp; Sales Team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invoked_by: main-agent        # start_agent / suspend_agent / resume_agent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skills: [customer-brief, needs-analysis, coverage-gap-analysis, affordability-analysis,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product-recommendation, meeting-preparation, proposal-preparation, compliance-check]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session_context: [customer_id, confirmed_assumptions, computed_results]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508" y="2607469"/>
            <a:ext cx="6741914" cy="5965031"/>
          </a:xfrm>
          <a:prstGeom prst="roundRect">
            <a:avLst>
              <a:gd name="adj" fmla="val 230"/>
            </a:avLst>
          </a:prstGeom>
          <a:solidFill>
            <a:srgbClr val="F7F8FA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9664" y="2678906"/>
            <a:ext cx="6527602" cy="5822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system prompt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the Sales Advisory Agent in the insurer's Agent Workbench. You support a licensed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insurance agent (the user) in a multi-turn advisory conversation about ONE customer.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never talk to the customer directly.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B2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Your job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 the agent understand the customer, explore needs and scenarios, compare solutions,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prepare meetings and proposals. Re-plan when an assumption changes.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B2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How you work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Skills for bounded tasks. Load a Skill when the request matches its description;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follow its instructions and output format exactly.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Every number about gaps, premiums, affordability or eligibility must come from a tool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result. Never estimate or calculate these yourself. Quote the calc_version returned.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Customer, policy and claim facts come from tools, not from memory or knowledge search.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Knowledge search is for product, sales and compliance content.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If a required input is missing (income, dependants), ask the agent one clear question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instead of assuming.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When the agent changes an assumption, re-run the relevant tool. Do not adjust earlier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numbers by hand.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B2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Boundaries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You do not send messages to customers, submit applications or change policies. If asked,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explain that this needs the approval flow and hand back to the Main Agent.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You do not answer unrelated requests (claim status, coaching, recruitment). Say so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briefly and return control to the Main Agent.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Recommendations are suggestions for the licensed agent to review, and must pass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compliance-check before they go into a proposal.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B2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Output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 and short, written for a busy agent: findings first, then assumptions, then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questions. Return workspace cards in the schema the Skill defines.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11578" y="1071563"/>
            <a:ext cx="6750844" cy="303609"/>
          </a:xfrm>
          <a:prstGeom prst="roundRect">
            <a:avLst>
              <a:gd name="adj" fmla="val 9035"/>
            </a:avLst>
          </a:prstGeom>
          <a:solidFill>
            <a:srgbClr val="F6DE9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36594" y="1071563"/>
            <a:ext cx="655439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Skill</a:t>
            </a:r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 folder with SKILL.md: when to use it, tool whitelist, procedure, output contract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11578" y="1428750"/>
            <a:ext cx="6750844" cy="625078"/>
          </a:xfrm>
          <a:prstGeom prst="roundRect">
            <a:avLst>
              <a:gd name="adj" fmla="val 2194"/>
            </a:avLst>
          </a:prstGeom>
          <a:solidFill>
            <a:srgbClr val="F7F8FA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18734" y="1500188"/>
            <a:ext cx="6536531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skills/needs-analysis/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SKILL.md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reference/question-bank.md      # follow-up questions by life stage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reference/output-example.json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11578" y="2125266"/>
            <a:ext cx="6750844" cy="6447234"/>
          </a:xfrm>
          <a:prstGeom prst="roundRect">
            <a:avLst>
              <a:gd name="adj" fmla="val 213"/>
            </a:avLst>
          </a:prstGeom>
          <a:solidFill>
            <a:srgbClr val="F7F8FA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18734" y="2196703"/>
            <a:ext cx="6536531" cy="630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needs-analysis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Analyse a customer's protection, education and retirement needs and quantify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 gaps. Use when the agent asks what a customer needs, how much cover is missing,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 wants to prepare a needs discussion.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allowed_tools: [get_customer_financial_profile, get_policy_coverage, run_needs_analysis,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calculate_protection_gap, calculate_affordability, search_knowledge]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knowledge_domains: [SALES_ADVISORY, COMPLIANCE_REGULATORY]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risk_level: READ_ONLY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 0.1.0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B2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B2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Needs analysis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B2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Inputs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customer_id (required)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scenario overrides from the agent (optional), e.g. income-replacement years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B2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Steps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Call get_customer_financial_profile and get_policy_coverage.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Check required fields: annual income, dependants, liabilities, existing cover.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 any is missing, stop and ask the agent (see reference/question-bank.md).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Call run_needs_analysis with the profile and any scenario overrides.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Call calculate_protection_gap. Call calculate_affordability only if the agent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asked about budget or a gap exists.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If the reasoning needs explaining, use search_knowledge in SALES_ADVISORY for the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approved explanation, and cite the source.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B2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Rules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All amounts come from tool output. Never compute or round them yourself.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State every assumption the engine used (returned in `basis`).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 not name specific products. That is product-recommendation.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If a tool fails, report what could not be calculated. Do not fill the gap.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B2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Output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JSON matching reference/output-example.json: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summary, gaps[], assumptions[], open_questions[], calc_version.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workspace renders this as a Needs Analysis card.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508" y="26789"/>
            <a:ext cx="13599914" cy="357188"/>
          </a:xfrm>
          <a:prstGeom prst="roundRect">
            <a:avLst>
              <a:gd name="adj" fmla="val 7680"/>
            </a:avLst>
          </a:prstGeom>
          <a:solidFill>
            <a:srgbClr val="0B2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508" y="26789"/>
            <a:ext cx="1359991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How to Build One Slice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MCP Tool and Run-time Flow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508" y="473273"/>
            <a:ext cx="13599914" cy="508992"/>
          </a:xfrm>
          <a:prstGeom prst="roundRect">
            <a:avLst>
              <a:gd name="adj" fmla="val 7186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8594" y="473273"/>
            <a:ext cx="1339453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vertical slice: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562695" y="598289"/>
            <a:ext cx="1696641" cy="267891"/>
          </a:xfrm>
          <a:prstGeom prst="roundRect">
            <a:avLst>
              <a:gd name="adj" fmla="val 10240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Advisory Agent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0773" y="732234"/>
            <a:ext cx="267891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670102" y="598289"/>
            <a:ext cx="1696641" cy="267891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needs-analysis  (Skill)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38180" y="732234"/>
            <a:ext cx="267891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777508" y="598289"/>
            <a:ext cx="2500313" cy="267891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calculate_protection_gap  (MCP Tool)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41789" y="562570"/>
            <a:ext cx="2571750" cy="339328"/>
          </a:xfrm>
          <a:prstGeom prst="roundRect">
            <a:avLst>
              <a:gd name="adj" fmla="val 10779"/>
            </a:avLst>
          </a:prstGeom>
          <a:ln w="22225">
            <a:solidFill>
              <a:srgbClr val="0B2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49258" y="732234"/>
            <a:ext cx="267891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688586" y="598289"/>
            <a:ext cx="1339453" cy="267891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 w="9525">
            <a:solidFill>
              <a:srgbClr val="A9CBEF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52867" y="562570"/>
            <a:ext cx="1410891" cy="339328"/>
          </a:xfrm>
          <a:prstGeom prst="roundRect">
            <a:avLst>
              <a:gd name="adj" fmla="val 10779"/>
            </a:avLst>
          </a:prstGeom>
          <a:ln w="22225">
            <a:solidFill>
              <a:srgbClr val="0B2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99477" y="732234"/>
            <a:ext cx="267891" cy="0"/>
          </a:xfrm>
          <a:prstGeom prst="line">
            <a:avLst/>
          </a:prstGeom>
          <a:noFill/>
          <a:ln w="127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438805" y="598289"/>
            <a:ext cx="2053828" cy="267891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 w="9525">
            <a:solidFill>
              <a:srgbClr val="1B8F84"/>
            </a:solidFill>
            <a:prstDash val="dash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Analysis Engine  (new)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403086" y="562570"/>
            <a:ext cx="2125266" cy="339328"/>
          </a:xfrm>
          <a:prstGeom prst="roundRect">
            <a:avLst>
              <a:gd name="adj" fmla="val 10779"/>
            </a:avLst>
          </a:prstGeom>
          <a:ln w="22225">
            <a:solidFill>
              <a:srgbClr val="0B2A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903398" y="473273"/>
            <a:ext cx="687586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outlined =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4A5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2508" y="8688586"/>
            <a:ext cx="13599914" cy="348258"/>
          </a:xfrm>
          <a:prstGeom prst="roundRect">
            <a:avLst>
              <a:gd name="adj" fmla="val 10503"/>
            </a:avLst>
          </a:prstGeom>
          <a:solidFill>
            <a:srgbClr val="F4F6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78594" y="8688586"/>
            <a:ext cx="13394531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example. Field names and file formats depend on the agent framework and MCP implementation you choose; the split of responsibilities is what carries over.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508" y="1071563"/>
            <a:ext cx="7081242" cy="303609"/>
          </a:xfrm>
          <a:prstGeom prst="roundRect">
            <a:avLst>
              <a:gd name="adj" fmla="val 9035"/>
            </a:avLst>
          </a:prstGeom>
          <a:solidFill>
            <a:srgbClr val="B9E6C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87523" y="1071563"/>
            <a:ext cx="6884789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MCP Tool</a:t>
            </a:r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deterministic code: stable schema, authorization, PII-safe audit, normalized errors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508" y="1428750"/>
            <a:ext cx="7081242" cy="7143750"/>
          </a:xfrm>
          <a:prstGeom prst="roundRect">
            <a:avLst>
              <a:gd name="adj" fmla="val 194"/>
            </a:avLst>
          </a:prstGeom>
          <a:solidFill>
            <a:srgbClr val="F7F8FA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9664" y="1500188"/>
            <a:ext cx="6866930" cy="700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mcp.server.fastmcp import FastMCP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BaseModel, Field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FastMCP("decisioning-tools")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Scenario(BaseModel):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income_replacement_years: int = Field(10, ge=1, le=30)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include_liabilities: bool = True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GapResult(BaseModel):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gap_amount: float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currency: str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required_cover: float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existing_cover: float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basis: list[str]          # assumptions the engine applied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calc_version: str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calculate_protection_gap(customer_id: str,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scenario: Scenario | None = None) -&gt; GapResult: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"""Calculate the customer's protection gap using the authoritative Needs Analysis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Engine. Returns required cover, existing cover, the gap and the assumptions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applied. Read-only."""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caller = current_caller()                     # identity from the gateway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await authz.can_view_customer(caller, customer_id):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ToolError("NOT_AUTHORIZED", "Customer is not assigned to this agent")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await decisioning_api.post(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"/needs/protection-gap",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json={"customerId": customer_id,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"scenario": (scenario or Scenario()).model_dump()},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timeout=5,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resp.status_code != 200: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ToolError("UPSTREAM_ERROR", "Needs Analysis Engine unavailable")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audit.log(tool="calculate_protection_gap", caller=caller.id,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customer=mask(customer_id), calc_version=resp.json()["calcVersion"])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GapResult(**to_snake(resp.json()))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current_caller, authz, decisioning_api, audit, mask, to_snake and ToolError are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placeholders for your own gateway, IAM and client code.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50906" y="1071563"/>
            <a:ext cx="6411516" cy="303609"/>
          </a:xfrm>
          <a:prstGeom prst="roundRect">
            <a:avLst>
              <a:gd name="adj" fmla="val 9035"/>
            </a:avLst>
          </a:prstGeom>
          <a:solidFill>
            <a:srgbClr val="B9E6C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75922" y="1071563"/>
            <a:ext cx="6215063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Tool catalog entry</a:t>
            </a:r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what governance reviews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50906" y="1428750"/>
            <a:ext cx="6411516" cy="1250156"/>
          </a:xfrm>
          <a:prstGeom prst="roundRect">
            <a:avLst>
              <a:gd name="adj" fmla="val 1097"/>
            </a:avLst>
          </a:prstGeom>
          <a:solidFill>
            <a:srgbClr val="F7F8FA"/>
          </a:solidFill>
          <a:ln w="9525">
            <a:solidFill>
              <a:srgbClr val="D6DF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58063" y="1500188"/>
            <a:ext cx="6197203" cy="1107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tool_id: calculate_protection_gap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backend_api: Decisioning API  POST /needs/protection-gap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system_owner: Decisioning Team (Needs Analysis Engine, new)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risk_class: READ_ONLY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approval_required: false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pii: customer_id masked in logs; no financial values logged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idempotent: true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sla: p95 &lt; 2s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50906" y="2803922"/>
            <a:ext cx="6411516" cy="303609"/>
          </a:xfrm>
          <a:prstGeom prst="roundRect">
            <a:avLst>
              <a:gd name="adj" fmla="val 9035"/>
            </a:avLst>
          </a:prstGeom>
          <a:solidFill>
            <a:srgbClr val="B8D6F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75922" y="2803922"/>
            <a:ext cx="6215063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 run time</a:t>
            </a:r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how the three layers work together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250906" y="3178969"/>
            <a:ext cx="6411516" cy="553641"/>
          </a:xfrm>
          <a:prstGeom prst="roundRect">
            <a:avLst>
              <a:gd name="adj" fmla="val 4955"/>
            </a:avLst>
          </a:prstGeom>
          <a:solidFill>
            <a:srgbClr val="E3EEFB"/>
          </a:solidFill>
          <a:ln/>
        </p:spPr>
      </p:sp>
      <p:sp>
        <p:nvSpPr>
          <p:cNvPr id="32" name="Text 30"/>
          <p:cNvSpPr/>
          <p:nvPr/>
        </p:nvSpPr>
        <p:spPr>
          <a:xfrm>
            <a:off x="7358063" y="3321844"/>
            <a:ext cx="267891" cy="267891"/>
          </a:xfrm>
          <a:prstGeom prst="ellipse">
            <a:avLst/>
          </a:prstGeom>
          <a:solidFill>
            <a:srgbClr val="1F5F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33109" y="3196828"/>
            <a:ext cx="5840016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asks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Mr. Tan's protection gap if we plan for 15 years of income?"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250906" y="3804047"/>
            <a:ext cx="6411516" cy="553641"/>
          </a:xfrm>
          <a:prstGeom prst="roundRect">
            <a:avLst>
              <a:gd name="adj" fmla="val 4955"/>
            </a:avLst>
          </a:prstGeom>
          <a:solidFill>
            <a:srgbClr val="E3EEFB"/>
          </a:solidFill>
          <a:ln/>
        </p:spPr>
      </p:sp>
      <p:sp>
        <p:nvSpPr>
          <p:cNvPr id="35" name="Text 33"/>
          <p:cNvSpPr/>
          <p:nvPr/>
        </p:nvSpPr>
        <p:spPr>
          <a:xfrm>
            <a:off x="7358063" y="3946922"/>
            <a:ext cx="267891" cy="267891"/>
          </a:xfrm>
          <a:prstGeom prst="ellipse">
            <a:avLst/>
          </a:prstGeom>
          <a:solidFill>
            <a:srgbClr val="1F5F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733109" y="3821906"/>
            <a:ext cx="5840016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loads the Skill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Advisory Agent matches the request to needs-analysis and reads its SKILL.md.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250906" y="4429125"/>
            <a:ext cx="6411516" cy="553641"/>
          </a:xfrm>
          <a:prstGeom prst="roundRect">
            <a:avLst>
              <a:gd name="adj" fmla="val 4955"/>
            </a:avLst>
          </a:prstGeom>
          <a:solidFill>
            <a:srgbClr val="E3EEFB"/>
          </a:solidFill>
          <a:ln/>
        </p:spPr>
      </p:sp>
      <p:sp>
        <p:nvSpPr>
          <p:cNvPr id="38" name="Text 36"/>
          <p:cNvSpPr/>
          <p:nvPr/>
        </p:nvSpPr>
        <p:spPr>
          <a:xfrm>
            <a:off x="7358063" y="4572000"/>
            <a:ext cx="267891" cy="267891"/>
          </a:xfrm>
          <a:prstGeom prst="ellipse">
            <a:avLst/>
          </a:prstGeom>
          <a:solidFill>
            <a:srgbClr val="1F5F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733109" y="4446984"/>
            <a:ext cx="5840016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drives the tools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and coverage tools first, then calculate_protection_gap with income_replacement_years: 15.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250906" y="5054203"/>
            <a:ext cx="6411516" cy="553641"/>
          </a:xfrm>
          <a:prstGeom prst="roundRect">
            <a:avLst>
              <a:gd name="adj" fmla="val 4955"/>
            </a:avLst>
          </a:prstGeom>
          <a:solidFill>
            <a:srgbClr val="E3EEFB"/>
          </a:solidFill>
          <a:ln/>
        </p:spPr>
      </p:sp>
      <p:sp>
        <p:nvSpPr>
          <p:cNvPr id="41" name="Text 39"/>
          <p:cNvSpPr/>
          <p:nvPr/>
        </p:nvSpPr>
        <p:spPr>
          <a:xfrm>
            <a:off x="7358063" y="5197078"/>
            <a:ext cx="267891" cy="267891"/>
          </a:xfrm>
          <a:prstGeom prst="ellipse">
            <a:avLst/>
          </a:prstGeom>
          <a:solidFill>
            <a:srgbClr val="1F5F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733109" y="5072063"/>
            <a:ext cx="5840016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authorizes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is checked against caller identity and risk class; the tool returns figures and calc_version.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250906" y="5679281"/>
            <a:ext cx="6411516" cy="553641"/>
          </a:xfrm>
          <a:prstGeom prst="roundRect">
            <a:avLst>
              <a:gd name="adj" fmla="val 4955"/>
            </a:avLst>
          </a:prstGeom>
          <a:solidFill>
            <a:srgbClr val="E3EEFB"/>
          </a:solidFill>
          <a:ln/>
        </p:spPr>
      </p:sp>
      <p:sp>
        <p:nvSpPr>
          <p:cNvPr id="44" name="Text 42"/>
          <p:cNvSpPr/>
          <p:nvPr/>
        </p:nvSpPr>
        <p:spPr>
          <a:xfrm>
            <a:off x="7358063" y="5822156"/>
            <a:ext cx="267891" cy="267891"/>
          </a:xfrm>
          <a:prstGeom prst="ellipse">
            <a:avLst/>
          </a:prstGeom>
          <a:solidFill>
            <a:srgbClr val="1F5F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733109" y="5697141"/>
            <a:ext cx="5840016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answers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Needs Analysis card. If the agent says "make it 20 years", the tool is called again; the number is never edited.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250906" y="6393656"/>
            <a:ext cx="6411516" cy="303609"/>
          </a:xfrm>
          <a:prstGeom prst="roundRect">
            <a:avLst>
              <a:gd name="adj" fmla="val 9035"/>
            </a:avLst>
          </a:prstGeom>
          <a:solidFill>
            <a:srgbClr val="E8EBF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375922" y="6393656"/>
            <a:ext cx="6215063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carries what</a:t>
            </a:r>
            <a:pPr algn="l" indent="0" marL="0">
              <a:buNone/>
            </a:pPr>
            <a:r>
              <a:rPr lang="en-US" sz="8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most engineering effort sits in the tool and the engine behind it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250906" y="6768703"/>
            <a:ext cx="2077641" cy="821531"/>
          </a:xfrm>
          <a:prstGeom prst="roundRect">
            <a:avLst>
              <a:gd name="adj" fmla="val 3339"/>
            </a:avLst>
          </a:prstGeom>
          <a:solidFill>
            <a:srgbClr val="E6E0FA"/>
          </a:solidFill>
          <a:ln w="9525">
            <a:solidFill>
              <a:srgbClr val="C3B6EE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7250906" y="6768703"/>
            <a:ext cx="2077641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8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boundaries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417844" y="6768703"/>
            <a:ext cx="2077641" cy="821531"/>
          </a:xfrm>
          <a:prstGeom prst="roundRect">
            <a:avLst>
              <a:gd name="adj" fmla="val 3339"/>
            </a:avLst>
          </a:prstGeom>
          <a:solidFill>
            <a:srgbClr val="FFFFFF"/>
          </a:solidFill>
          <a:ln w="9525">
            <a:solidFill>
              <a:srgbClr val="E2C87A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9417844" y="6768703"/>
            <a:ext cx="2077641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8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and output contract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584781" y="6768703"/>
            <a:ext cx="2077641" cy="821531"/>
          </a:xfrm>
          <a:prstGeom prst="roundRect">
            <a:avLst>
              <a:gd name="adj" fmla="val 3339"/>
            </a:avLst>
          </a:prstGeom>
          <a:solidFill>
            <a:srgbClr val="FFFFFF"/>
          </a:solidFill>
          <a:ln w="9525">
            <a:solidFill>
              <a:srgbClr val="A8DDB9"/>
            </a:solidFill>
            <a:prstDash val="solid"/>
          </a:ln>
        </p:spPr>
        <p:txBody>
          <a:bodyPr wrap="none" lIns="63500" tIns="0" rIns="3810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11584781" y="6768703"/>
            <a:ext cx="2077641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and controls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7250906" y="7697391"/>
            <a:ext cx="6411516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 is bottom-up: </a:t>
            </a:r>
            <a:pPr algn="l" indent="0" marL="0">
              <a:buNone/>
            </a:pPr>
            <a:r>
              <a:rPr lang="en-US" sz="9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and engine, then the MCP tool, then the Skill, then the Agent prompt. Test each layer on its own: contract and permission tests for the tool, scenario sets for the Skill, multi-turn scripts for the Agent.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AI Assistant Agentic Ecosystem</dc:title>
  <dc:subject>PptxGenJS Presentation</dc:subject>
  <dc:creator>PptxGenJS</dc:creator>
  <cp:lastModifiedBy>PptxGenJS</cp:lastModifiedBy>
  <cp:revision>1</cp:revision>
  <dcterms:created xsi:type="dcterms:W3CDTF">2026-10-10T11:29:58Z</dcterms:created>
  <dcterms:modified xsi:type="dcterms:W3CDTF">2026-10-10T11:29:58Z</dcterms:modified>
</cp:coreProperties>
</file>